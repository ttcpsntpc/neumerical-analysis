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9"/>
  </p:notesMasterIdLst>
  <p:sldIdLst>
    <p:sldId id="256" r:id="rId3"/>
    <p:sldId id="257" r:id="rId4"/>
    <p:sldId id="295" r:id="rId5"/>
    <p:sldId id="309" r:id="rId6"/>
    <p:sldId id="327" r:id="rId7"/>
    <p:sldId id="328" r:id="rId8"/>
    <p:sldId id="276" r:id="rId9"/>
    <p:sldId id="333" r:id="rId10"/>
    <p:sldId id="347" r:id="rId11"/>
    <p:sldId id="263" r:id="rId12"/>
    <p:sldId id="342" r:id="rId13"/>
    <p:sldId id="351" r:id="rId14"/>
    <p:sldId id="336" r:id="rId15"/>
    <p:sldId id="337" r:id="rId16"/>
    <p:sldId id="264" r:id="rId17"/>
    <p:sldId id="343" r:id="rId18"/>
    <p:sldId id="352" r:id="rId19"/>
    <p:sldId id="345" r:id="rId20"/>
    <p:sldId id="349" r:id="rId21"/>
    <p:sldId id="265" r:id="rId22"/>
    <p:sldId id="266" r:id="rId23"/>
    <p:sldId id="268" r:id="rId24"/>
    <p:sldId id="271" r:id="rId25"/>
    <p:sldId id="353" r:id="rId26"/>
    <p:sldId id="354" r:id="rId27"/>
    <p:sldId id="35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宗邑 洪" initials="宗邑" lastIdx="1" clrIdx="0">
    <p:extLst>
      <p:ext uri="{19B8F6BF-5375-455C-9EA6-DF929625EA0E}">
        <p15:presenceInfo xmlns:p15="http://schemas.microsoft.com/office/powerpoint/2012/main" userId="19bb9e6dffe049d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0990" autoAdjust="0"/>
  </p:normalViewPr>
  <p:slideViewPr>
    <p:cSldViewPr snapToGrid="0">
      <p:cViewPr varScale="1">
        <p:scale>
          <a:sx n="77" d="100"/>
          <a:sy n="77" d="100"/>
        </p:scale>
        <p:origin x="1555" y="67"/>
      </p:cViewPr>
      <p:guideLst/>
    </p:cSldViewPr>
  </p:slideViewPr>
  <p:outlineViewPr>
    <p:cViewPr>
      <p:scale>
        <a:sx n="33" d="100"/>
        <a:sy n="33" d="100"/>
      </p:scale>
      <p:origin x="0" y="-1217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06T04:38:48.358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DBD00-A884-471B-9947-A06BC9B48E63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B3E1-4D55-428F-85D3-BD91BEB205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32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B1762-3B7B-4884-B3BF-DD77ED244B5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994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Registration:</a:t>
            </a:r>
            <a:r>
              <a:rPr lang="zh-TW" altLang="zh-TW" dirty="0"/>
              <a:t>將這</a:t>
            </a:r>
            <a:r>
              <a:rPr lang="zh-TW" altLang="en-US" dirty="0"/>
              <a:t>多個</a:t>
            </a:r>
            <a:r>
              <a:rPr lang="zh-TW" altLang="zh-TW" dirty="0"/>
              <a:t>影像中的對應點映射到原始場景中的實際點，並將資料轉換到同一座標系中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dirty="0"/>
              <a:t>如圖，他可以有個</a:t>
            </a:r>
            <a:r>
              <a:rPr lang="en-US" altLang="zh-TW" dirty="0"/>
              <a:t>planar surface</a:t>
            </a:r>
            <a:r>
              <a:rPr lang="zh-TW" altLang="en-US" dirty="0"/>
              <a:t>的基準的</a:t>
            </a:r>
            <a:r>
              <a:rPr lang="en-US" altLang="zh-TW" dirty="0"/>
              <a:t>image</a:t>
            </a:r>
            <a:r>
              <a:rPr lang="zh-TW" altLang="en-US" dirty="0"/>
              <a:t>，那其他的</a:t>
            </a:r>
            <a:r>
              <a:rPr lang="en-US" altLang="zh-TW" dirty="0"/>
              <a:t>image</a:t>
            </a:r>
            <a:r>
              <a:rPr lang="zh-TW" altLang="en-US" dirty="0"/>
              <a:t>就按照角度按每個點會對應到哪裡，然後眼睛是在影像中心</a:t>
            </a:r>
            <a:br>
              <a:rPr lang="en-US" altLang="zh-TW" dirty="0"/>
            </a:br>
            <a:r>
              <a:rPr lang="en-US" altLang="zh-TW" dirty="0"/>
              <a:t>Math model:</a:t>
            </a:r>
            <a:r>
              <a:rPr lang="zh-TW" altLang="en-US" dirty="0"/>
              <a:t>可能做傅立葉轉換、內插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B1762-3B7B-4884-B3BF-DD77ED244B5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24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對應主要用上面</a:t>
            </a:r>
            <a:endParaRPr lang="en-US" altLang="zh-TW" dirty="0"/>
          </a:p>
          <a:p>
            <a:r>
              <a:rPr lang="zh-TW" altLang="en-US" dirty="0"/>
              <a:t>下面是分固定區塊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B1762-3B7B-4884-B3BF-DD77ED244B5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690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這之前其實還有個</a:t>
            </a:r>
            <a:r>
              <a:rPr lang="en-US" altLang="zh-TW" dirty="0"/>
              <a:t>nearest</a:t>
            </a:r>
            <a:r>
              <a:rPr lang="zh-TW" altLang="en-US" dirty="0"/>
              <a:t> </a:t>
            </a:r>
            <a:r>
              <a:rPr lang="en-US" altLang="zh-TW" dirty="0"/>
              <a:t>neighbor</a:t>
            </a:r>
            <a:r>
              <a:rPr lang="zh-TW" altLang="en-US" dirty="0"/>
              <a:t> 但是很明顯出來的圖不會平滑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B3E1-4D55-428F-85D3-BD91BEB2054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989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三次通常效果最好，不過過度複雜也夠平滑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B3E1-4D55-428F-85D3-BD91BEB2054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784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7DEBC1-D3E3-44B8-9F12-21106B6B31E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4867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B3E1-4D55-428F-85D3-BD91BEB2054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302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BE1661-1A37-4EBF-9442-8202698BD77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797EB2-8D1B-4B72-A0DB-B0BE5FC1D64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039C6F-683A-443C-AD5E-7963A524FB3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51DE7D-BDE4-467B-ACD5-A5AA5C93534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3CDC21-CAA2-49CE-9D23-87C60F4DB8A9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0B9D-C0A9-4572-9660-09D94CC1D795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7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E765F-5F71-4CE8-BBB6-D2BF1C027CAD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26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471B-B791-4C39-A782-B75091A3668E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3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D116-1676-439E-869B-A4F52962E0BB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94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80D-8BB3-413A-9DD8-2E35D831078B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63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B872-34ED-493B-953B-BC7407AB623B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97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BBF3-92F8-4CE4-9BFD-80058D27E163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66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E2E23-1591-4DB9-BD4C-392091D6EDA6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197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B9026-4ABC-4EC9-8C1E-2687F4F9D4E7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97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CD77-D5CD-4EE6-88D7-68F54AFB40A9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09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67B9B-CB26-4E0C-8F17-70EB9BC13808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452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92E04-5318-4BEA-B519-985829EF6E9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8C2C1-97BB-4C67-A7DF-5404BC9ECDD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135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62ABF-91E1-4846-BF4A-1541362EF34B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1BFFA-6C78-45F8-99E1-16FF11D16B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6808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156938-470E-4857-B764-42F25F5F4C60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4E8C4-D6BB-4174-B428-DB7537CF5A6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092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8927F-2FCC-4F7B-90E5-AF2ECC593FCE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DF5B1-7246-4F07-B762-CDCA4AFADB0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526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4432F-C3B5-43FA-B3A3-1BC9DDD13245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A2C12-3EDE-4106-B474-14F4C1A77A4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890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1FD6D-36E5-4210-9725-FFA00361C87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80379-EF63-49CA-8AC4-0C26FAC4157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4938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DB59B-01A7-45FD-AD7D-228109B7B98A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C327F-DB37-4A49-BDF3-EA335D1A912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350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24140-8252-448B-8209-B7BE2D61279E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508237-92FA-40DF-8B93-9FC7BF5DCC4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758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F58-B68C-4EE9-8DB6-388D53590C10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6F072-644C-4D0D-A62D-D653F3ADD63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584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511E2A-F8B2-4AEB-BBE6-3C076AC28F26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75EC1-3397-40A2-8E33-E767BF6D6E0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948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3448F-71BB-46FD-A043-DDBA06C848DA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EF737-773D-4E0D-B3B2-0DDD023CD7C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4782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171" y="274332"/>
            <a:ext cx="8228437" cy="114272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43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171" y="1599289"/>
            <a:ext cx="8228437" cy="45254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07"/>
              </a:spcBef>
              <a:buNone/>
              <a:defRPr/>
            </a:lvl1pPr>
          </a:lstStyle>
          <a:p>
            <a:pPr indent="0">
              <a:spcBef>
                <a:spcPts val="1551"/>
              </a:spcBef>
              <a:buNone/>
            </a:pPr>
            <a:endParaRPr lang="en-US" sz="319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0ED0BC9-56A1-467B-8644-7AFB370F5F6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80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20C98-5266-4F44-90F0-6E31550F26FD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07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C92B291-74F1-4C14-9C10-73D31CE9E05A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75D30F3-5453-479F-BB73-6B142921601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86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LH5OBCjm8V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10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1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9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3.wmf"/><Relationship Id="rId4" Type="http://schemas.openxmlformats.org/officeDocument/2006/relationships/image" Target="../media/image34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3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3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F0CFB-801D-4143-9824-DB7080B83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246" y="1753942"/>
            <a:ext cx="6963508" cy="1083286"/>
          </a:xfrm>
        </p:spPr>
        <p:txBody>
          <a:bodyPr>
            <a:normAutofit fontScale="90000"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 Reconstruction for Ray Tracing Images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4CFDB3-BD05-42D4-ADAA-0255BEA1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5D40A4DA-8610-472E-B9A3-F4EE39A71BD2}"/>
              </a:ext>
            </a:extLst>
          </p:cNvPr>
          <p:cNvSpPr txBox="1">
            <a:spLocks/>
          </p:cNvSpPr>
          <p:nvPr/>
        </p:nvSpPr>
        <p:spPr>
          <a:xfrm>
            <a:off x="1090246" y="2991937"/>
            <a:ext cx="6963508" cy="12123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報告人：洪宗邑、蕭英祐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指導教授：翁世光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6EBD288-53D9-4165-A04C-613344EA5246}"/>
              </a:ext>
            </a:extLst>
          </p:cNvPr>
          <p:cNvSpPr txBox="1"/>
          <p:nvPr/>
        </p:nvSpPr>
        <p:spPr>
          <a:xfrm>
            <a:off x="325135" y="4596261"/>
            <a:ext cx="1530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影片介紹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2957C71-975F-4B5C-9411-E5DF5123C3C4}"/>
              </a:ext>
            </a:extLst>
          </p:cNvPr>
          <p:cNvSpPr txBox="1"/>
          <p:nvPr/>
        </p:nvSpPr>
        <p:spPr>
          <a:xfrm>
            <a:off x="354562" y="6400413"/>
            <a:ext cx="45253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linkClick r:id="rId2"/>
              </a:rPr>
              <a:t>https://www.youtube.com/watch?v=LH5OBCjm8VA</a:t>
            </a:r>
            <a:endParaRPr lang="zh-TW" altLang="en-US" sz="12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8F8C793-5927-41F2-8F43-D2D8203D9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35" y="4904038"/>
            <a:ext cx="1530221" cy="153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15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4CFDB3-BD05-42D4-ADAA-0255BEA1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F6AEB61-BCAD-4A87-964E-A48921CF1F21}"/>
              </a:ext>
            </a:extLst>
          </p:cNvPr>
          <p:cNvSpPr txBox="1">
            <a:spLocks/>
          </p:cNvSpPr>
          <p:nvPr/>
        </p:nvSpPr>
        <p:spPr bwMode="auto">
          <a:xfrm>
            <a:off x="457200" y="431006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Outline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DFDDA2C-3636-4FDD-8EF4-430E985185EE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Introduce super-resolution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Interpolation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Linear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Cubic  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Lagrange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Result and analysis for interpolation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EDSR</a:t>
            </a:r>
          </a:p>
          <a:p>
            <a:pPr defTabSz="914400" eaLnBrk="1" hangingPunct="1"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Result and analysis for EDSR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i="0" u="none" kern="1200" cap="none" spc="-1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89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8BC6BF55-A36C-4585-9668-A0BC4F6C32F6}"/>
              </a:ext>
            </a:extLst>
          </p:cNvPr>
          <p:cNvSpPr txBox="1">
            <a:spLocks/>
          </p:cNvSpPr>
          <p:nvPr/>
        </p:nvSpPr>
        <p:spPr bwMode="auto">
          <a:xfrm>
            <a:off x="457200" y="1417638"/>
            <a:ext cx="8058150" cy="428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super-resolution(SR)?</a:t>
            </a:r>
          </a:p>
          <a:p>
            <a:pPr lvl="1"/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SR aims to reconstruct a higher resolution image from lower resolution image</a:t>
            </a:r>
            <a:r>
              <a:rPr lang="en-US" altLang="zh-TW" dirty="0">
                <a:solidFill>
                  <a:srgbClr val="00B0F0"/>
                </a:solidFill>
                <a:latin typeface="Times New Roman"/>
                <a:ea typeface="DFKai-SB"/>
              </a:rPr>
              <a:t>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SR because of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 time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for high quality ray tracing images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produce a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quality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ray tracing image, then use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 to quickly upscale it with details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12BE5BD-05AD-46EF-B3F7-AC682490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ACA1B432-8B5E-40A8-B29E-229ED5EDED7F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Introduction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9BD0B5-814B-4EB2-B7F8-9B5CB58BE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569" y="5083211"/>
            <a:ext cx="2144419" cy="168102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1753AC1-2185-491E-AD4B-525F66B78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45" y="5083211"/>
            <a:ext cx="2191030" cy="1681020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8467BED0-AB9C-43DD-9B26-ECB8FACD976C}"/>
              </a:ext>
            </a:extLst>
          </p:cNvPr>
          <p:cNvSpPr/>
          <p:nvPr/>
        </p:nvSpPr>
        <p:spPr>
          <a:xfrm>
            <a:off x="5203711" y="5762537"/>
            <a:ext cx="606012" cy="2484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70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8BC6BF55-A36C-4585-9668-A0BC4F6C32F6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0581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approach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multiple low resolution images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the image by different math method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Example-based approach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neural networks architecture in most cases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SRCNN, SRGAN, ESPCN 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12BE5BD-05AD-46EF-B3F7-AC682490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ACA1B432-8B5E-40A8-B29E-229ED5EDED7F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Introduction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BAE79F79-91DC-412A-8B24-900A19E740DE}"/>
              </a:ext>
            </a:extLst>
          </p:cNvPr>
          <p:cNvCxnSpPr>
            <a:cxnSpLocks/>
          </p:cNvCxnSpPr>
          <p:nvPr/>
        </p:nvCxnSpPr>
        <p:spPr>
          <a:xfrm flipV="1">
            <a:off x="7156255" y="2010389"/>
            <a:ext cx="391020" cy="505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941550C-C418-4927-9750-54AB9FD7B1A4}"/>
              </a:ext>
            </a:extLst>
          </p:cNvPr>
          <p:cNvCxnSpPr>
            <a:cxnSpLocks/>
          </p:cNvCxnSpPr>
          <p:nvPr/>
        </p:nvCxnSpPr>
        <p:spPr>
          <a:xfrm>
            <a:off x="7895586" y="2158805"/>
            <a:ext cx="691753" cy="316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FD1940E-C8D0-4959-ACBB-6791C6DCDAA0}"/>
              </a:ext>
            </a:extLst>
          </p:cNvPr>
          <p:cNvCxnSpPr/>
          <p:nvPr/>
        </p:nvCxnSpPr>
        <p:spPr>
          <a:xfrm>
            <a:off x="7442200" y="2735699"/>
            <a:ext cx="929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F56ADD46-BF01-45CB-9C14-6B09579CC649}"/>
              </a:ext>
            </a:extLst>
          </p:cNvPr>
          <p:cNvSpPr/>
          <p:nvPr/>
        </p:nvSpPr>
        <p:spPr>
          <a:xfrm>
            <a:off x="7224159" y="2318854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D9F7DA79-26AA-4F73-A07A-24E516F3DE6C}"/>
              </a:ext>
            </a:extLst>
          </p:cNvPr>
          <p:cNvSpPr/>
          <p:nvPr/>
        </p:nvSpPr>
        <p:spPr>
          <a:xfrm>
            <a:off x="8060493" y="2207698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32E9993-C6AC-4DD7-8AD4-CDEB338DC1AE}"/>
              </a:ext>
            </a:extLst>
          </p:cNvPr>
          <p:cNvSpPr/>
          <p:nvPr/>
        </p:nvSpPr>
        <p:spPr>
          <a:xfrm>
            <a:off x="7643933" y="2702523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38D079D-E203-4F51-A6EF-1615D59D3878}"/>
              </a:ext>
            </a:extLst>
          </p:cNvPr>
          <p:cNvCxnSpPr>
            <a:stCxn id="12" idx="5"/>
          </p:cNvCxnSpPr>
          <p:nvPr/>
        </p:nvCxnSpPr>
        <p:spPr>
          <a:xfrm>
            <a:off x="7316468" y="2380317"/>
            <a:ext cx="327465" cy="32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8BADAE1-069F-4FE1-A245-2A30CF6DBA68}"/>
              </a:ext>
            </a:extLst>
          </p:cNvPr>
          <p:cNvCxnSpPr>
            <a:stCxn id="15" idx="3"/>
          </p:cNvCxnSpPr>
          <p:nvPr/>
        </p:nvCxnSpPr>
        <p:spPr>
          <a:xfrm flipH="1">
            <a:off x="7781290" y="2269161"/>
            <a:ext cx="295041" cy="420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27">
            <a:extLst>
              <a:ext uri="{FF2B5EF4-FFF2-40B4-BE49-F238E27FC236}">
                <a16:creationId xmlns:a16="http://schemas.microsoft.com/office/drawing/2014/main" id="{7E34156E-A4B4-4273-B8FC-864318797356}"/>
              </a:ext>
            </a:extLst>
          </p:cNvPr>
          <p:cNvCxnSpPr>
            <a:cxnSpLocks/>
          </p:cNvCxnSpPr>
          <p:nvPr/>
        </p:nvCxnSpPr>
        <p:spPr>
          <a:xfrm>
            <a:off x="6852246" y="1884649"/>
            <a:ext cx="394379" cy="43600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7">
            <a:extLst>
              <a:ext uri="{FF2B5EF4-FFF2-40B4-BE49-F238E27FC236}">
                <a16:creationId xmlns:a16="http://schemas.microsoft.com/office/drawing/2014/main" id="{B6929DE1-885B-48FB-9BC2-1B135F2B67A0}"/>
              </a:ext>
            </a:extLst>
          </p:cNvPr>
          <p:cNvCxnSpPr>
            <a:cxnSpLocks/>
          </p:cNvCxnSpPr>
          <p:nvPr/>
        </p:nvCxnSpPr>
        <p:spPr>
          <a:xfrm flipH="1">
            <a:off x="8138160" y="1567616"/>
            <a:ext cx="447676" cy="63406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3EFE6B4-78DF-4B9A-9F64-AE34764A94A1}"/>
              </a:ext>
            </a:extLst>
          </p:cNvPr>
          <p:cNvSpPr txBox="1"/>
          <p:nvPr/>
        </p:nvSpPr>
        <p:spPr>
          <a:xfrm>
            <a:off x="6592235" y="15848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D73C622-E948-4557-8015-5A0F5FCDA96D}"/>
              </a:ext>
            </a:extLst>
          </p:cNvPr>
          <p:cNvSpPr txBox="1"/>
          <p:nvPr/>
        </p:nvSpPr>
        <p:spPr>
          <a:xfrm>
            <a:off x="8380395" y="12308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55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8BC6BF55-A36C-4585-9668-A0BC4F6C32F6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0581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there are 4 points that need to be resampled to 8 points.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12BE5BD-05AD-46EF-B3F7-AC682490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ACA1B432-8B5E-40A8-B29E-229ED5EDED7F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M</a:t>
            </a:r>
            <a:r>
              <a:rPr kumimoji="0" lang="en-US" altLang="zh-TW" sz="4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apping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two </a:t>
            </a:r>
            <a:r>
              <a:rPr lang="en-US" altLang="zh-TW" dirty="0" err="1">
                <a:solidFill>
                  <a:sysClr val="windowText" lastClr="000000"/>
                </a:solidFill>
                <a:latin typeface="Times New Roman"/>
                <a:ea typeface="DFKai-SB"/>
              </a:rPr>
              <a:t>i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mage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E08081-FAA2-420E-A56D-F3236591C9AC}"/>
              </a:ext>
            </a:extLst>
          </p:cNvPr>
          <p:cNvSpPr/>
          <p:nvPr/>
        </p:nvSpPr>
        <p:spPr>
          <a:xfrm>
            <a:off x="1391478" y="3377052"/>
            <a:ext cx="6490252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A7C1B9C-1FB3-4124-9E9D-2CC6F36963CA}"/>
              </a:ext>
            </a:extLst>
          </p:cNvPr>
          <p:cNvCxnSpPr/>
          <p:nvPr/>
        </p:nvCxnSpPr>
        <p:spPr>
          <a:xfrm>
            <a:off x="1391478" y="3078459"/>
            <a:ext cx="0" cy="642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99B5EF0-4EFD-4EB6-B58D-F2FF6040DADC}"/>
              </a:ext>
            </a:extLst>
          </p:cNvPr>
          <p:cNvCxnSpPr/>
          <p:nvPr/>
        </p:nvCxnSpPr>
        <p:spPr>
          <a:xfrm>
            <a:off x="7881730" y="3078458"/>
            <a:ext cx="0" cy="642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CFEF3B3-1027-4339-95E1-6CC71A87E850}"/>
              </a:ext>
            </a:extLst>
          </p:cNvPr>
          <p:cNvCxnSpPr/>
          <p:nvPr/>
        </p:nvCxnSpPr>
        <p:spPr>
          <a:xfrm>
            <a:off x="3438939" y="3078458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D89A29B-6AAB-44BC-8430-34FA0F76851B}"/>
              </a:ext>
            </a:extLst>
          </p:cNvPr>
          <p:cNvCxnSpPr/>
          <p:nvPr/>
        </p:nvCxnSpPr>
        <p:spPr>
          <a:xfrm>
            <a:off x="5658678" y="3078458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AEFAD1C-2514-4ACA-A65A-1492F1215E1C}"/>
              </a:ext>
            </a:extLst>
          </p:cNvPr>
          <p:cNvCxnSpPr>
            <a:cxnSpLocks/>
          </p:cNvCxnSpPr>
          <p:nvPr/>
        </p:nvCxnSpPr>
        <p:spPr>
          <a:xfrm>
            <a:off x="2249557" y="3399909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7327013-5350-4D4B-B58D-E52206A016D5}"/>
              </a:ext>
            </a:extLst>
          </p:cNvPr>
          <p:cNvCxnSpPr>
            <a:cxnSpLocks/>
          </p:cNvCxnSpPr>
          <p:nvPr/>
        </p:nvCxnSpPr>
        <p:spPr>
          <a:xfrm>
            <a:off x="3167270" y="3412832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5EB792B-A635-45E3-89DC-A7513C9711E5}"/>
              </a:ext>
            </a:extLst>
          </p:cNvPr>
          <p:cNvCxnSpPr>
            <a:cxnSpLocks/>
          </p:cNvCxnSpPr>
          <p:nvPr/>
        </p:nvCxnSpPr>
        <p:spPr>
          <a:xfrm>
            <a:off x="4061791" y="3413005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5ED6C73-F591-4103-ADA1-0FB70FC3397C}"/>
              </a:ext>
            </a:extLst>
          </p:cNvPr>
          <p:cNvCxnSpPr>
            <a:cxnSpLocks/>
          </p:cNvCxnSpPr>
          <p:nvPr/>
        </p:nvCxnSpPr>
        <p:spPr>
          <a:xfrm>
            <a:off x="5045765" y="3409848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DE24CB5-29A0-4D65-8A4F-4002B447A49C}"/>
              </a:ext>
            </a:extLst>
          </p:cNvPr>
          <p:cNvCxnSpPr>
            <a:cxnSpLocks/>
          </p:cNvCxnSpPr>
          <p:nvPr/>
        </p:nvCxnSpPr>
        <p:spPr>
          <a:xfrm>
            <a:off x="6016488" y="3406869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0ABA8268-9F39-4910-BB8D-F950420EFA8F}"/>
              </a:ext>
            </a:extLst>
          </p:cNvPr>
          <p:cNvCxnSpPr>
            <a:cxnSpLocks/>
          </p:cNvCxnSpPr>
          <p:nvPr/>
        </p:nvCxnSpPr>
        <p:spPr>
          <a:xfrm>
            <a:off x="7010401" y="3403972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41E6A81-FDA4-465E-B4C7-B2F6370CC9EB}"/>
                  </a:ext>
                </a:extLst>
              </p:cNvPr>
              <p:cNvSpPr txBox="1"/>
              <p:nvPr/>
            </p:nvSpPr>
            <p:spPr>
              <a:xfrm>
                <a:off x="1241886" y="2709771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41E6A81-FDA4-465E-B4C7-B2F6370CC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886" y="2709771"/>
                <a:ext cx="299184" cy="276999"/>
              </a:xfrm>
              <a:prstGeom prst="rect">
                <a:avLst/>
              </a:prstGeom>
              <a:blipFill>
                <a:blip r:embed="rId3"/>
                <a:stretch>
                  <a:fillRect l="-20408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DE6A67-C6E3-4472-8A2A-F97781FC74CF}"/>
                  </a:ext>
                </a:extLst>
              </p:cNvPr>
              <p:cNvSpPr txBox="1"/>
              <p:nvPr/>
            </p:nvSpPr>
            <p:spPr>
              <a:xfrm>
                <a:off x="7752522" y="2709770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DE6A67-C6E3-4472-8A2A-F97781FC7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22" y="2709770"/>
                <a:ext cx="299184" cy="276999"/>
              </a:xfrm>
              <a:prstGeom prst="rect">
                <a:avLst/>
              </a:prstGeom>
              <a:blipFill>
                <a:blip r:embed="rId4"/>
                <a:stretch>
                  <a:fillRect l="-20408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4CF4963-4CC0-4079-9B74-33F2D48A0ED6}"/>
                  </a:ext>
                </a:extLst>
              </p:cNvPr>
              <p:cNvSpPr txBox="1"/>
              <p:nvPr/>
            </p:nvSpPr>
            <p:spPr>
              <a:xfrm>
                <a:off x="3362234" y="2701798"/>
                <a:ext cx="293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4CF4963-4CC0-4079-9B74-33F2D48A0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34" y="2701798"/>
                <a:ext cx="293863" cy="276999"/>
              </a:xfrm>
              <a:prstGeom prst="rect">
                <a:avLst/>
              </a:prstGeom>
              <a:blipFill>
                <a:blip r:embed="rId5"/>
                <a:stretch>
                  <a:fillRect l="-18750" r="-833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1DEA7EF-4B32-4CB1-B3BE-5A63DB206FE4}"/>
                  </a:ext>
                </a:extLst>
              </p:cNvPr>
              <p:cNvSpPr txBox="1"/>
              <p:nvPr/>
            </p:nvSpPr>
            <p:spPr>
              <a:xfrm>
                <a:off x="5465421" y="2709770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1DEA7EF-4B32-4CB1-B3BE-5A63DB206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421" y="2709770"/>
                <a:ext cx="299184" cy="276999"/>
              </a:xfrm>
              <a:prstGeom prst="rect">
                <a:avLst/>
              </a:prstGeom>
              <a:blipFill>
                <a:blip r:embed="rId6"/>
                <a:stretch>
                  <a:fillRect l="-20408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50FD511-AA02-4906-8EF7-929867CE8A26}"/>
                  </a:ext>
                </a:extLst>
              </p:cNvPr>
              <p:cNvSpPr txBox="1"/>
              <p:nvPr/>
            </p:nvSpPr>
            <p:spPr>
              <a:xfrm>
                <a:off x="1214474" y="3723328"/>
                <a:ext cx="3718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50FD511-AA02-4906-8EF7-929867CE8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474" y="3723328"/>
                <a:ext cx="371833" cy="276999"/>
              </a:xfrm>
              <a:prstGeom prst="rect">
                <a:avLst/>
              </a:prstGeom>
              <a:blipFill>
                <a:blip r:embed="rId7"/>
                <a:stretch>
                  <a:fillRect l="-4918"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596A8A7-6A28-4FB6-B266-C7961B62DC28}"/>
                  </a:ext>
                </a:extLst>
              </p:cNvPr>
              <p:cNvSpPr txBox="1"/>
              <p:nvPr/>
            </p:nvSpPr>
            <p:spPr>
              <a:xfrm>
                <a:off x="2076890" y="3721361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596A8A7-6A28-4FB6-B266-C7961B62D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0" y="3721361"/>
                <a:ext cx="371833" cy="285847"/>
              </a:xfrm>
              <a:prstGeom prst="rect">
                <a:avLst/>
              </a:prstGeom>
              <a:blipFill>
                <a:blip r:embed="rId8"/>
                <a:stretch>
                  <a:fillRect l="-4918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0A96135-DC0B-493C-B9F8-E3BEBFDDFF39}"/>
                  </a:ext>
                </a:extLst>
              </p:cNvPr>
              <p:cNvSpPr txBox="1"/>
              <p:nvPr/>
            </p:nvSpPr>
            <p:spPr>
              <a:xfrm>
                <a:off x="2948217" y="3721361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0A96135-DC0B-493C-B9F8-E3BEBFDDF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17" y="3721361"/>
                <a:ext cx="371833" cy="285847"/>
              </a:xfrm>
              <a:prstGeom prst="rect">
                <a:avLst/>
              </a:prstGeom>
              <a:blipFill>
                <a:blip r:embed="rId9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F8E0371-6092-4619-9AC5-951B266ED365}"/>
                  </a:ext>
                </a:extLst>
              </p:cNvPr>
              <p:cNvSpPr txBox="1"/>
              <p:nvPr/>
            </p:nvSpPr>
            <p:spPr>
              <a:xfrm>
                <a:off x="3942131" y="3721361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F8E0371-6092-4619-9AC5-951B266ED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131" y="3721361"/>
                <a:ext cx="371833" cy="285847"/>
              </a:xfrm>
              <a:prstGeom prst="rect">
                <a:avLst/>
              </a:prstGeom>
              <a:blipFill>
                <a:blip r:embed="rId10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BB310569-A606-49A5-836F-9C4938E8D94F}"/>
                  </a:ext>
                </a:extLst>
              </p:cNvPr>
              <p:cNvSpPr txBox="1"/>
              <p:nvPr/>
            </p:nvSpPr>
            <p:spPr>
              <a:xfrm>
                <a:off x="4814728" y="3682526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BB310569-A606-49A5-836F-9C4938E8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728" y="3682526"/>
                <a:ext cx="371833" cy="285847"/>
              </a:xfrm>
              <a:prstGeom prst="rect">
                <a:avLst/>
              </a:prstGeom>
              <a:blipFill>
                <a:blip r:embed="rId11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6E7FB3-5C30-46A5-85EF-577160DA2C17}"/>
                  </a:ext>
                </a:extLst>
              </p:cNvPr>
              <p:cNvSpPr txBox="1"/>
              <p:nvPr/>
            </p:nvSpPr>
            <p:spPr>
              <a:xfrm>
                <a:off x="5843180" y="3682526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6E7FB3-5C30-46A5-85EF-577160DA2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180" y="3682526"/>
                <a:ext cx="371833" cy="285847"/>
              </a:xfrm>
              <a:prstGeom prst="rect">
                <a:avLst/>
              </a:prstGeom>
              <a:blipFill>
                <a:blip r:embed="rId12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664E936-B5B9-44EA-B528-124090698DCD}"/>
                  </a:ext>
                </a:extLst>
              </p:cNvPr>
              <p:cNvSpPr txBox="1"/>
              <p:nvPr/>
            </p:nvSpPr>
            <p:spPr>
              <a:xfrm>
                <a:off x="6863853" y="369223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664E936-B5B9-44EA-B528-124090698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853" y="3692232"/>
                <a:ext cx="371833" cy="285847"/>
              </a:xfrm>
              <a:prstGeom prst="rect">
                <a:avLst/>
              </a:prstGeom>
              <a:blipFill>
                <a:blip r:embed="rId13"/>
                <a:stretch>
                  <a:fillRect l="-6557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94C350A-3BF4-429C-910B-CCA8DF1EAD64}"/>
                  </a:ext>
                </a:extLst>
              </p:cNvPr>
              <p:cNvSpPr txBox="1"/>
              <p:nvPr/>
            </p:nvSpPr>
            <p:spPr>
              <a:xfrm>
                <a:off x="7753157" y="372267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94C350A-3BF4-429C-910B-CCA8DF1EA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157" y="3722672"/>
                <a:ext cx="371833" cy="285847"/>
              </a:xfrm>
              <a:prstGeom prst="rect">
                <a:avLst/>
              </a:prstGeom>
              <a:blipFill>
                <a:blip r:embed="rId14"/>
                <a:stretch>
                  <a:fillRect l="-6557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>
            <a:extLst>
              <a:ext uri="{FF2B5EF4-FFF2-40B4-BE49-F238E27FC236}">
                <a16:creationId xmlns:a16="http://schemas.microsoft.com/office/drawing/2014/main" id="{E6693A90-B914-42BF-8EE8-89A9C538C391}"/>
              </a:ext>
            </a:extLst>
          </p:cNvPr>
          <p:cNvSpPr/>
          <p:nvPr/>
        </p:nvSpPr>
        <p:spPr>
          <a:xfrm>
            <a:off x="1391478" y="5101615"/>
            <a:ext cx="6490252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83A2B22D-3FCB-47D4-803F-E63EAC8A96C4}"/>
              </a:ext>
            </a:extLst>
          </p:cNvPr>
          <p:cNvCxnSpPr/>
          <p:nvPr/>
        </p:nvCxnSpPr>
        <p:spPr>
          <a:xfrm>
            <a:off x="3438939" y="4803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12DF39DF-0611-4469-9FE0-3298F3DC111C}"/>
              </a:ext>
            </a:extLst>
          </p:cNvPr>
          <p:cNvCxnSpPr/>
          <p:nvPr/>
        </p:nvCxnSpPr>
        <p:spPr>
          <a:xfrm>
            <a:off x="5658678" y="4803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388E0DA-C58E-4820-96F4-F9816A8E78BE}"/>
                  </a:ext>
                </a:extLst>
              </p:cNvPr>
              <p:cNvSpPr txBox="1"/>
              <p:nvPr/>
            </p:nvSpPr>
            <p:spPr>
              <a:xfrm>
                <a:off x="1229694" y="4483102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388E0DA-C58E-4820-96F4-F9816A8E7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694" y="4483102"/>
                <a:ext cx="299184" cy="276999"/>
              </a:xfrm>
              <a:prstGeom prst="rect">
                <a:avLst/>
              </a:prstGeom>
              <a:blipFill>
                <a:blip r:embed="rId15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14B5D0-2D7A-4B27-BBD7-C55F3FEAEAA3}"/>
                  </a:ext>
                </a:extLst>
              </p:cNvPr>
              <p:cNvSpPr txBox="1"/>
              <p:nvPr/>
            </p:nvSpPr>
            <p:spPr>
              <a:xfrm>
                <a:off x="7740330" y="4483101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14B5D0-2D7A-4B27-BBD7-C55F3FEAE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330" y="4483101"/>
                <a:ext cx="299184" cy="276999"/>
              </a:xfrm>
              <a:prstGeom prst="rect">
                <a:avLst/>
              </a:prstGeom>
              <a:blipFill>
                <a:blip r:embed="rId16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48B74233-E57E-4645-81CD-7F4C71D99ECE}"/>
                  </a:ext>
                </a:extLst>
              </p:cNvPr>
              <p:cNvSpPr txBox="1"/>
              <p:nvPr/>
            </p:nvSpPr>
            <p:spPr>
              <a:xfrm>
                <a:off x="3350042" y="4475129"/>
                <a:ext cx="293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48B74233-E57E-4645-81CD-7F4C71D99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42" y="4475129"/>
                <a:ext cx="293863" cy="276999"/>
              </a:xfrm>
              <a:prstGeom prst="rect">
                <a:avLst/>
              </a:prstGeom>
              <a:blipFill>
                <a:blip r:embed="rId17"/>
                <a:stretch>
                  <a:fillRect l="-18750" r="-833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8E9E06-6257-425C-9B02-3D860A6D02AE}"/>
                  </a:ext>
                </a:extLst>
              </p:cNvPr>
              <p:cNvSpPr txBox="1"/>
              <p:nvPr/>
            </p:nvSpPr>
            <p:spPr>
              <a:xfrm>
                <a:off x="5453229" y="4483101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8E9E06-6257-425C-9B02-3D860A6D0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229" y="4483101"/>
                <a:ext cx="299184" cy="276999"/>
              </a:xfrm>
              <a:prstGeom prst="rect">
                <a:avLst/>
              </a:prstGeom>
              <a:blipFill>
                <a:blip r:embed="rId18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2888DF84-C5EA-45A3-B999-83677F6AFAA7}"/>
              </a:ext>
            </a:extLst>
          </p:cNvPr>
          <p:cNvCxnSpPr/>
          <p:nvPr/>
        </p:nvCxnSpPr>
        <p:spPr>
          <a:xfrm>
            <a:off x="1391478" y="4803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59A29B7-AB8B-415C-8D26-59B2999F194A}"/>
              </a:ext>
            </a:extLst>
          </p:cNvPr>
          <p:cNvCxnSpPr/>
          <p:nvPr/>
        </p:nvCxnSpPr>
        <p:spPr>
          <a:xfrm>
            <a:off x="7881730" y="4825880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DC909F7B-9144-4E5C-B711-A503E2A2C18F}"/>
              </a:ext>
            </a:extLst>
          </p:cNvPr>
          <p:cNvSpPr/>
          <p:nvPr/>
        </p:nvSpPr>
        <p:spPr>
          <a:xfrm>
            <a:off x="1391478" y="5545243"/>
            <a:ext cx="6490252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33253EF3-B063-403B-87DE-7313C5D27065}"/>
              </a:ext>
            </a:extLst>
          </p:cNvPr>
          <p:cNvCxnSpPr>
            <a:cxnSpLocks/>
          </p:cNvCxnSpPr>
          <p:nvPr/>
        </p:nvCxnSpPr>
        <p:spPr>
          <a:xfrm>
            <a:off x="2249557" y="5568100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933843D9-F5C0-4DCB-8124-F629F2E3FFBB}"/>
              </a:ext>
            </a:extLst>
          </p:cNvPr>
          <p:cNvCxnSpPr>
            <a:cxnSpLocks/>
          </p:cNvCxnSpPr>
          <p:nvPr/>
        </p:nvCxnSpPr>
        <p:spPr>
          <a:xfrm>
            <a:off x="3167270" y="5581023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45A6F921-7DB0-4428-B9AB-2259DD137B36}"/>
              </a:ext>
            </a:extLst>
          </p:cNvPr>
          <p:cNvCxnSpPr>
            <a:cxnSpLocks/>
          </p:cNvCxnSpPr>
          <p:nvPr/>
        </p:nvCxnSpPr>
        <p:spPr>
          <a:xfrm>
            <a:off x="4061791" y="5581196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413E32C4-216B-4408-AADE-83EA1DF76449}"/>
              </a:ext>
            </a:extLst>
          </p:cNvPr>
          <p:cNvCxnSpPr>
            <a:cxnSpLocks/>
          </p:cNvCxnSpPr>
          <p:nvPr/>
        </p:nvCxnSpPr>
        <p:spPr>
          <a:xfrm>
            <a:off x="5045765" y="5578039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2A854BFA-463C-4B4B-867A-1E2C203141D4}"/>
              </a:ext>
            </a:extLst>
          </p:cNvPr>
          <p:cNvCxnSpPr>
            <a:cxnSpLocks/>
          </p:cNvCxnSpPr>
          <p:nvPr/>
        </p:nvCxnSpPr>
        <p:spPr>
          <a:xfrm>
            <a:off x="6016488" y="5575060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617E476B-AA2B-4B9F-8726-4684BCEA74AB}"/>
              </a:ext>
            </a:extLst>
          </p:cNvPr>
          <p:cNvCxnSpPr>
            <a:cxnSpLocks/>
          </p:cNvCxnSpPr>
          <p:nvPr/>
        </p:nvCxnSpPr>
        <p:spPr>
          <a:xfrm>
            <a:off x="7010401" y="5572163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B0DC200D-A03F-4CAD-B7A4-5A2523201349}"/>
                  </a:ext>
                </a:extLst>
              </p:cNvPr>
              <p:cNvSpPr txBox="1"/>
              <p:nvPr/>
            </p:nvSpPr>
            <p:spPr>
              <a:xfrm>
                <a:off x="1214474" y="5891519"/>
                <a:ext cx="3718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B0DC200D-A03F-4CAD-B7A4-5A2523201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474" y="5891519"/>
                <a:ext cx="371833" cy="276999"/>
              </a:xfrm>
              <a:prstGeom prst="rect">
                <a:avLst/>
              </a:prstGeom>
              <a:blipFill>
                <a:blip r:embed="rId19"/>
                <a:stretch>
                  <a:fillRect l="-4918" b="-173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0799883A-024D-4DB3-AD33-493B04C0737F}"/>
                  </a:ext>
                </a:extLst>
              </p:cNvPr>
              <p:cNvSpPr txBox="1"/>
              <p:nvPr/>
            </p:nvSpPr>
            <p:spPr>
              <a:xfrm>
                <a:off x="2076890" y="588955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0799883A-024D-4DB3-AD33-493B04C0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0" y="5889552"/>
                <a:ext cx="371833" cy="285847"/>
              </a:xfrm>
              <a:prstGeom prst="rect">
                <a:avLst/>
              </a:prstGeom>
              <a:blipFill>
                <a:blip r:embed="rId20"/>
                <a:stretch>
                  <a:fillRect l="-4918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137DD448-2620-46D4-80DE-02A85B2D22C6}"/>
                  </a:ext>
                </a:extLst>
              </p:cNvPr>
              <p:cNvSpPr txBox="1"/>
              <p:nvPr/>
            </p:nvSpPr>
            <p:spPr>
              <a:xfrm>
                <a:off x="2948217" y="588955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137DD448-2620-46D4-80DE-02A85B2D2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17" y="5889552"/>
                <a:ext cx="371833" cy="285847"/>
              </a:xfrm>
              <a:prstGeom prst="rect">
                <a:avLst/>
              </a:prstGeom>
              <a:blipFill>
                <a:blip r:embed="rId21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A65F9D6D-53A3-43CF-9221-D4459D37A0D7}"/>
                  </a:ext>
                </a:extLst>
              </p:cNvPr>
              <p:cNvSpPr txBox="1"/>
              <p:nvPr/>
            </p:nvSpPr>
            <p:spPr>
              <a:xfrm>
                <a:off x="3942131" y="588955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A65F9D6D-53A3-43CF-9221-D4459D37A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131" y="5889552"/>
                <a:ext cx="371833" cy="285847"/>
              </a:xfrm>
              <a:prstGeom prst="rect">
                <a:avLst/>
              </a:prstGeom>
              <a:blipFill>
                <a:blip r:embed="rId22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446FDBCA-84CE-4272-8AB1-B9E36986711E}"/>
                  </a:ext>
                </a:extLst>
              </p:cNvPr>
              <p:cNvSpPr txBox="1"/>
              <p:nvPr/>
            </p:nvSpPr>
            <p:spPr>
              <a:xfrm>
                <a:off x="4814728" y="5850717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446FDBCA-84CE-4272-8AB1-B9E369867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728" y="5850717"/>
                <a:ext cx="371833" cy="285847"/>
              </a:xfrm>
              <a:prstGeom prst="rect">
                <a:avLst/>
              </a:prstGeom>
              <a:blipFill>
                <a:blip r:embed="rId23"/>
                <a:stretch>
                  <a:fillRect l="-6557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E25DC6D-DF58-4813-8973-9323E99CB2E7}"/>
                  </a:ext>
                </a:extLst>
              </p:cNvPr>
              <p:cNvSpPr txBox="1"/>
              <p:nvPr/>
            </p:nvSpPr>
            <p:spPr>
              <a:xfrm>
                <a:off x="5843180" y="5850717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E25DC6D-DF58-4813-8973-9323E99CB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180" y="5850717"/>
                <a:ext cx="371833" cy="285847"/>
              </a:xfrm>
              <a:prstGeom prst="rect">
                <a:avLst/>
              </a:prstGeom>
              <a:blipFill>
                <a:blip r:embed="rId24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745C9B9D-BF5A-4D84-9653-314ACC53FB28}"/>
                  </a:ext>
                </a:extLst>
              </p:cNvPr>
              <p:cNvSpPr txBox="1"/>
              <p:nvPr/>
            </p:nvSpPr>
            <p:spPr>
              <a:xfrm>
                <a:off x="6863853" y="5860423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745C9B9D-BF5A-4D84-9653-314ACC53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853" y="5860423"/>
                <a:ext cx="371833" cy="285847"/>
              </a:xfrm>
              <a:prstGeom prst="rect">
                <a:avLst/>
              </a:prstGeom>
              <a:blipFill>
                <a:blip r:embed="rId25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8048D3F-49C8-408D-878C-B7EA08A1C98E}"/>
                  </a:ext>
                </a:extLst>
              </p:cNvPr>
              <p:cNvSpPr txBox="1"/>
              <p:nvPr/>
            </p:nvSpPr>
            <p:spPr>
              <a:xfrm>
                <a:off x="7753157" y="5890863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8048D3F-49C8-408D-878C-B7EA08A1C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157" y="5890863"/>
                <a:ext cx="371833" cy="285847"/>
              </a:xfrm>
              <a:prstGeom prst="rect">
                <a:avLst/>
              </a:prstGeom>
              <a:blipFill>
                <a:blip r:embed="rId26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9702A88F-2885-4CB0-BE92-B1696BA76F5A}"/>
              </a:ext>
            </a:extLst>
          </p:cNvPr>
          <p:cNvCxnSpPr/>
          <p:nvPr/>
        </p:nvCxnSpPr>
        <p:spPr>
          <a:xfrm>
            <a:off x="1391478" y="5565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AC53AEE2-E76B-4C85-9856-4E8EBC02EB94}"/>
              </a:ext>
            </a:extLst>
          </p:cNvPr>
          <p:cNvCxnSpPr/>
          <p:nvPr/>
        </p:nvCxnSpPr>
        <p:spPr>
          <a:xfrm>
            <a:off x="7881730" y="5537080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手繪多邊形: 圖案 77">
            <a:extLst>
              <a:ext uri="{FF2B5EF4-FFF2-40B4-BE49-F238E27FC236}">
                <a16:creationId xmlns:a16="http://schemas.microsoft.com/office/drawing/2014/main" id="{EE7B06C3-A789-465B-8E03-98CFD6798E21}"/>
              </a:ext>
            </a:extLst>
          </p:cNvPr>
          <p:cNvSpPr/>
          <p:nvPr/>
        </p:nvSpPr>
        <p:spPr>
          <a:xfrm>
            <a:off x="1379286" y="4254382"/>
            <a:ext cx="2028465" cy="207980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: 圖案 78">
            <a:extLst>
              <a:ext uri="{FF2B5EF4-FFF2-40B4-BE49-F238E27FC236}">
                <a16:creationId xmlns:a16="http://schemas.microsoft.com/office/drawing/2014/main" id="{6A5294FB-B110-4B5D-A31E-09282A0C80A2}"/>
              </a:ext>
            </a:extLst>
          </p:cNvPr>
          <p:cNvSpPr/>
          <p:nvPr/>
        </p:nvSpPr>
        <p:spPr>
          <a:xfrm rot="10800000">
            <a:off x="1434489" y="6215452"/>
            <a:ext cx="2627301" cy="260197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: 圖案 79">
            <a:extLst>
              <a:ext uri="{FF2B5EF4-FFF2-40B4-BE49-F238E27FC236}">
                <a16:creationId xmlns:a16="http://schemas.microsoft.com/office/drawing/2014/main" id="{8C152C62-0DFC-46D3-9956-67324B426D09}"/>
              </a:ext>
            </a:extLst>
          </p:cNvPr>
          <p:cNvSpPr/>
          <p:nvPr/>
        </p:nvSpPr>
        <p:spPr>
          <a:xfrm rot="10800000">
            <a:off x="5113029" y="6164559"/>
            <a:ext cx="2627301" cy="260197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: 圖案 80">
            <a:extLst>
              <a:ext uri="{FF2B5EF4-FFF2-40B4-BE49-F238E27FC236}">
                <a16:creationId xmlns:a16="http://schemas.microsoft.com/office/drawing/2014/main" id="{682E9FC1-8FC7-4357-BA9A-EBD1C074604C}"/>
              </a:ext>
            </a:extLst>
          </p:cNvPr>
          <p:cNvSpPr/>
          <p:nvPr/>
        </p:nvSpPr>
        <p:spPr>
          <a:xfrm>
            <a:off x="5724057" y="4262734"/>
            <a:ext cx="2028465" cy="207980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87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Interpolation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8" y="1600200"/>
                <a:ext cx="5072587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Problem: Given two samples </a:t>
                </a:r>
                <a:r>
                  <a:rPr lang="en-US" altLang="zh-TW" i="1" dirty="0"/>
                  <a:t>(a, f(a))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(b, f(b))</a:t>
                </a:r>
                <a:r>
                  <a:rPr lang="en-US" altLang="zh-TW" dirty="0"/>
                  <a:t>, compute </a:t>
                </a:r>
                <a:r>
                  <a:rPr lang="en-US" altLang="zh-TW" i="1" dirty="0"/>
                  <a:t>f(t)</a:t>
                </a:r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𝑎</m:t>
                    </m:r>
                    <m:r>
                      <a:rPr lang="en-US" altLang="zh-TW" b="0" i="1" smtClean="0">
                        <a:latin typeface="Cambria Math"/>
                      </a:rPr>
                      <m:t>&lt;</m:t>
                    </m:r>
                    <m:r>
                      <a:rPr lang="en-US" altLang="zh-TW" b="0" i="1" smtClean="0">
                        <a:latin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</a:rPr>
                      <m:t>, </m:t>
                    </m:r>
                    <m:r>
                      <a:rPr lang="en-US" altLang="zh-TW" b="0" i="1" smtClean="0"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Linear interpolation: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𝑏</m:t>
                            </m:r>
                          </m:e>
                        </m:d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𝑎</m:t>
                        </m:r>
                      </m:den>
                    </m:f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altLang="zh-TW" dirty="0"/>
                  <a:t>Piecewise Linear Interpolation</a:t>
                </a:r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8" y="1600200"/>
                <a:ext cx="5072587" cy="4525963"/>
              </a:xfrm>
              <a:blipFill>
                <a:blip r:embed="rId3"/>
                <a:stretch>
                  <a:fillRect l="-2163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>
          <a:xfrm>
            <a:off x="5350693" y="1417638"/>
            <a:ext cx="3250703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dirty="0"/>
              <a:t>The graph</a:t>
            </a:r>
            <a:endParaRPr lang="zh-TW" altLang="en-US" dirty="0"/>
          </a:p>
        </p:txBody>
      </p:sp>
      <p:grpSp>
        <p:nvGrpSpPr>
          <p:cNvPr id="21" name="群組 20"/>
          <p:cNvGrpSpPr/>
          <p:nvPr/>
        </p:nvGrpSpPr>
        <p:grpSpPr>
          <a:xfrm>
            <a:off x="5508104" y="2179808"/>
            <a:ext cx="3240360" cy="2176123"/>
            <a:chOff x="4932040" y="3093727"/>
            <a:chExt cx="3240360" cy="2176123"/>
          </a:xfrm>
        </p:grpSpPr>
        <p:cxnSp>
          <p:nvCxnSpPr>
            <p:cNvPr id="7" name="直線單箭頭接點 6"/>
            <p:cNvCxnSpPr/>
            <p:nvPr/>
          </p:nvCxnSpPr>
          <p:spPr>
            <a:xfrm flipV="1">
              <a:off x="5364088" y="4005064"/>
              <a:ext cx="0" cy="86409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>
              <a:off x="4932040" y="4869160"/>
              <a:ext cx="3240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 flipV="1">
              <a:off x="7380312" y="3212976"/>
              <a:ext cx="0" cy="165618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V="1">
              <a:off x="5031829" y="3093727"/>
              <a:ext cx="2736304" cy="108012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 flipV="1">
              <a:off x="6228184" y="3717032"/>
              <a:ext cx="0" cy="11521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5221214" y="4900518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a</a:t>
              </a:r>
              <a:endParaRPr lang="zh-TW" altLang="en-US" i="1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6105852" y="4867086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</a:rPr>
                <a:t>t</a:t>
              </a:r>
              <a:endParaRPr lang="zh-TW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7232675" y="488121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b</a:t>
              </a:r>
              <a:endParaRPr lang="zh-TW" altLang="en-US" i="1" dirty="0"/>
            </a:p>
          </p:txBody>
        </p:sp>
      </p:grp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67796" y="6356350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6" name="內容版面配置區 3">
            <a:extLst>
              <a:ext uri="{FF2B5EF4-FFF2-40B4-BE49-F238E27FC236}">
                <a16:creationId xmlns:a16="http://schemas.microsoft.com/office/drawing/2014/main" id="{F70B21D4-7DDF-486E-9F4F-93D9F99821DB}"/>
              </a:ext>
            </a:extLst>
          </p:cNvPr>
          <p:cNvSpPr txBox="1">
            <a:spLocks/>
          </p:cNvSpPr>
          <p:nvPr/>
        </p:nvSpPr>
        <p:spPr bwMode="auto">
          <a:xfrm>
            <a:off x="745392" y="4502426"/>
            <a:ext cx="4248313" cy="3905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Font typeface="Arial" charset="0"/>
              <a:buNone/>
            </a:pPr>
            <a:r>
              <a:rPr lang="en-US" altLang="zh-TW" sz="2600" dirty="0">
                <a:solidFill>
                  <a:srgbClr val="00B0F0"/>
                </a:solidFill>
              </a:rPr>
              <a:t>The input data:</a:t>
            </a:r>
          </a:p>
          <a:p>
            <a:pPr marL="0" indent="0" defTabSz="914400">
              <a:buNone/>
            </a:pPr>
            <a:endParaRPr lang="en-US" altLang="zh-TW" dirty="0"/>
          </a:p>
          <a:p>
            <a:pPr marL="0" indent="0" defTabSz="914400">
              <a:buFont typeface="Arial" charset="0"/>
              <a:buNone/>
            </a:pPr>
            <a:r>
              <a:rPr lang="en-US" altLang="zh-TW" sz="2200" dirty="0">
                <a:solidFill>
                  <a:srgbClr val="00B0F0"/>
                </a:solidFill>
              </a:rPr>
              <a:t>The piecewise linear interpolation function </a:t>
            </a:r>
            <a:r>
              <a:rPr lang="en-US" altLang="zh-TW" sz="2200" i="1" dirty="0">
                <a:solidFill>
                  <a:srgbClr val="00B0F0"/>
                </a:solidFill>
              </a:rPr>
              <a:t>s(x)</a:t>
            </a:r>
            <a:r>
              <a:rPr lang="en-US" altLang="zh-TW" sz="2200" dirty="0">
                <a:solidFill>
                  <a:srgbClr val="00B0F0"/>
                </a:solidFill>
              </a:rPr>
              <a:t> consists of </a:t>
            </a:r>
            <a:r>
              <a:rPr lang="en-US" altLang="zh-TW" sz="2200" i="1" dirty="0">
                <a:solidFill>
                  <a:srgbClr val="00B0F0"/>
                </a:solidFill>
              </a:rPr>
              <a:t>n</a:t>
            </a:r>
            <a:r>
              <a:rPr lang="en-US" altLang="zh-TW" sz="2200" dirty="0">
                <a:solidFill>
                  <a:srgbClr val="00B0F0"/>
                </a:solidFill>
              </a:rPr>
              <a:t> linear polynomials.</a:t>
            </a:r>
            <a:endParaRPr lang="zh-TW" altLang="en-US" sz="2200" dirty="0">
              <a:solidFill>
                <a:srgbClr val="00B0F0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D0F9803-CD72-4E23-BB55-0D2BBDF14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354" y="4962858"/>
            <a:ext cx="3449000" cy="61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E89F05E-C15B-4AA7-8616-16A85872A1B7}"/>
              </a:ext>
            </a:extLst>
          </p:cNvPr>
          <p:cNvCxnSpPr/>
          <p:nvPr/>
        </p:nvCxnSpPr>
        <p:spPr>
          <a:xfrm>
            <a:off x="5222707" y="5517232"/>
            <a:ext cx="360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F9D8A04-E582-4E28-BFB3-BA230381FA3A}"/>
              </a:ext>
            </a:extLst>
          </p:cNvPr>
          <p:cNvCxnSpPr/>
          <p:nvPr/>
        </p:nvCxnSpPr>
        <p:spPr>
          <a:xfrm flipV="1">
            <a:off x="5222707" y="4941168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3599033F-AFBE-4EDE-8982-F3E8A1D62A5A}"/>
              </a:ext>
            </a:extLst>
          </p:cNvPr>
          <p:cNvCxnSpPr/>
          <p:nvPr/>
        </p:nvCxnSpPr>
        <p:spPr>
          <a:xfrm flipV="1">
            <a:off x="6014795" y="5085184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AD782B32-0D9D-4DB5-9118-CEB39C4A007B}"/>
              </a:ext>
            </a:extLst>
          </p:cNvPr>
          <p:cNvCxnSpPr/>
          <p:nvPr/>
        </p:nvCxnSpPr>
        <p:spPr>
          <a:xfrm>
            <a:off x="6878891" y="5517232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FACC4817-A262-4968-808E-248F57FB8D8C}"/>
              </a:ext>
            </a:extLst>
          </p:cNvPr>
          <p:cNvCxnSpPr/>
          <p:nvPr/>
        </p:nvCxnSpPr>
        <p:spPr>
          <a:xfrm>
            <a:off x="7598971" y="5517232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B708DC52-3A81-463D-9034-0619925E7F6F}"/>
              </a:ext>
            </a:extLst>
          </p:cNvPr>
          <p:cNvCxnSpPr/>
          <p:nvPr/>
        </p:nvCxnSpPr>
        <p:spPr>
          <a:xfrm flipV="1">
            <a:off x="8247043" y="479715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84E4F546-BFA0-464B-B757-25806234F7FA}"/>
              </a:ext>
            </a:extLst>
          </p:cNvPr>
          <p:cNvCxnSpPr/>
          <p:nvPr/>
        </p:nvCxnSpPr>
        <p:spPr>
          <a:xfrm flipV="1">
            <a:off x="8823107" y="51571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BE23E67E-3E50-44E9-85C1-43BACFC0CF7E}"/>
              </a:ext>
            </a:extLst>
          </p:cNvPr>
          <p:cNvCxnSpPr/>
          <p:nvPr/>
        </p:nvCxnSpPr>
        <p:spPr>
          <a:xfrm>
            <a:off x="5222707" y="4941168"/>
            <a:ext cx="792088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73A730D-D7C9-4470-B7A8-5CD02B8E0CF2}"/>
              </a:ext>
            </a:extLst>
          </p:cNvPr>
          <p:cNvCxnSpPr/>
          <p:nvPr/>
        </p:nvCxnSpPr>
        <p:spPr>
          <a:xfrm>
            <a:off x="6014795" y="5085184"/>
            <a:ext cx="864096" cy="7200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CB77107-1A7A-4BC0-8CF0-A3FCBED99769}"/>
              </a:ext>
            </a:extLst>
          </p:cNvPr>
          <p:cNvCxnSpPr/>
          <p:nvPr/>
        </p:nvCxnSpPr>
        <p:spPr>
          <a:xfrm flipV="1">
            <a:off x="6878891" y="5661248"/>
            <a:ext cx="720080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7AC393A7-66EF-4971-AA4C-0A003A2280F5}"/>
              </a:ext>
            </a:extLst>
          </p:cNvPr>
          <p:cNvCxnSpPr/>
          <p:nvPr/>
        </p:nvCxnSpPr>
        <p:spPr>
          <a:xfrm flipV="1">
            <a:off x="7598971" y="4797152"/>
            <a:ext cx="648072" cy="864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72CD919-7169-4B40-8644-8D59112E6A1E}"/>
              </a:ext>
            </a:extLst>
          </p:cNvPr>
          <p:cNvCxnSpPr/>
          <p:nvPr/>
        </p:nvCxnSpPr>
        <p:spPr>
          <a:xfrm>
            <a:off x="8247043" y="4797152"/>
            <a:ext cx="576064" cy="3600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8FF6722-D75E-4C83-93AD-49D6BC147852}"/>
              </a:ext>
            </a:extLst>
          </p:cNvPr>
          <p:cNvSpPr txBox="1"/>
          <p:nvPr/>
        </p:nvSpPr>
        <p:spPr>
          <a:xfrm>
            <a:off x="5150699" y="554859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r>
              <a:rPr lang="en-US" altLang="zh-TW" baseline="-25000" dirty="0"/>
              <a:t>0</a:t>
            </a:r>
            <a:endParaRPr lang="zh-TW" altLang="en-US" baseline="-250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D623CCC-4C72-4B8F-A845-57E3E61464A3}"/>
              </a:ext>
            </a:extLst>
          </p:cNvPr>
          <p:cNvSpPr txBox="1"/>
          <p:nvPr/>
        </p:nvSpPr>
        <p:spPr>
          <a:xfrm>
            <a:off x="6683279" y="580526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r>
              <a:rPr lang="en-US" altLang="zh-TW" baseline="-25000" dirty="0"/>
              <a:t>i</a:t>
            </a:r>
            <a:endParaRPr lang="zh-TW" altLang="en-US" baseline="-250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CEF01EC-55A3-426F-9FF0-389D2FC05FFC}"/>
              </a:ext>
            </a:extLst>
          </p:cNvPr>
          <p:cNvSpPr txBox="1"/>
          <p:nvPr/>
        </p:nvSpPr>
        <p:spPr>
          <a:xfrm>
            <a:off x="7361566" y="570189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r>
              <a:rPr lang="en-US" altLang="zh-TW" baseline="-25000" dirty="0"/>
              <a:t>i+1</a:t>
            </a:r>
            <a:endParaRPr lang="zh-TW" altLang="en-US" baseline="-250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72E9D00-4E80-4432-8D15-3D35A9CEB737}"/>
              </a:ext>
            </a:extLst>
          </p:cNvPr>
          <p:cNvSpPr txBox="1"/>
          <p:nvPr/>
        </p:nvSpPr>
        <p:spPr>
          <a:xfrm>
            <a:off x="8612053" y="551723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x</a:t>
            </a:r>
            <a:r>
              <a:rPr lang="en-US" altLang="zh-TW" baseline="-25000" dirty="0" err="1"/>
              <a:t>n</a:t>
            </a:r>
            <a:endParaRPr lang="zh-TW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21442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Natural Cubic Splines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47870" y="1600200"/>
                <a:ext cx="4565925" cy="47561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What is a spline?</a:t>
                </a:r>
              </a:p>
              <a:p>
                <a:pPr lvl="1"/>
                <a:r>
                  <a:rPr lang="en-US" altLang="zh-TW" dirty="0">
                    <a:solidFill>
                      <a:srgbClr val="FF0000"/>
                    </a:solidFill>
                  </a:rPr>
                  <a:t>A curve consists of several pieces of polynomials joined under certain continuity conditions.</a:t>
                </a:r>
                <a:endParaRPr lang="en-US" altLang="zh-TW" dirty="0"/>
              </a:p>
              <a:p>
                <a:r>
                  <a:rPr lang="en-US" altLang="zh-TW" dirty="0"/>
                  <a:t>What is a cubic spline?</a:t>
                </a:r>
              </a:p>
              <a:p>
                <a:pPr lvl="1"/>
                <a:r>
                  <a:rPr lang="en-US" altLang="zh-TW" dirty="0"/>
                  <a:t>It consists of pieces of cubic polynomials (</a:t>
                </a:r>
                <a:r>
                  <a:rPr lang="zh-TW" altLang="en-US" dirty="0"/>
                  <a:t>三次</a:t>
                </a:r>
                <a:r>
                  <a:rPr lang="en-US" altLang="zh-TW" dirty="0"/>
                  <a:t>).</a:t>
                </a:r>
              </a:p>
              <a:p>
                <a:r>
                  <a:rPr lang="en-US" altLang="zh-TW" dirty="0"/>
                  <a:t>General form: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)≡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 </a:t>
                </a:r>
              </a:p>
              <a:p>
                <a:r>
                  <a:rPr lang="en-US" altLang="zh-TW" dirty="0"/>
                  <a:t>Natural cubic spline</a:t>
                </a:r>
              </a:p>
              <a:p>
                <a:pPr lvl="1"/>
                <a:r>
                  <a:rPr lang="en-US" altLang="zh-TW" i="1" dirty="0">
                    <a:solidFill>
                      <a:srgbClr val="C00000"/>
                    </a:solidFill>
                  </a:rPr>
                  <a:t>S</a:t>
                </a:r>
                <a:r>
                  <a:rPr lang="en-US" altLang="zh-TW" i="1" baseline="-25000" dirty="0">
                    <a:solidFill>
                      <a:srgbClr val="C00000"/>
                    </a:solidFill>
                  </a:rPr>
                  <a:t>0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”(t</a:t>
                </a:r>
                <a:r>
                  <a:rPr lang="en-US" altLang="zh-TW" i="1" baseline="-25000" dirty="0">
                    <a:solidFill>
                      <a:srgbClr val="C00000"/>
                    </a:solidFill>
                  </a:rPr>
                  <a:t>0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=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S</a:t>
                </a:r>
                <a:r>
                  <a:rPr lang="en-US" altLang="zh-TW" i="1" baseline="-25000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”(</a:t>
                </a:r>
                <a:r>
                  <a:rPr lang="en-US" altLang="zh-TW" i="1" dirty="0" err="1">
                    <a:solidFill>
                      <a:srgbClr val="C00000"/>
                    </a:solidFill>
                  </a:rPr>
                  <a:t>t</a:t>
                </a:r>
                <a:r>
                  <a:rPr lang="en-US" altLang="zh-TW" i="1" baseline="-25000" dirty="0" err="1">
                    <a:solidFill>
                      <a:srgbClr val="C00000"/>
                    </a:solidFill>
                  </a:rPr>
                  <a:t>n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= 0.</a:t>
                </a:r>
                <a:endParaRPr lang="en-US" altLang="zh-TW" dirty="0"/>
              </a:p>
              <a:p>
                <a:pPr lvl="1"/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47870" y="1600200"/>
                <a:ext cx="4565925" cy="4756150"/>
              </a:xfrm>
              <a:blipFill>
                <a:blip r:embed="rId3"/>
                <a:stretch>
                  <a:fillRect l="-2003" t="-20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59836" y="1916832"/>
            <a:ext cx="3826964" cy="420933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zh-TW" sz="2400" dirty="0">
                <a:solidFill>
                  <a:srgbClr val="002060"/>
                </a:solidFill>
              </a:rPr>
              <a:t>A spline of 3 pieces.</a:t>
            </a:r>
            <a:endParaRPr lang="zh-TW" altLang="en-US" sz="2400" dirty="0">
              <a:solidFill>
                <a:srgbClr val="002060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5004048" y="4149080"/>
            <a:ext cx="3456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5004048" y="364502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5940152" y="314096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7236296" y="3429000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8460432" y="3573016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手繪多邊形 14"/>
          <p:cNvSpPr/>
          <p:nvPr/>
        </p:nvSpPr>
        <p:spPr>
          <a:xfrm>
            <a:off x="4991100" y="3152775"/>
            <a:ext cx="962025" cy="600275"/>
          </a:xfrm>
          <a:custGeom>
            <a:avLst/>
            <a:gdLst>
              <a:gd name="connsiteX0" fmla="*/ 0 w 962025"/>
              <a:gd name="connsiteY0" fmla="*/ 504825 h 600275"/>
              <a:gd name="connsiteX1" fmla="*/ 504825 w 962025"/>
              <a:gd name="connsiteY1" fmla="*/ 561975 h 600275"/>
              <a:gd name="connsiteX2" fmla="*/ 962025 w 962025"/>
              <a:gd name="connsiteY2" fmla="*/ 0 h 6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25" h="600275">
                <a:moveTo>
                  <a:pt x="0" y="504825"/>
                </a:moveTo>
                <a:cubicBezTo>
                  <a:pt x="172244" y="575468"/>
                  <a:pt x="344488" y="646112"/>
                  <a:pt x="504825" y="561975"/>
                </a:cubicBezTo>
                <a:cubicBezTo>
                  <a:pt x="665162" y="477838"/>
                  <a:pt x="813593" y="238919"/>
                  <a:pt x="962025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5960665" y="2933684"/>
            <a:ext cx="1308373" cy="495316"/>
          </a:xfrm>
          <a:custGeom>
            <a:avLst/>
            <a:gdLst>
              <a:gd name="connsiteX0" fmla="*/ 0 w 1276350"/>
              <a:gd name="connsiteY0" fmla="*/ 219091 h 495316"/>
              <a:gd name="connsiteX1" fmla="*/ 400050 w 1276350"/>
              <a:gd name="connsiteY1" fmla="*/ 16 h 495316"/>
              <a:gd name="connsiteX2" fmla="*/ 914400 w 1276350"/>
              <a:gd name="connsiteY2" fmla="*/ 228616 h 495316"/>
              <a:gd name="connsiteX3" fmla="*/ 1276350 w 1276350"/>
              <a:gd name="connsiteY3" fmla="*/ 495316 h 49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6350" h="495316">
                <a:moveTo>
                  <a:pt x="0" y="219091"/>
                </a:moveTo>
                <a:cubicBezTo>
                  <a:pt x="123825" y="108760"/>
                  <a:pt x="247650" y="-1571"/>
                  <a:pt x="400050" y="16"/>
                </a:cubicBezTo>
                <a:cubicBezTo>
                  <a:pt x="552450" y="1603"/>
                  <a:pt x="768350" y="146066"/>
                  <a:pt x="914400" y="228616"/>
                </a:cubicBezTo>
                <a:cubicBezTo>
                  <a:pt x="1060450" y="311166"/>
                  <a:pt x="1168400" y="403241"/>
                  <a:pt x="1276350" y="49531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7236296" y="3400425"/>
            <a:ext cx="1209675" cy="389520"/>
          </a:xfrm>
          <a:custGeom>
            <a:avLst/>
            <a:gdLst>
              <a:gd name="connsiteX0" fmla="*/ 0 w 1209675"/>
              <a:gd name="connsiteY0" fmla="*/ 0 h 389520"/>
              <a:gd name="connsiteX1" fmla="*/ 657225 w 1209675"/>
              <a:gd name="connsiteY1" fmla="*/ 361950 h 389520"/>
              <a:gd name="connsiteX2" fmla="*/ 942975 w 1209675"/>
              <a:gd name="connsiteY2" fmla="*/ 342900 h 389520"/>
              <a:gd name="connsiteX3" fmla="*/ 1209675 w 1209675"/>
              <a:gd name="connsiteY3" fmla="*/ 171450 h 38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9675" h="389520">
                <a:moveTo>
                  <a:pt x="0" y="0"/>
                </a:moveTo>
                <a:cubicBezTo>
                  <a:pt x="250031" y="152400"/>
                  <a:pt x="500063" y="304800"/>
                  <a:pt x="657225" y="361950"/>
                </a:cubicBezTo>
                <a:cubicBezTo>
                  <a:pt x="814387" y="419100"/>
                  <a:pt x="850900" y="374650"/>
                  <a:pt x="942975" y="342900"/>
                </a:cubicBezTo>
                <a:cubicBezTo>
                  <a:pt x="1035050" y="311150"/>
                  <a:pt x="1122362" y="241300"/>
                  <a:pt x="1209675" y="1714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5022701" y="337818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baseline="-25000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rgbClr val="FF0000"/>
                </a:solidFill>
              </a:rPr>
              <a:t>(t)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063555" y="263691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</a:rPr>
              <a:t>S</a:t>
            </a:r>
            <a:r>
              <a:rPr lang="en-US" altLang="zh-TW" baseline="-25000" dirty="0">
                <a:solidFill>
                  <a:srgbClr val="00B050"/>
                </a:solidFill>
              </a:rPr>
              <a:t>1</a:t>
            </a:r>
            <a:r>
              <a:rPr lang="en-US" altLang="zh-TW" dirty="0">
                <a:solidFill>
                  <a:srgbClr val="00B050"/>
                </a:solidFill>
              </a:rPr>
              <a:t>(t)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662961" y="337817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(t)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7073431" y="416351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2</a:t>
            </a:r>
            <a:endParaRPr lang="zh-TW" altLang="en-US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777287" y="416351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1</a:t>
            </a:r>
            <a:endParaRPr lang="zh-TW" altLang="en-US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859836" y="415629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0</a:t>
            </a:r>
            <a:endParaRPr lang="zh-TW" altLang="en-US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270820" y="416691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3</a:t>
            </a:r>
            <a:endParaRPr lang="zh-TW" altLang="en-US" baseline="-25000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id="{C18757D5-4EEC-4E39-98E5-A547043CB5E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822851" y="4790753"/>
                <a:ext cx="4501159" cy="1450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/>
                <a:r>
                  <a:rPr lang="en-US" altLang="zh-TW" dirty="0"/>
                  <a:t>Continuity conditions:</a:t>
                </a:r>
              </a:p>
              <a:p>
                <a:pPr marL="457200" lvl="1" indent="0" defTabSz="914400">
                  <a:buFont typeface="Arial" charset="0"/>
                  <a:buNone/>
                </a:pPr>
                <a:r>
                  <a:rPr lang="en-US" altLang="zh-TW" dirty="0">
                    <a:solidFill>
                      <a:srgbClr val="C00000"/>
                    </a:solidFill>
                  </a:rPr>
                  <a:t>C</a:t>
                </a:r>
                <a:r>
                  <a:rPr lang="en-US" altLang="zh-TW" baseline="30000" dirty="0">
                    <a:solidFill>
                      <a:srgbClr val="C00000"/>
                    </a:solidFill>
                  </a:rPr>
                  <a:t>0</a:t>
                </a:r>
                <a:r>
                  <a:rPr lang="en-US" altLang="zh-TW" dirty="0"/>
                  <a:t>: S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(t) = S</a:t>
                </a:r>
                <a:r>
                  <a:rPr lang="en-US" altLang="zh-TW" baseline="-25000" dirty="0"/>
                  <a:t>i+1</a:t>
                </a:r>
                <a:r>
                  <a:rPr lang="en-US" altLang="zh-TW" dirty="0"/>
                  <a:t>(t) at the joint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.</a:t>
                </a:r>
              </a:p>
              <a:p>
                <a:pPr marL="457200" lvl="1" indent="0" defTabSz="914400">
                  <a:buFont typeface="Arial" charset="0"/>
                  <a:buNone/>
                </a:pP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baseline="30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dirty="0"/>
                  <a:t>: C</a:t>
                </a:r>
                <a:r>
                  <a:rPr lang="en-US" altLang="zh-TW" baseline="30000" dirty="0"/>
                  <a:t>0</a:t>
                </a:r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sub/>
                      <m:sup>
                        <m:r>
                          <a:rPr lang="en-US" altLang="zh-TW" i="1" smtClean="0">
                            <a:latin typeface="Cambria Math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  <m:sub/>
                      <m:sup>
                        <m:r>
                          <a:rPr lang="en-US" altLang="zh-TW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altLang="zh-TW" i="1" smtClean="0">
                        <a:latin typeface="Cambria Math"/>
                      </a:rPr>
                      <m:t>(</m:t>
                    </m:r>
                    <m:r>
                      <a:rPr lang="en-US" altLang="zh-TW" i="1" smtClean="0">
                        <a:latin typeface="Cambria Math"/>
                      </a:rPr>
                      <m:t>𝑡</m:t>
                    </m:r>
                    <m:r>
                      <a:rPr lang="en-US" altLang="zh-TW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pPr marL="457200" lvl="1" indent="0" defTabSz="914400">
                  <a:buFont typeface="Arial" charset="0"/>
                  <a:buNone/>
                </a:pPr>
                <a:r>
                  <a:rPr lang="en-US" altLang="zh-TW" dirty="0">
                    <a:solidFill>
                      <a:srgbClr val="FFC000"/>
                    </a:solidFill>
                  </a:rPr>
                  <a:t>C</a:t>
                </a:r>
                <a:r>
                  <a:rPr lang="en-US" altLang="zh-TW" baseline="30000" dirty="0">
                    <a:solidFill>
                      <a:srgbClr val="FFC000"/>
                    </a:solidFill>
                  </a:rPr>
                  <a:t>2</a:t>
                </a:r>
                <a:r>
                  <a:rPr lang="en-US" altLang="zh-TW" dirty="0"/>
                  <a:t>: C</a:t>
                </a:r>
                <a:r>
                  <a:rPr lang="en-US" altLang="zh-TW" baseline="30000" dirty="0"/>
                  <a:t>1</a:t>
                </a:r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i="1" smtClean="0">
                            <a:latin typeface="Cambria Math"/>
                          </a:rPr>
                          <m:t>"</m:t>
                        </m:r>
                      </m:sup>
                    </m:sSup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  <m:sup>
                        <m:r>
                          <a:rPr lang="en-US" altLang="zh-TW" i="1" smtClean="0">
                            <a:latin typeface="Cambria Math"/>
                          </a:rPr>
                          <m:t>"</m:t>
                        </m:r>
                      </m:sup>
                    </m:sSup>
                    <m:r>
                      <a:rPr lang="en-US" altLang="zh-TW" i="1" smtClean="0">
                        <a:latin typeface="Cambria Math"/>
                      </a:rPr>
                      <m:t>(</m:t>
                    </m:r>
                    <m:r>
                      <a:rPr lang="en-US" altLang="zh-TW" i="1" smtClean="0">
                        <a:latin typeface="Cambria Math"/>
                      </a:rPr>
                      <m:t>𝑡</m:t>
                    </m:r>
                    <m:r>
                      <a:rPr lang="en-US" altLang="zh-TW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id="{C18757D5-4EEC-4E39-98E5-A547043CB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2851" y="4790753"/>
                <a:ext cx="4501159" cy="1450503"/>
              </a:xfrm>
              <a:prstGeom prst="rect">
                <a:avLst/>
              </a:prstGeom>
              <a:blipFill>
                <a:blip r:embed="rId4"/>
                <a:stretch>
                  <a:fillRect l="-1759" t="-8403" b="-21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627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Lagrange interpolation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561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zh-TW" dirty="0">
                    <a:solidFill>
                      <a:srgbClr val="C00000"/>
                    </a:solidFill>
                  </a:rPr>
                  <a:t>Given a table consisting of n+1 (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x</a:t>
                </a:r>
                <a:r>
                  <a:rPr lang="en-US" altLang="zh-TW" i="1" baseline="-25000" dirty="0">
                    <a:solidFill>
                      <a:srgbClr val="C00000"/>
                    </a:solidFill>
                  </a:rPr>
                  <a:t>i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, </a:t>
                </a:r>
                <a:r>
                  <a:rPr lang="en-US" altLang="zh-TW" i="1" dirty="0" err="1">
                    <a:solidFill>
                      <a:srgbClr val="C00000"/>
                    </a:solidFill>
                  </a:rPr>
                  <a:t>y</a:t>
                </a:r>
                <a:r>
                  <a:rPr lang="en-US" altLang="zh-TW" i="1" baseline="-25000" dirty="0" err="1">
                    <a:solidFill>
                      <a:srgbClr val="C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) pairs, compute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y(x*)</a:t>
                </a:r>
              </a:p>
              <a:p>
                <a:r>
                  <a:rPr lang="en-US" altLang="zh-TW" dirty="0">
                    <a:solidFill>
                      <a:srgbClr val="C00000"/>
                    </a:solidFill>
                  </a:rPr>
                  <a:t>Theorem: The polynomial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p(x)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, which interpolates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f(x)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at n+1 points and is of degree </a:t>
                </a:r>
                <a:r>
                  <a:rPr lang="en-US" altLang="zh-TW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≤ n, is unique</a:t>
                </a:r>
                <a:endParaRPr lang="en-US" altLang="zh-TW" dirty="0"/>
              </a:p>
              <a:p>
                <a:r>
                  <a:rPr lang="en-US" altLang="zh-TW" dirty="0"/>
                  <a:t>The Lagrange polynomial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≡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+…+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.</a:t>
                </a:r>
              </a:p>
              <a:p>
                <a:pPr marL="457200" lvl="1" indent="0">
                  <a:buNone/>
                </a:pPr>
                <a:endParaRPr lang="en-US" altLang="zh-TW" dirty="0">
                  <a:solidFill>
                    <a:srgbClr val="C00000"/>
                  </a:solidFill>
                </a:endParaRPr>
              </a:p>
              <a:p>
                <a:r>
                  <a:rPr lang="en-US" altLang="zh-TW" dirty="0">
                    <a:latin typeface="Times New Roman"/>
                    <a:cs typeface="Times New Roman"/>
                  </a:rPr>
                  <a:t>We can use </a:t>
                </a:r>
                <a:r>
                  <a:rPr lang="en-US" altLang="zh-TW" dirty="0" err="1">
                    <a:latin typeface="Times New Roman"/>
                    <a:cs typeface="Times New Roman"/>
                  </a:rPr>
                  <a:t>lagrange</a:t>
                </a:r>
                <a:r>
                  <a:rPr lang="en-US" altLang="zh-TW" dirty="0">
                    <a:latin typeface="Times New Roman"/>
                    <a:cs typeface="Times New Roman"/>
                  </a:rPr>
                  <a:t> interpolation to super-sample a image under different circumstances</a:t>
                </a:r>
              </a:p>
              <a:p>
                <a:pPr lvl="1"/>
                <a:r>
                  <a:rPr lang="en-US" altLang="zh-TW" dirty="0"/>
                  <a:t>Divide row/column into blocks , a block contains K pixels </a:t>
                </a:r>
                <a:r>
                  <a:rPr lang="en-US" altLang="zh-TW" dirty="0">
                    <a:solidFill>
                      <a:srgbClr val="00B0F0"/>
                    </a:solidFill>
                  </a:rPr>
                  <a:t>// ex: K = 4 </a:t>
                </a:r>
              </a:p>
              <a:p>
                <a:pPr lvl="1"/>
                <a:r>
                  <a:rPr lang="en-US" altLang="zh-TW" dirty="0"/>
                  <a:t>Each block can shares a pixel with its previous and next neighboring blocks</a:t>
                </a:r>
                <a:r>
                  <a:rPr lang="en-US" altLang="zh-TW" dirty="0">
                    <a:solidFill>
                      <a:srgbClr val="00B0F0"/>
                    </a:solidFill>
                  </a:rPr>
                  <a:t> // 1 + K + 1 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56150"/>
              </a:xfrm>
              <a:blipFill>
                <a:blip r:embed="rId2"/>
                <a:stretch>
                  <a:fillRect l="-1037" t="-2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Lagrange polynomial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871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內容版面配置區 15"/>
          <p:cNvSpPr/>
          <p:nvPr/>
        </p:nvSpPr>
        <p:spPr>
          <a:xfrm>
            <a:off x="457172" y="1412855"/>
            <a:ext cx="8056997" cy="18295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endParaRPr lang="en-US" sz="2903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標題 15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>
                <a:solidFill>
                  <a:srgbClr val="000000"/>
                </a:solidFill>
                <a:latin typeface="Times New Roman"/>
                <a:ea typeface="DFKai-SB"/>
              </a:rPr>
              <a:t>Evaluation metrics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/>
              <p:cNvSpPr txBox="1"/>
              <p:nvPr/>
            </p:nvSpPr>
            <p:spPr>
              <a:xfrm>
                <a:off x="4886851" y="1592414"/>
                <a:ext cx="4624278" cy="217613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81638" tIns="40819" rIns="81638" bIns="40819" anchor="t">
                <a:noAutofit/>
              </a:bodyPr>
              <a:lstStyle/>
              <a:p>
                <a:pPr marL="414726" indent="-414726"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Based on pixel difference (MSE)</a:t>
                </a:r>
                <a:endParaRPr lang="en-US" altLang="zh-TW" sz="2000" i="1" spc="-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14726" indent="-41472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𝑀𝐴𝑋</m:t>
                        </m:r>
                      </m:e>
                      <m:sub>
                        <m:r>
                          <a:rPr lang="en-US" altLang="zh-TW" sz="200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zh-TW" sz="2000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Maximum pixel value</a:t>
                </a:r>
                <a:endParaRPr lang="en-US" altLang="zh-TW" sz="2000" spc="-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000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dirty="0"/>
                  <a:t>e.g., 255 for 8-bit</a:t>
                </a:r>
                <a:endParaRPr lang="en-US" altLang="zh-TW" sz="2000" spc="-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14726" indent="-414726"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solidFill>
                      <a:srgbClr val="FF0000"/>
                    </a:solidFill>
                  </a:rPr>
                  <a:t>Higher</a:t>
                </a:r>
                <a:r>
                  <a:rPr lang="en-US" altLang="zh-TW" sz="2000" dirty="0"/>
                  <a:t> value =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Better</a:t>
                </a:r>
                <a:r>
                  <a:rPr lang="en-US" altLang="zh-TW" sz="2000" dirty="0"/>
                  <a:t> quality </a:t>
                </a:r>
              </a:p>
              <a:p>
                <a:r>
                  <a:rPr lang="en-US" altLang="zh-TW" sz="2000" dirty="0"/>
                  <a:t>	(Unit: dB)</a:t>
                </a:r>
                <a:endParaRPr lang="en-US" altLang="zh-TW" sz="2000" spc="-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文字方塊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851" y="1592414"/>
                <a:ext cx="4624278" cy="2176132"/>
              </a:xfrm>
              <a:prstGeom prst="rect">
                <a:avLst/>
              </a:prstGeom>
              <a:blipFill>
                <a:blip r:embed="rId4"/>
                <a:stretch>
                  <a:fillRect l="-1451" t="-168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F1FA585-BD37-4F70-9B78-EE450DFCDC7C}" type="slidenum">
              <a:t>9</a:t>
            </a:fld>
            <a:endParaRPr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F8D58DF-B8BA-406B-A8DC-1C9AB963D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8D4AD016-7651-401B-B8EB-952629B3E04D}"/>
              </a:ext>
            </a:extLst>
          </p:cNvPr>
          <p:cNvSpPr txBox="1">
            <a:spLocks/>
          </p:cNvSpPr>
          <p:nvPr/>
        </p:nvSpPr>
        <p:spPr>
          <a:xfrm>
            <a:off x="457200" y="1413573"/>
            <a:ext cx="1888436" cy="67586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altLang="zh-TW" dirty="0"/>
              <a:t>PSNR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334218EB-BB4D-4FEE-B09D-E893F79FEE10}"/>
              </a:ext>
            </a:extLst>
          </p:cNvPr>
          <p:cNvSpPr txBox="1">
            <a:spLocks/>
          </p:cNvSpPr>
          <p:nvPr/>
        </p:nvSpPr>
        <p:spPr>
          <a:xfrm>
            <a:off x="457172" y="3448831"/>
            <a:ext cx="1888436" cy="67586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altLang="zh-TW" dirty="0"/>
              <a:t>SSIM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29AB26-DA85-4A69-A67A-892C69CBD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513" y="213401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F004451-035F-4F2F-A055-16DB70A20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352237"/>
              </p:ext>
            </p:extLst>
          </p:nvPr>
        </p:nvGraphicFramePr>
        <p:xfrm>
          <a:off x="337279" y="2065417"/>
          <a:ext cx="3300736" cy="1019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公式" r:id="rId5" imgW="1651000" imgH="508000" progId="Equation.3">
                  <p:embed/>
                </p:oleObj>
              </mc:Choice>
              <mc:Fallback>
                <p:oleObj name="公式" r:id="rId5" imgW="1651000" imgH="508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79" y="2065417"/>
                        <a:ext cx="3300736" cy="10199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D76ADC96-FEA0-45EA-BEBF-76C0B253EE95}"/>
              </a:ext>
            </a:extLst>
          </p:cNvPr>
          <p:cNvSpPr txBox="1"/>
          <p:nvPr/>
        </p:nvSpPr>
        <p:spPr>
          <a:xfrm>
            <a:off x="4886851" y="3905770"/>
            <a:ext cx="5027177" cy="2176132"/>
          </a:xfrm>
          <a:prstGeom prst="rect">
            <a:avLst/>
          </a:prstGeom>
          <a:noFill/>
          <a:ln w="0">
            <a:noFill/>
          </a:ln>
        </p:spPr>
        <p:txBody>
          <a:bodyPr lIns="81638" tIns="40819" rIns="81638" bIns="40819" anchor="t">
            <a:noAutofit/>
          </a:bodyPr>
          <a:lstStyle/>
          <a:p>
            <a:pPr marL="414726" indent="-414726">
              <a:buFont typeface="Arial" panose="020B0604020202020204" pitchFamily="34" charset="0"/>
              <a:buChar char="•"/>
            </a:pPr>
            <a:r>
              <a:rPr lang="en-US" altLang="zh-TW" sz="2000" dirty="0"/>
              <a:t>Based on human visual perception</a:t>
            </a:r>
            <a:endParaRPr lang="en-US" altLang="zh-TW" sz="2000" i="1" spc="-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414726" indent="-414726">
              <a:buFont typeface="Arial" panose="020B0604020202020204" pitchFamily="34" charset="0"/>
              <a:buChar char="•"/>
            </a:pPr>
            <a:r>
              <a:rPr lang="en-US" altLang="zh-TW" sz="2000" dirty="0"/>
              <a:t>Luminance, Contrast, and Structure</a:t>
            </a:r>
            <a:endParaRPr lang="en-US" altLang="zh-TW" sz="2000" i="1" spc="-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414726" indent="-414726">
              <a:buFont typeface="Arial" panose="020B0604020202020204" pitchFamily="34" charset="0"/>
              <a:buChar char="•"/>
            </a:pPr>
            <a:r>
              <a:rPr lang="en-US" altLang="zh-TW" sz="2000" dirty="0"/>
              <a:t>Range: 0 to 1 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	(Closer to 1 is Better)</a:t>
            </a:r>
            <a:endParaRPr lang="en-US" altLang="zh-TW" sz="2000" spc="-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3206652-79F3-4BF0-9355-901573D07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88300165-B9BD-4FAE-A65A-70C985CF3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796714"/>
              </p:ext>
            </p:extLst>
          </p:nvPr>
        </p:nvGraphicFramePr>
        <p:xfrm>
          <a:off x="337279" y="4240236"/>
          <a:ext cx="4463319" cy="409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name="公式" r:id="rId7" imgW="2489200" imgH="228600" progId="Equation.3">
                  <p:embed/>
                </p:oleObj>
              </mc:Choice>
              <mc:Fallback>
                <p:oleObj name="公式" r:id="rId7" imgW="24892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79" y="4240236"/>
                        <a:ext cx="4463319" cy="4093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>
            <a:extLst>
              <a:ext uri="{FF2B5EF4-FFF2-40B4-BE49-F238E27FC236}">
                <a16:creationId xmlns:a16="http://schemas.microsoft.com/office/drawing/2014/main" id="{1AEEFD1F-2A71-4DC2-878E-105ABB75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6" name="物件 15">
            <a:extLst>
              <a:ext uri="{FF2B5EF4-FFF2-40B4-BE49-F238E27FC236}">
                <a16:creationId xmlns:a16="http://schemas.microsoft.com/office/drawing/2014/main" id="{8C008EA0-E7F4-4A1E-A7C3-4B4450E0A8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447438"/>
              </p:ext>
            </p:extLst>
          </p:nvPr>
        </p:nvGraphicFramePr>
        <p:xfrm>
          <a:off x="337280" y="4971825"/>
          <a:ext cx="1978331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公式" r:id="rId9" imgW="1459866" imgH="482391" progId="Equation.3">
                  <p:embed/>
                </p:oleObj>
              </mc:Choice>
              <mc:Fallback>
                <p:oleObj name="公式" r:id="rId9" imgW="1459866" imgH="4823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80" y="4971825"/>
                        <a:ext cx="1978331" cy="648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2">
            <a:extLst>
              <a:ext uri="{FF2B5EF4-FFF2-40B4-BE49-F238E27FC236}">
                <a16:creationId xmlns:a16="http://schemas.microsoft.com/office/drawing/2014/main" id="{849F576A-A912-4C86-9AA8-C7EF3730E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B4D4160B-1D3C-49CF-A971-AA08963BA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21" name="物件 20">
            <a:extLst>
              <a:ext uri="{FF2B5EF4-FFF2-40B4-BE49-F238E27FC236}">
                <a16:creationId xmlns:a16="http://schemas.microsoft.com/office/drawing/2014/main" id="{FCC2A063-AA8E-412A-8CF3-A700D8DB60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716816"/>
              </p:ext>
            </p:extLst>
          </p:nvPr>
        </p:nvGraphicFramePr>
        <p:xfrm>
          <a:off x="2477378" y="4971825"/>
          <a:ext cx="2008371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公式" r:id="rId11" imgW="1485900" imgH="482600" progId="Equation.3">
                  <p:embed/>
                </p:oleObj>
              </mc:Choice>
              <mc:Fallback>
                <p:oleObj name="公式" r:id="rId11" imgW="1485900" imgH="482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378" y="4971825"/>
                        <a:ext cx="2008371" cy="648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6">
            <a:extLst>
              <a:ext uri="{FF2B5EF4-FFF2-40B4-BE49-F238E27FC236}">
                <a16:creationId xmlns:a16="http://schemas.microsoft.com/office/drawing/2014/main" id="{EC9079C0-D9AE-4C52-B80C-9CF9D4DA8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23" name="物件 22">
            <a:extLst>
              <a:ext uri="{FF2B5EF4-FFF2-40B4-BE49-F238E27FC236}">
                <a16:creationId xmlns:a16="http://schemas.microsoft.com/office/drawing/2014/main" id="{998C000D-AEB6-4833-8997-1FD2E3E1D9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63393"/>
              </p:ext>
            </p:extLst>
          </p:nvPr>
        </p:nvGraphicFramePr>
        <p:xfrm>
          <a:off x="337279" y="5789622"/>
          <a:ext cx="1822791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公式" r:id="rId13" imgW="1244600" imgH="444500" progId="Equation.3">
                  <p:embed/>
                </p:oleObj>
              </mc:Choice>
              <mc:Fallback>
                <p:oleObj name="公式" r:id="rId13" imgW="1244600" imgH="4445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79" y="5789622"/>
                        <a:ext cx="1822791" cy="64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19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prstClr val="black"/>
                </a:solidFill>
              </a:rPr>
              <a:t>Original RGB image</a:t>
            </a:r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zh-TW" dirty="0">
              <a:solidFill>
                <a:prstClr val="black"/>
              </a:solidFill>
            </a:endParaRPr>
          </a:p>
          <a:p>
            <a:pPr eaLnBrk="1" hangingPunct="1"/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0C637-8079-4FB5-8D98-23DD4EE4EB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3302-9F1A-4905-94AC-060D9EF7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420BCC-28BD-4E56-AEE3-50400597A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82" y="2443459"/>
            <a:ext cx="3682703" cy="368270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479D599-6FBB-408A-98F0-ADBDEE90506B}"/>
              </a:ext>
            </a:extLst>
          </p:cNvPr>
          <p:cNvSpPr txBox="1"/>
          <p:nvPr/>
        </p:nvSpPr>
        <p:spPr>
          <a:xfrm>
            <a:off x="1423111" y="201321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Resolution:64x64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81CE121-068D-4048-8E74-A3272397304F}"/>
              </a:ext>
            </a:extLst>
          </p:cNvPr>
          <p:cNvSpPr txBox="1"/>
          <p:nvPr/>
        </p:nvSpPr>
        <p:spPr>
          <a:xfrm>
            <a:off x="5383793" y="2043349"/>
            <a:ext cx="2592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Resolution:256x256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45A031-43AF-407C-9C21-4290FF3A4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79" y="2468247"/>
            <a:ext cx="3639820" cy="363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97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2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K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1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B936176-79C0-48B1-BDC0-75BE3969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00" y="2192556"/>
            <a:ext cx="3650965" cy="365096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39035C0-518D-44F1-A2EB-0C3EBA4B5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33" y="2202716"/>
            <a:ext cx="3636676" cy="363667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CD81692-BC0E-4703-8E58-AED261273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030" y="5887943"/>
            <a:ext cx="1781424" cy="67636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81A1E4D5-9117-4571-BB7A-F0323AE5B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975" y="5886691"/>
            <a:ext cx="180047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2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4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86A02E-A91B-4FBE-9FFA-5C6F47D16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42" y="2182524"/>
            <a:ext cx="3650966" cy="364382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A62F584-0A0B-492D-A74D-2CC64D29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594" y="2182524"/>
            <a:ext cx="3636677" cy="362953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 + K + 1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D5FE09F-E296-4EF1-BE16-0D5DA6B77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760" y="5876756"/>
            <a:ext cx="1819529" cy="7144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4383A1D-F122-4F2D-A591-8898039FF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997" y="5909099"/>
            <a:ext cx="1810003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04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8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13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K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1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C5237D6-5025-4F95-985E-42608D7E01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54681" y="2182524"/>
            <a:ext cx="3650965" cy="362953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290AEF1-C451-4C8C-BD0F-A102003712F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31393" y="2200017"/>
            <a:ext cx="3636677" cy="358260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D7D8835-3CB6-4D4F-B1DC-4BAB0A372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398" y="5861250"/>
            <a:ext cx="1819529" cy="66684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EDDD323-2789-4808-9448-96AFCEDD6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561" y="5821681"/>
            <a:ext cx="1800476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4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16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14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K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1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B3BF533-F934-4C6A-896F-89F8FE430B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5000" y="2200017"/>
            <a:ext cx="3650965" cy="361203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E3FEE7F-4C02-47FB-A4B6-7FB6333851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51713" y="2212876"/>
            <a:ext cx="3636676" cy="356974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CD105EE-36C9-4D75-A9FA-B6CB689B4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378" y="5867935"/>
            <a:ext cx="1752845" cy="65731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7CA46D7-DB75-435F-85AC-9526B2C2C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497" y="5831841"/>
            <a:ext cx="178142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43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prstClr val="black"/>
                </a:solidFill>
              </a:rPr>
              <a:t>Analysis</a:t>
            </a:r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solidFill>
                  <a:prstClr val="black"/>
                </a:solidFill>
              </a:rPr>
              <a:t>Lagrange interpolation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0C637-8079-4FB5-8D98-23DD4EE4EB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3302-9F1A-4905-94AC-060D9EF7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8A697D90-5DF7-4BCD-8887-100B8F4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207404"/>
              </p:ext>
            </p:extLst>
          </p:nvPr>
        </p:nvGraphicFramePr>
        <p:xfrm>
          <a:off x="1524000" y="2661880"/>
          <a:ext cx="6289040" cy="125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808">
                  <a:extLst>
                    <a:ext uri="{9D8B030D-6E8A-4147-A177-3AD203B41FA5}">
                      <a16:colId xmlns:a16="http://schemas.microsoft.com/office/drawing/2014/main" val="1159889631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02428839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323883523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610922496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4335010"/>
                    </a:ext>
                  </a:extLst>
                </a:gridCol>
              </a:tblGrid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995503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25.60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25.37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22.78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11.50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23817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SSIM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0.924995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0.923335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0.874765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0.402125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89258"/>
                  </a:ext>
                </a:extLst>
              </a:tr>
            </a:tbl>
          </a:graphicData>
        </a:graphic>
      </p:graphicFrame>
      <p:graphicFrame>
        <p:nvGraphicFramePr>
          <p:cNvPr id="19" name="表格 8">
            <a:extLst>
              <a:ext uri="{FF2B5EF4-FFF2-40B4-BE49-F238E27FC236}">
                <a16:creationId xmlns:a16="http://schemas.microsoft.com/office/drawing/2014/main" id="{1364ADBC-90AE-4352-A7DB-A9609B9F5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148582"/>
              </p:ext>
            </p:extLst>
          </p:nvPr>
        </p:nvGraphicFramePr>
        <p:xfrm>
          <a:off x="1524000" y="4279740"/>
          <a:ext cx="6289040" cy="125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808">
                  <a:extLst>
                    <a:ext uri="{9D8B030D-6E8A-4147-A177-3AD203B41FA5}">
                      <a16:colId xmlns:a16="http://schemas.microsoft.com/office/drawing/2014/main" val="1159889631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02428839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323883523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610922496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4335010"/>
                    </a:ext>
                  </a:extLst>
                </a:gridCol>
              </a:tblGrid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1+K+1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995503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23.93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13.24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23817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SSIM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0.923615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0.924440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0.901377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0.501433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89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682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altLang="zh-TW" dirty="0"/>
              <a:t>Result &amp; </a:t>
            </a:r>
            <a:r>
              <a:rPr lang="en-US" altLang="zh-TW" dirty="0">
                <a:solidFill>
                  <a:prstClr val="black"/>
                </a:solidFill>
              </a:rPr>
              <a:t>Analysis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0C637-8079-4FB5-8D98-23DD4EE4EB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3302-9F1A-4905-94AC-060D9EF7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8A697D90-5DF7-4BCD-8887-100B8F4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15196"/>
              </p:ext>
            </p:extLst>
          </p:nvPr>
        </p:nvGraphicFramePr>
        <p:xfrm>
          <a:off x="1916430" y="1283968"/>
          <a:ext cx="53111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840">
                  <a:extLst>
                    <a:ext uri="{9D8B030D-6E8A-4147-A177-3AD203B41FA5}">
                      <a16:colId xmlns:a16="http://schemas.microsoft.com/office/drawing/2014/main" val="1159889631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02428839"/>
                    </a:ext>
                  </a:extLst>
                </a:gridCol>
                <a:gridCol w="1770380">
                  <a:extLst>
                    <a:ext uri="{9D8B030D-6E8A-4147-A177-3AD203B41FA5}">
                      <a16:colId xmlns:a16="http://schemas.microsoft.com/office/drawing/2014/main" val="3323883523"/>
                    </a:ext>
                  </a:extLst>
                </a:gridCol>
              </a:tblGrid>
              <a:tr h="321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Bilinear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Bicubic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99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25.79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25.29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23817"/>
                  </a:ext>
                </a:extLst>
              </a:tr>
              <a:tr h="2772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SSIM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0.929455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0.923665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8925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DD8C26A-61AF-47DD-B526-F90AA1BAB7E8}"/>
              </a:ext>
            </a:extLst>
          </p:cNvPr>
          <p:cNvSpPr txBox="1"/>
          <p:nvPr/>
        </p:nvSpPr>
        <p:spPr>
          <a:xfrm>
            <a:off x="1676329" y="2425990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Linear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3B7A18B-C434-4C1D-8C24-492167DC5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02" y="2820731"/>
            <a:ext cx="3657098" cy="363982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C8F1243-FF0C-4EC3-9988-1E4FFDFD65B9}"/>
              </a:ext>
            </a:extLst>
          </p:cNvPr>
          <p:cNvSpPr txBox="1"/>
          <p:nvPr/>
        </p:nvSpPr>
        <p:spPr>
          <a:xfrm>
            <a:off x="5430196" y="2419713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Cubic spline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D1BF7AB-4ED9-4613-9884-F41C4C2B7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770" y="2820731"/>
            <a:ext cx="3667930" cy="363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34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prstClr val="black"/>
                </a:solidFill>
              </a:rPr>
              <a:t>Original RGB image</a:t>
            </a:r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zh-TW" dirty="0">
              <a:solidFill>
                <a:prstClr val="black"/>
              </a:solidFill>
            </a:endParaRPr>
          </a:p>
          <a:p>
            <a:pPr eaLnBrk="1" hangingPunct="1"/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0C637-8079-4FB5-8D98-23DD4EE4EB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3302-9F1A-4905-94AC-060D9EF7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420BCC-28BD-4E56-AEE3-50400597A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82" y="2443459"/>
            <a:ext cx="3682703" cy="368270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479D599-6FBB-408A-98F0-ADBDEE90506B}"/>
              </a:ext>
            </a:extLst>
          </p:cNvPr>
          <p:cNvSpPr txBox="1"/>
          <p:nvPr/>
        </p:nvSpPr>
        <p:spPr>
          <a:xfrm>
            <a:off x="1423111" y="201321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Resolution:64x64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81CE121-068D-4048-8E74-A3272397304F}"/>
              </a:ext>
            </a:extLst>
          </p:cNvPr>
          <p:cNvSpPr txBox="1"/>
          <p:nvPr/>
        </p:nvSpPr>
        <p:spPr>
          <a:xfrm>
            <a:off x="5383793" y="2043349"/>
            <a:ext cx="2592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Resolution:256x256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45A031-43AF-407C-9C21-4290FF3A4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79" y="2468247"/>
            <a:ext cx="3639820" cy="363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4CFDB3-BD05-42D4-ADAA-0255BEA1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F6AEB61-BCAD-4A87-964E-A48921CF1F21}"/>
              </a:ext>
            </a:extLst>
          </p:cNvPr>
          <p:cNvSpPr txBox="1">
            <a:spLocks/>
          </p:cNvSpPr>
          <p:nvPr/>
        </p:nvSpPr>
        <p:spPr bwMode="auto">
          <a:xfrm>
            <a:off x="457200" y="431006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Outline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DFDDA2C-3636-4FDD-8EF4-430E985185EE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Introduction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Interpolation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Linear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Cubic  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Lagrange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Result and analysis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sz="3200" b="0" strike="noStrike" spc="-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EDSR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473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內容版面配置區 4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14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Enhanced Deep Residual Networks for Single Image Super-Resolution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sz="2540" spc="-1" dirty="0" err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cnn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加上最佳化過的殘差網路來做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super resolution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提供了兩個模型，一個單尺度的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EDSR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和一個多尺度的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MDSR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主要貢獻是對於</a:t>
            </a:r>
            <a:r>
              <a:rPr lang="en-US" sz="2540" spc="-1" dirty="0" err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架構的更改使其更適合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super resolution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defTabSz="414726">
              <a:spcBef>
                <a:spcPts val="514"/>
              </a:spcBef>
            </a:pP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defTabSz="414726">
              <a:spcBef>
                <a:spcPts val="514"/>
              </a:spcBef>
            </a:pP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defTabSz="414726">
              <a:spcBef>
                <a:spcPts val="514"/>
              </a:spcBef>
            </a:pP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7" name="標題 4"/>
          <p:cNvSpPr/>
          <p:nvPr/>
        </p:nvSpPr>
        <p:spPr>
          <a:xfrm>
            <a:off x="179930" y="274663"/>
            <a:ext cx="8963503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414726">
              <a:spcBef>
                <a:spcPts val="581"/>
              </a:spcBef>
            </a:pPr>
            <a:r>
              <a:rPr lang="en-US" sz="4000" spc="-1" dirty="0">
                <a:solidFill>
                  <a:schemeClr val="dk1"/>
                </a:solidFill>
                <a:latin typeface="Times New Roman"/>
                <a:ea typeface="DFKai-SB"/>
              </a:rPr>
              <a:t>AI approach</a:t>
            </a:r>
            <a:endParaRPr lang="en-US" sz="4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1161700-405A-45D2-A896-7E68AE853434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內容版面配置區 7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淺層特徵提取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40" spc="-1" dirty="0" err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ResBlock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上採樣模組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74012" lvl="1" indent="-259285" defTabSz="414726">
              <a:spcBef>
                <a:spcPts val="50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Sub-pixel Convolution</a:t>
            </a:r>
          </a:p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altLang="zh-TW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Edge loss</a:t>
            </a:r>
          </a:p>
          <a:p>
            <a:pPr marL="674012" lvl="1" indent="-259285" defTabSz="414726">
              <a:spcBef>
                <a:spcPts val="509"/>
              </a:spcBef>
              <a:buClr>
                <a:srgbClr val="000000"/>
              </a:buClr>
              <a:buFont typeface="Arial"/>
              <a:buChar char="–"/>
            </a:pPr>
            <a:r>
              <a:rPr lang="en-US" altLang="zh-TW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L1</a:t>
            </a:r>
            <a:r>
              <a:rPr lang="zh-TW" alt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loss</a:t>
            </a:r>
            <a:r>
              <a:rPr lang="zh-TW" alt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加上邊緣特徵</a:t>
            </a:r>
            <a:endParaRPr lang="en-US" altLang="zh-TW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9" name="標題 7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4000" spc="-1" dirty="0">
                <a:solidFill>
                  <a:srgbClr val="000000"/>
                </a:solidFill>
                <a:latin typeface="Times New Roman"/>
                <a:ea typeface="DFKai-SB"/>
              </a:rPr>
              <a:t>Modified EDSR</a:t>
            </a:r>
            <a:endParaRPr lang="en-US" sz="40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圖片 159"/>
          <p:cNvPicPr/>
          <p:nvPr/>
        </p:nvPicPr>
        <p:blipFill>
          <a:blip r:embed="rId3"/>
          <a:stretch/>
        </p:blipFill>
        <p:spPr>
          <a:xfrm>
            <a:off x="4464859" y="1919828"/>
            <a:ext cx="4199851" cy="3895436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F0E3208-D414-49AD-B2D3-4492A49A4C5A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內容版面配置區 5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Font typeface="Arial"/>
              <a:buChar char="•"/>
            </a:pPr>
            <a:r>
              <a:rPr lang="zh-TW" alt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目的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減輕深層網路訓練的難度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解決梯度消失和梯度爆炸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11208" indent="-311208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Residual Block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91867" lvl="1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Shortcut Connection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把原始輸入和輸出相加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91867" lvl="1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學習輸入和輸出之間的殘差映射，而不是直接學習輸出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2" name="標題 5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4000" spc="-1" dirty="0">
                <a:solidFill>
                  <a:srgbClr val="000000"/>
                </a:solidFill>
                <a:latin typeface="Times New Roman"/>
                <a:ea typeface="DFKai-SB"/>
              </a:rPr>
              <a:t>Residual Neural Network(</a:t>
            </a:r>
            <a:r>
              <a:rPr lang="en-US" sz="4000" spc="-1" dirty="0" err="1">
                <a:solidFill>
                  <a:srgbClr val="000000"/>
                </a:solidFill>
                <a:latin typeface="Times New Roman"/>
                <a:ea typeface="DFKai-SB"/>
              </a:rPr>
              <a:t>ResNet</a:t>
            </a:r>
            <a:r>
              <a:rPr lang="en-US" sz="4000" spc="-1" dirty="0">
                <a:solidFill>
                  <a:srgbClr val="000000"/>
                </a:solidFill>
                <a:latin typeface="Times New Roman"/>
                <a:ea typeface="DFKai-SB"/>
              </a:rPr>
              <a:t>)</a:t>
            </a:r>
            <a:endParaRPr lang="en-US" sz="40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圖片 162"/>
          <p:cNvPicPr/>
          <p:nvPr/>
        </p:nvPicPr>
        <p:blipFill>
          <a:blip r:embed="rId3"/>
          <a:stretch/>
        </p:blipFill>
        <p:spPr>
          <a:xfrm>
            <a:off x="6138752" y="1658588"/>
            <a:ext cx="2159810" cy="1485481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2BB20FC-4D14-4DCE-AB3C-C23E3A17FD88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內容版面配置區 9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/>
              </a:rPr>
              <a:t>sub-pixel convolution</a:t>
            </a:r>
            <a:endParaRPr lang="en-US" sz="2903" spc="-1" dirty="0">
              <a:solidFill>
                <a:srgbClr val="000000"/>
              </a:solidFill>
              <a:latin typeface="Arial"/>
            </a:endParaRPr>
          </a:p>
          <a:p>
            <a:pPr marL="674012" lvl="1" indent="-259285" defTabSz="414726">
              <a:spcBef>
                <a:spcPts val="509"/>
              </a:spcBef>
              <a:buClr>
                <a:srgbClr val="000000"/>
              </a:buClr>
              <a:buFont typeface="Arial"/>
              <a:buChar char="–"/>
            </a:pPr>
            <a:r>
              <a:rPr lang="zh-TW" altLang="en-US" sz="2540" spc="-1" dirty="0">
                <a:solidFill>
                  <a:srgbClr val="000000"/>
                </a:solidFill>
                <a:latin typeface="Times New Roman"/>
                <a:ea typeface="DFKai-SB"/>
              </a:rPr>
              <a:t>透過重新排列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FKai-SB"/>
              </a:rPr>
              <a:t>pixel</a:t>
            </a:r>
            <a:r>
              <a:rPr lang="zh-TW" altLang="en-US" sz="2540" spc="-1" dirty="0">
                <a:solidFill>
                  <a:srgbClr val="000000"/>
                </a:solidFill>
                <a:latin typeface="Times New Roman"/>
                <a:ea typeface="DFKai-SB"/>
              </a:rPr>
              <a:t>來獲得高解析度圖片</a:t>
            </a:r>
            <a:endParaRPr lang="en-US" sz="254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標題 9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 err="1">
                <a:solidFill>
                  <a:srgbClr val="000000"/>
                </a:solidFill>
                <a:latin typeface="Times New Roman"/>
                <a:ea typeface="DFKai-SB"/>
              </a:rPr>
              <a:t>Upsample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圖片 168"/>
          <p:cNvPicPr/>
          <p:nvPr/>
        </p:nvPicPr>
        <p:blipFill>
          <a:blip r:embed="rId3"/>
          <a:stretch/>
        </p:blipFill>
        <p:spPr>
          <a:xfrm>
            <a:off x="594650" y="3359919"/>
            <a:ext cx="7919519" cy="2945165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DF1D25D-59BD-45B6-8629-A9F22741D8E0}" type="slidenum">
              <a:rPr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內容版面配置區 8"/>
          <p:cNvSpPr/>
          <p:nvPr/>
        </p:nvSpPr>
        <p:spPr>
          <a:xfrm>
            <a:off x="457173" y="1599482"/>
            <a:ext cx="4114828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903" spc="-1" dirty="0">
                <a:solidFill>
                  <a:schemeClr val="dk1"/>
                </a:solidFill>
                <a:latin typeface="Times New Roman"/>
              </a:rPr>
              <a:t>Edge loss</a:t>
            </a:r>
          </a:p>
          <a:p>
            <a:pPr marL="768408" lvl="1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400" dirty="0"/>
              <a:t>光跡追蹤影像有清晰、銳利的幾何邊緣</a:t>
            </a:r>
            <a:endParaRPr lang="en-US" altLang="zh-TW" sz="2400" dirty="0"/>
          </a:p>
          <a:p>
            <a:pPr marL="768408" lvl="1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400" dirty="0"/>
              <a:t>利用邊緣損失函數加上</a:t>
            </a:r>
            <a:r>
              <a:rPr lang="en-US" altLang="zh-TW" sz="2400" dirty="0"/>
              <a:t>L1</a:t>
            </a:r>
            <a:r>
              <a:rPr lang="zh-TW" altLang="en-US" sz="2400" dirty="0"/>
              <a:t>損失函數來加強模型對物體邊緣的重建品質</a:t>
            </a:r>
            <a:endParaRPr lang="en-US" sz="2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標題 8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>
                <a:solidFill>
                  <a:srgbClr val="000000"/>
                </a:solidFill>
                <a:latin typeface="Times New Roman"/>
                <a:ea typeface="DFKai-SB"/>
              </a:rPr>
              <a:t>Loss function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8E32C9F-CEC8-4798-B5F2-EF297CF8F9E5}" type="slidenum">
              <a:rPr/>
              <a:t>23</a:t>
            </a:fld>
            <a:endParaRPr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A3426FE-82B5-41C6-E544-A4B064B05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90" y="2959821"/>
            <a:ext cx="4114828" cy="469179"/>
          </a:xfrm>
          <a:prstGeom prst="rect">
            <a:avLst/>
          </a:prstGeom>
        </p:spPr>
      </p:pic>
      <p:pic>
        <p:nvPicPr>
          <p:cNvPr id="10" name="圖片 9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12CC8998-8C63-E3F4-81B5-ECED78077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790" y="4344616"/>
            <a:ext cx="6561200" cy="20564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5D5985-09A9-EE4C-A1C5-91D64481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parameter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542FC4-3964-A9D5-3CC4-DF19D7FA2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2916936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模型架構參數</a:t>
            </a:r>
            <a:endParaRPr lang="en-US" altLang="zh-TW" dirty="0"/>
          </a:p>
          <a:p>
            <a:r>
              <a:rPr lang="en-US" altLang="zh-TW" dirty="0" err="1"/>
              <a:t>ResBlocks</a:t>
            </a:r>
            <a:r>
              <a:rPr lang="en-US" altLang="zh-TW" dirty="0"/>
              <a:t>: 16</a:t>
            </a:r>
          </a:p>
          <a:p>
            <a:r>
              <a:rPr lang="en-US" altLang="zh-TW" dirty="0"/>
              <a:t>Features: 64</a:t>
            </a:r>
          </a:p>
          <a:p>
            <a:r>
              <a:rPr lang="en-US" altLang="zh-TW" dirty="0"/>
              <a:t>Kernel Size: 3×3</a:t>
            </a:r>
          </a:p>
          <a:p>
            <a:r>
              <a:rPr lang="en-US" altLang="zh-TW" dirty="0"/>
              <a:t>Scale: 4x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8D1190-C1E5-78D7-EFCC-BE9553FB3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74320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訓練策略參數 </a:t>
            </a:r>
            <a:endParaRPr lang="en-US" altLang="zh-TW" dirty="0"/>
          </a:p>
          <a:p>
            <a:r>
              <a:rPr lang="en-US" altLang="zh-TW" dirty="0"/>
              <a:t>Epochs: 300</a:t>
            </a:r>
          </a:p>
          <a:p>
            <a:r>
              <a:rPr lang="en-US" altLang="zh-TW" dirty="0"/>
              <a:t>Batch Size: 4</a:t>
            </a:r>
          </a:p>
          <a:p>
            <a:r>
              <a:rPr lang="en-US" altLang="zh-TW" dirty="0"/>
              <a:t>Optimizer: Adam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0968FC7-BCA1-DBB4-3624-80A3273C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FDF5B1-7246-4F07-B762-CDCA4AFADB05}" type="slidenum">
              <a:rPr lang="zh-TW" altLang="en-US" smtClean="0"/>
              <a:pPr>
                <a:defRPr/>
              </a:pPr>
              <a:t>24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0ABF030-2AC7-DBAE-7B78-9EA996C47C44}"/>
              </a:ext>
            </a:extLst>
          </p:cNvPr>
          <p:cNvSpPr txBox="1"/>
          <p:nvPr/>
        </p:nvSpPr>
        <p:spPr>
          <a:xfrm>
            <a:off x="457200" y="4416553"/>
            <a:ext cx="7845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實驗參數</a:t>
            </a: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Loss Function: L1 Loss</a:t>
            </a:r>
            <a:r>
              <a:rPr lang="zh-TW" altLang="en-US" sz="2800" dirty="0"/>
              <a:t>、</a:t>
            </a:r>
            <a:r>
              <a:rPr lang="en-US" altLang="zh-TW" sz="2800" dirty="0"/>
              <a:t>L2 Loss</a:t>
            </a:r>
            <a:r>
              <a:rPr lang="zh-TW" altLang="en-US" sz="2800" dirty="0"/>
              <a:t> 、</a:t>
            </a:r>
            <a:r>
              <a:rPr lang="en-US" altLang="zh-TW" sz="2800" dirty="0"/>
              <a:t>Edge Loss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Datasets: DIV2K</a:t>
            </a:r>
            <a:r>
              <a:rPr lang="zh-TW" altLang="en-US" sz="2800" dirty="0"/>
              <a:t> 、光跡追蹤圖像</a:t>
            </a:r>
          </a:p>
        </p:txBody>
      </p:sp>
    </p:spTree>
    <p:extLst>
      <p:ext uri="{BB962C8B-B14F-4D97-AF65-F5344CB8AC3E}">
        <p14:creationId xmlns:p14="http://schemas.microsoft.com/office/powerpoint/2010/main" val="2445559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AB482B-FB01-D94F-4C33-FE81887B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1C14F9-245F-FC19-FEAC-4E760BE7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10E3014-2239-8B3C-E09A-DC2C7DDB9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9" y="3866013"/>
            <a:ext cx="2175211" cy="217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4687564-5E10-271D-397A-E4A5917DC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919" y="3866013"/>
            <a:ext cx="2175211" cy="217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8DDFFAB-4BCC-C84E-A356-6E518C99A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724" y="3866013"/>
            <a:ext cx="2175211" cy="217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E980C9B-10B5-46C8-C7E6-FC3E3485F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60" y="3866013"/>
            <a:ext cx="2175211" cy="217521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C49BEF-FCEA-1F86-54F5-8D87D81A407E}"/>
              </a:ext>
            </a:extLst>
          </p:cNvPr>
          <p:cNvSpPr txBox="1"/>
          <p:nvPr/>
        </p:nvSpPr>
        <p:spPr>
          <a:xfrm>
            <a:off x="740552" y="6136077"/>
            <a:ext cx="87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DIV2K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2225B5-6280-90E6-CB9E-3F1604E64FF8}"/>
              </a:ext>
            </a:extLst>
          </p:cNvPr>
          <p:cNvSpPr txBox="1"/>
          <p:nvPr/>
        </p:nvSpPr>
        <p:spPr>
          <a:xfrm>
            <a:off x="5242088" y="6129386"/>
            <a:ext cx="93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L1 Loss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D9F1DE3-18B7-79DB-1F3F-2C3FB3AFA972}"/>
              </a:ext>
            </a:extLst>
          </p:cNvPr>
          <p:cNvSpPr txBox="1"/>
          <p:nvPr/>
        </p:nvSpPr>
        <p:spPr>
          <a:xfrm>
            <a:off x="2976893" y="6132571"/>
            <a:ext cx="93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L2 Loss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432D6B3-21F5-8E8E-9CBF-E926B87AD015}"/>
              </a:ext>
            </a:extLst>
          </p:cNvPr>
          <p:cNvSpPr txBox="1"/>
          <p:nvPr/>
        </p:nvSpPr>
        <p:spPr>
          <a:xfrm>
            <a:off x="7388425" y="6136077"/>
            <a:ext cx="115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Edge Loss</a:t>
            </a:r>
            <a:endParaRPr lang="zh-TW" altLang="en-US" dirty="0"/>
          </a:p>
        </p:txBody>
      </p:sp>
      <p:pic>
        <p:nvPicPr>
          <p:cNvPr id="16" name="圖片 15" descr="一張含有 螢幕擷取畫面, 圖形, 鮮豔, 牆 的圖片&#10;&#10;AI 產生的內容可能不正確。">
            <a:extLst>
              <a:ext uri="{FF2B5EF4-FFF2-40B4-BE49-F238E27FC236}">
                <a16:creationId xmlns:a16="http://schemas.microsoft.com/office/drawing/2014/main" id="{0966767F-F650-81A6-656D-42572670FC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613" y="1594128"/>
            <a:ext cx="2175211" cy="2175211"/>
          </a:xfrm>
          <a:prstGeom prst="rect">
            <a:avLst/>
          </a:prstGeom>
        </p:spPr>
      </p:pic>
      <p:pic>
        <p:nvPicPr>
          <p:cNvPr id="18" name="圖片 17" descr="一張含有 螢幕擷取畫面, 鮮豔, 藝術 的圖片&#10;&#10;AI 產生的內容可能不正確。">
            <a:extLst>
              <a:ext uri="{FF2B5EF4-FFF2-40B4-BE49-F238E27FC236}">
                <a16:creationId xmlns:a16="http://schemas.microsoft.com/office/drawing/2014/main" id="{EE42E74E-5837-6453-A487-9A95CE975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9" y="1573031"/>
            <a:ext cx="2175211" cy="2175211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065EE2-E6A0-52B1-11E4-E985863FAEA4}"/>
              </a:ext>
            </a:extLst>
          </p:cNvPr>
          <p:cNvSpPr txBox="1"/>
          <p:nvPr/>
        </p:nvSpPr>
        <p:spPr>
          <a:xfrm>
            <a:off x="939324" y="1253027"/>
            <a:ext cx="47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LR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C98D46D-2878-DCC3-70F3-EEBF0F1216EB}"/>
              </a:ext>
            </a:extLst>
          </p:cNvPr>
          <p:cNvSpPr txBox="1"/>
          <p:nvPr/>
        </p:nvSpPr>
        <p:spPr>
          <a:xfrm>
            <a:off x="3191694" y="1257233"/>
            <a:ext cx="50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HR</a:t>
            </a:r>
            <a:endParaRPr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1636BDB-F84B-41BD-8523-A83293E6ECF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4593697" y="2842959"/>
            <a:ext cx="4490220" cy="8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24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AB482B-FB01-D94F-4C33-FE81887B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D8903D47-FA2D-47F0-87FA-ECBD45F8F602}"/>
              </a:ext>
            </a:extLst>
          </p:cNvPr>
          <p:cNvSpPr txBox="1">
            <a:spLocks/>
          </p:cNvSpPr>
          <p:nvPr/>
        </p:nvSpPr>
        <p:spPr bwMode="auto">
          <a:xfrm>
            <a:off x="457199" y="1600200"/>
            <a:ext cx="8428383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Traditional method is </a:t>
            </a:r>
            <a:r>
              <a:rPr kumimoji="0" lang="en-US" altLang="zh-TW" sz="3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i</a:t>
            </a:r>
            <a:r>
              <a:rPr lang="en-US" altLang="zh-TW" dirty="0" err="1"/>
              <a:t>nsufficient</a:t>
            </a:r>
            <a:r>
              <a:rPr lang="en-US" altLang="zh-TW" dirty="0"/>
              <a:t> for ray tracing</a:t>
            </a:r>
            <a:endParaRPr kumimoji="0" lang="en-US" altLang="zh-TW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  <a:p>
            <a:pPr lvl="1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But it served as a solid baseline for observation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dirty="0"/>
              <a:t>Quantitative metrics (PSNR/SSIM) are not always reliable</a:t>
            </a:r>
            <a:endParaRPr kumimoji="0" lang="en-US" altLang="zh-TW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  <a:p>
            <a:pPr lvl="1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Seeing is believing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EDSR is a feasible model</a:t>
            </a:r>
          </a:p>
          <a:p>
            <a:pPr lvl="1" defTabSz="914400" eaLnBrk="1" hangingPunct="1"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But need more improvements</a:t>
            </a:r>
          </a:p>
          <a:p>
            <a:pPr defTabSz="914400" eaLnBrk="1" hangingPunct="1"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Future work</a:t>
            </a:r>
          </a:p>
          <a:p>
            <a:pPr lvl="1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Enrich datasets with different type of scenes</a:t>
            </a:r>
          </a:p>
          <a:p>
            <a:pPr lvl="1" defTabSz="914400" eaLnBrk="1" hangingPunct="1"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Implement other </a:t>
            </a:r>
            <a:r>
              <a:rPr lang="en-US" altLang="zh-TW" dirty="0"/>
              <a:t>architectures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 </a:t>
            </a:r>
            <a:r>
              <a:rPr lang="en-US" altLang="zh-TW" dirty="0"/>
              <a:t>for potential gains</a:t>
            </a:r>
            <a:endParaRPr kumimoji="0" lang="zh-TW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398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49984</TotalTime>
  <Words>1150</Words>
  <Application>Microsoft Office PowerPoint</Application>
  <PresentationFormat>如螢幕大小 (4:3)</PresentationFormat>
  <Paragraphs>291</Paragraphs>
  <Slides>26</Slides>
  <Notes>12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6" baseType="lpstr"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1_Office 佈景主題</vt:lpstr>
      <vt:lpstr>公式</vt:lpstr>
      <vt:lpstr>Super-Resolution Reconstruction for Ray Tracing Images</vt:lpstr>
      <vt:lpstr>PowerPoint 簡報</vt:lpstr>
      <vt:lpstr>PowerPoint 簡報</vt:lpstr>
      <vt:lpstr>PowerPoint 簡報</vt:lpstr>
      <vt:lpstr>PowerPoint 簡報</vt:lpstr>
      <vt:lpstr>Linear Interpolation</vt:lpstr>
      <vt:lpstr>Natural Cubic Splines</vt:lpstr>
      <vt:lpstr>Lagrange interpolation </vt:lpstr>
      <vt:lpstr>PowerPoint 簡報</vt:lpstr>
      <vt:lpstr>Original RGB image</vt:lpstr>
      <vt:lpstr>Result</vt:lpstr>
      <vt:lpstr>Result</vt:lpstr>
      <vt:lpstr>Result</vt:lpstr>
      <vt:lpstr>Result</vt:lpstr>
      <vt:lpstr>Analysis</vt:lpstr>
      <vt:lpstr>Result &amp; Analysis</vt:lpstr>
      <vt:lpstr>Original RGB image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Training parameter</vt:lpstr>
      <vt:lpstr>Result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 Tracing</dc:title>
  <dc:creator>user</dc:creator>
  <cp:lastModifiedBy>宗邑 洪</cp:lastModifiedBy>
  <cp:revision>178</cp:revision>
  <dcterms:created xsi:type="dcterms:W3CDTF">2025-06-04T07:46:57Z</dcterms:created>
  <dcterms:modified xsi:type="dcterms:W3CDTF">2025-12-09T18:08:47Z</dcterms:modified>
</cp:coreProperties>
</file>