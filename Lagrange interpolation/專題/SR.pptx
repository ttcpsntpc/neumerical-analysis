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45"/>
  </p:notesMasterIdLst>
  <p:sldIdLst>
    <p:sldId id="256" r:id="rId3"/>
    <p:sldId id="257" r:id="rId4"/>
    <p:sldId id="295" r:id="rId5"/>
    <p:sldId id="309" r:id="rId6"/>
    <p:sldId id="327" r:id="rId7"/>
    <p:sldId id="328" r:id="rId8"/>
    <p:sldId id="259" r:id="rId9"/>
    <p:sldId id="329" r:id="rId10"/>
    <p:sldId id="275" r:id="rId11"/>
    <p:sldId id="276" r:id="rId12"/>
    <p:sldId id="277" r:id="rId13"/>
    <p:sldId id="278" r:id="rId14"/>
    <p:sldId id="331" r:id="rId15"/>
    <p:sldId id="330" r:id="rId16"/>
    <p:sldId id="332" r:id="rId17"/>
    <p:sldId id="333" r:id="rId18"/>
    <p:sldId id="347" r:id="rId19"/>
    <p:sldId id="348" r:id="rId20"/>
    <p:sldId id="263" r:id="rId21"/>
    <p:sldId id="334" r:id="rId22"/>
    <p:sldId id="336" r:id="rId23"/>
    <p:sldId id="337" r:id="rId24"/>
    <p:sldId id="342" r:id="rId25"/>
    <p:sldId id="264" r:id="rId26"/>
    <p:sldId id="339" r:id="rId27"/>
    <p:sldId id="340" r:id="rId28"/>
    <p:sldId id="341" r:id="rId29"/>
    <p:sldId id="343" r:id="rId30"/>
    <p:sldId id="345" r:id="rId31"/>
    <p:sldId id="346" r:id="rId32"/>
    <p:sldId id="260" r:id="rId33"/>
    <p:sldId id="349" r:id="rId34"/>
    <p:sldId id="265" r:id="rId35"/>
    <p:sldId id="266" r:id="rId36"/>
    <p:sldId id="267" r:id="rId37"/>
    <p:sldId id="268" r:id="rId38"/>
    <p:sldId id="269" r:id="rId39"/>
    <p:sldId id="270" r:id="rId40"/>
    <p:sldId id="271" r:id="rId41"/>
    <p:sldId id="272" r:id="rId42"/>
    <p:sldId id="350" r:id="rId43"/>
    <p:sldId id="273" r:id="rId4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宗邑 洪" initials="宗邑" lastIdx="1" clrIdx="0">
    <p:extLst>
      <p:ext uri="{19B8F6BF-5375-455C-9EA6-DF929625EA0E}">
        <p15:presenceInfo xmlns:p15="http://schemas.microsoft.com/office/powerpoint/2012/main" userId="19bb9e6dffe049d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30" autoAdjust="0"/>
    <p:restoredTop sz="90990" autoAdjust="0"/>
  </p:normalViewPr>
  <p:slideViewPr>
    <p:cSldViewPr snapToGrid="0">
      <p:cViewPr varScale="1">
        <p:scale>
          <a:sx n="77" d="100"/>
          <a:sy n="77" d="100"/>
        </p:scale>
        <p:origin x="15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commentAuthors" Target="commentAuthor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1-06T04:38:48.358" idx="1">
    <p:pos x="10" y="10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FDBD00-A884-471B-9947-A06BC9B48E63}" type="datetimeFigureOut">
              <a:rPr lang="zh-TW" altLang="en-US" smtClean="0"/>
              <a:t>2025/12/8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0FB3E1-4D55-428F-85D3-BD91BEB205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8325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B1762-3B7B-4884-B3BF-DD77ED244B54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99943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Registration:</a:t>
            </a:r>
            <a:r>
              <a:rPr lang="zh-TW" altLang="zh-TW" dirty="0"/>
              <a:t>將這</a:t>
            </a:r>
            <a:r>
              <a:rPr lang="zh-TW" altLang="en-US" dirty="0"/>
              <a:t>多個</a:t>
            </a:r>
            <a:r>
              <a:rPr lang="zh-TW" altLang="zh-TW" dirty="0"/>
              <a:t>影像中的對應點映射到原始場景中的實際點，並將資料轉換到同一座標系中</a:t>
            </a:r>
            <a:r>
              <a:rPr lang="zh-TW" altLang="en-US" dirty="0"/>
              <a:t>，</a:t>
            </a:r>
            <a:endParaRPr lang="en-US" altLang="zh-TW" dirty="0"/>
          </a:p>
          <a:p>
            <a:r>
              <a:rPr lang="zh-TW" altLang="en-US" dirty="0"/>
              <a:t>如圖，他可以有個</a:t>
            </a:r>
            <a:r>
              <a:rPr lang="en-US" altLang="zh-TW" dirty="0"/>
              <a:t>planar surface</a:t>
            </a:r>
            <a:r>
              <a:rPr lang="zh-TW" altLang="en-US" dirty="0"/>
              <a:t>的基準的</a:t>
            </a:r>
            <a:r>
              <a:rPr lang="en-US" altLang="zh-TW" dirty="0"/>
              <a:t>image</a:t>
            </a:r>
            <a:r>
              <a:rPr lang="zh-TW" altLang="en-US" dirty="0"/>
              <a:t>，那其他的</a:t>
            </a:r>
            <a:r>
              <a:rPr lang="en-US" altLang="zh-TW" dirty="0"/>
              <a:t>image</a:t>
            </a:r>
            <a:r>
              <a:rPr lang="zh-TW" altLang="en-US" dirty="0"/>
              <a:t>就按照角度按每個點會對應到哪裡，然後眼睛是在影像中心</a:t>
            </a:r>
            <a:br>
              <a:rPr lang="en-US" altLang="zh-TW" dirty="0"/>
            </a:br>
            <a:r>
              <a:rPr lang="en-US" altLang="zh-TW" dirty="0"/>
              <a:t>Math model:</a:t>
            </a:r>
            <a:r>
              <a:rPr lang="zh-TW" altLang="en-US" dirty="0"/>
              <a:t>可能做傅立葉轉換、內插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B1762-3B7B-4884-B3BF-DD77ED244B54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7249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對應主要用上面</a:t>
            </a:r>
            <a:endParaRPr lang="en-US" altLang="zh-TW" dirty="0"/>
          </a:p>
          <a:p>
            <a:r>
              <a:rPr lang="zh-TW" altLang="en-US" dirty="0"/>
              <a:t>下面是分固定區塊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B1762-3B7B-4884-B3BF-DD77ED244B54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56901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這之前其實還有個</a:t>
            </a:r>
            <a:r>
              <a:rPr lang="en-US" altLang="zh-TW" dirty="0"/>
              <a:t>nearest</a:t>
            </a:r>
            <a:r>
              <a:rPr lang="zh-TW" altLang="en-US" dirty="0"/>
              <a:t> </a:t>
            </a:r>
            <a:r>
              <a:rPr lang="en-US" altLang="zh-TW" dirty="0"/>
              <a:t>neighbor</a:t>
            </a:r>
            <a:r>
              <a:rPr lang="zh-TW" altLang="en-US" dirty="0"/>
              <a:t> 但是很明顯出來的圖不會平滑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B3E1-4D55-428F-85D3-BD91BEB2054B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89892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那前面可以看到線段之間是獨立的，都不連續，所以我們有了</a:t>
            </a:r>
            <a:r>
              <a:rPr lang="en-US" altLang="zh-TW" dirty="0"/>
              <a:t>cubic</a:t>
            </a:r>
            <a:r>
              <a:rPr lang="zh-TW" altLang="en-US" dirty="0"/>
              <a:t>，用三次多項式來擬合會順暢很多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B3E1-4D55-428F-85D3-BD91BEB2054B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51318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三次通常效果最好，不過過度複雜也夠平滑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B3E1-4D55-428F-85D3-BD91BEB2054B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97849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(</a:t>
            </a:r>
            <a:r>
              <a:rPr lang="en-US" altLang="zh-TW" dirty="0" err="1"/>
              <a:t>Blabla</a:t>
            </a:r>
            <a:r>
              <a:rPr lang="zh-TW" altLang="en-US" dirty="0"/>
              <a:t>解釋完</a:t>
            </a:r>
            <a:r>
              <a:rPr lang="en-US" altLang="zh-TW" dirty="0"/>
              <a:t>)</a:t>
            </a:r>
            <a:r>
              <a:rPr lang="zh-TW" altLang="en-US" dirty="0"/>
              <a:t> 那通常用</a:t>
            </a:r>
            <a:r>
              <a:rPr lang="en-US" altLang="zh-TW" dirty="0"/>
              <a:t>cubic spline</a:t>
            </a:r>
            <a:r>
              <a:rPr lang="zh-TW" altLang="en-US" dirty="0"/>
              <a:t>也是像這張圖一樣取附近四個點 用這三個三次多項式來內插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B3E1-4D55-428F-85D3-BD91BEB2054B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45943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sldNum" idx="7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C7DEBC1-D3E3-44B8-9F12-21106B6B31ED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17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848671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sldNum" idx="7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42E6B9E-104E-4FCD-8C92-0C976DB12020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18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132714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sldNum" idx="7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2D2F15D-87FB-4826-BF23-442959E827AD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30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sldNum" idx="7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5B96DF5-3C95-4ACF-96F5-797FB53357F4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31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sldNum" idx="7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BBE1661-1A37-4EBF-9442-8202698BD777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32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sldNum" idx="7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A797EB2-8D1B-4B72-A0DB-B0BE5FC1D64E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33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sldNum" idx="7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C039C6F-683A-443C-AD5E-7963A524FB37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34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sldNum" idx="7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F4DB139-823E-4826-A2F3-72B42C51AD20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35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sldNum" idx="8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B51DE7D-BDE4-467B-ACD5-A5AA5C935346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36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2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sldNum" idx="8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0C650C8-C6F3-47D9-9711-710D3703EF48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37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sldNum" idx="8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03ED23E-F515-4416-AA1D-AA9643C75CE1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38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sldNum" idx="8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C3CDC21-CAA2-49CE-9D23-87C60F4DB8A9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39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sldNum" idx="8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8B95487-E907-4584-9872-07D010508752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40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sldNum" idx="8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5FC1BF5-AD30-4109-A605-721BC93A5A2F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42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20B9D-C0A9-4572-9660-09D94CC1D795}" type="datetime1">
              <a:rPr lang="zh-TW" altLang="en-US" smtClean="0"/>
              <a:t>2025/12/8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C2F31-27C9-41C4-8F1B-E500A9243DD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778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E765F-5F71-4CE8-BBB6-D2BF1C027CAD}" type="datetime1">
              <a:rPr lang="zh-TW" altLang="en-US" smtClean="0"/>
              <a:t>2025/12/8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C2F31-27C9-41C4-8F1B-E500A9243DD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0269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1471B-B791-4C39-A782-B75091A3668E}" type="datetime1">
              <a:rPr lang="zh-TW" altLang="en-US" smtClean="0"/>
              <a:t>2025/12/8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C2F31-27C9-41C4-8F1B-E500A9243DD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835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D116-1676-439E-869B-A4F52962E0BB}" type="datetime1">
              <a:rPr lang="zh-TW" altLang="en-US" smtClean="0"/>
              <a:t>2025/12/8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C2F31-27C9-41C4-8F1B-E500A9243DD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9944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0780D-8BB3-413A-9DD8-2E35D831078B}" type="datetime1">
              <a:rPr lang="zh-TW" altLang="en-US" smtClean="0"/>
              <a:t>2025/12/8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C2F31-27C9-41C4-8F1B-E500A9243DD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7639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9B872-34ED-493B-953B-BC7407AB623B}" type="datetime1">
              <a:rPr lang="zh-TW" altLang="en-US" smtClean="0"/>
              <a:t>2025/12/8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C2F31-27C9-41C4-8F1B-E500A9243DD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4977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CBBF3-92F8-4CE4-9BFD-80058D27E163}" type="datetime1">
              <a:rPr lang="zh-TW" altLang="en-US" smtClean="0"/>
              <a:t>2025/12/8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C2F31-27C9-41C4-8F1B-E500A9243DD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8669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E2E23-1591-4DB9-BD4C-392091D6EDA6}" type="datetime1">
              <a:rPr lang="zh-TW" altLang="en-US" smtClean="0"/>
              <a:t>2025/12/8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C2F31-27C9-41C4-8F1B-E500A9243DD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1977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B9026-4ABC-4EC9-8C1E-2687F4F9D4E7}" type="datetime1">
              <a:rPr lang="zh-TW" altLang="en-US" smtClean="0"/>
              <a:t>2025/12/8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C2F31-27C9-41C4-8F1B-E500A9243DD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1972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6CD77-D5CD-4EE6-88D7-68F54AFB40A9}" type="datetime1">
              <a:rPr lang="zh-TW" altLang="en-US" smtClean="0"/>
              <a:t>2025/12/8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C2F31-27C9-41C4-8F1B-E500A9243DD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3097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67B9B-CB26-4E0C-8F17-70EB9BC13808}" type="datetime1">
              <a:rPr lang="zh-TW" altLang="en-US" smtClean="0"/>
              <a:t>2025/12/8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C2F31-27C9-41C4-8F1B-E500A9243DD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04525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392E04-5318-4BEA-B519-985829EF6E9F}" type="datetime1">
              <a:rPr lang="zh-TW" altLang="en-US" smtClean="0"/>
              <a:t>2025/12/8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78C2C1-97BB-4C67-A7DF-5404BC9ECDD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61359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562ABF-91E1-4846-BF4A-1541362EF34B}" type="datetime1">
              <a:rPr lang="zh-TW" altLang="en-US" smtClean="0"/>
              <a:t>2025/12/8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01BFFA-6C78-45F8-99E1-16FF11D16B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68085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156938-470E-4857-B764-42F25F5F4C60}" type="datetime1">
              <a:rPr lang="zh-TW" altLang="en-US" smtClean="0"/>
              <a:t>2025/12/8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F4E8C4-D6BB-4174-B428-DB7537CF5A6D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40921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A8927F-2FCC-4F7B-90E5-AF2ECC593FCE}" type="datetime1">
              <a:rPr lang="zh-TW" altLang="en-US" smtClean="0"/>
              <a:t>2025/12/8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FDF5B1-7246-4F07-B762-CDCA4AFADB05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25265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44432F-C3B5-43FA-B3A3-1BC9DDD13245}" type="datetime1">
              <a:rPr lang="zh-TW" altLang="en-US" smtClean="0"/>
              <a:t>2025/12/8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EA2C12-3EDE-4106-B474-14F4C1A77A4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18909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91FD6D-36E5-4210-9725-FFA00361C87F}" type="datetime1">
              <a:rPr lang="zh-TW" altLang="en-US" smtClean="0"/>
              <a:t>2025/12/8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480379-EF63-49CA-8AC4-0C26FAC41575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49382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1DB59B-01A7-45FD-AD7D-228109B7B98A}" type="datetime1">
              <a:rPr lang="zh-TW" altLang="en-US" smtClean="0"/>
              <a:t>2025/12/8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FC327F-DB37-4A49-BDF3-EA335D1A912D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33503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924140-8252-448B-8209-B7BE2D61279E}" type="datetime1">
              <a:rPr lang="zh-TW" altLang="en-US" smtClean="0"/>
              <a:t>2025/12/8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508237-92FA-40DF-8B93-9FC7BF5DCC4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37583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811F58-B68C-4EE9-8DB6-388D53590C10}" type="datetime1">
              <a:rPr lang="zh-TW" altLang="en-US" smtClean="0"/>
              <a:t>2025/12/8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06F072-644C-4D0D-A62D-D653F3ADD63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15846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511E2A-F8B2-4AEB-BBE6-3C076AC28F26}" type="datetime1">
              <a:rPr lang="zh-TW" altLang="en-US" smtClean="0"/>
              <a:t>2025/12/8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775EC1-3397-40A2-8E33-E767BF6D6E0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99481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A3448F-71BB-46FD-A043-DDBA06C848DA}" type="datetime1">
              <a:rPr lang="zh-TW" altLang="en-US" smtClean="0"/>
              <a:t>2025/12/8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0EF737-773D-4E0D-B3B2-0DDD023CD7CF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14782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171" y="274332"/>
            <a:ext cx="8228437" cy="114272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/>
            </a:lvl1pPr>
          </a:lstStyle>
          <a:p>
            <a:pPr indent="0" algn="ctr">
              <a:buNone/>
            </a:pPr>
            <a:endParaRPr lang="en-US" sz="439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171" y="1599289"/>
            <a:ext cx="8228437" cy="452549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indent="0">
              <a:spcBef>
                <a:spcPts val="1407"/>
              </a:spcBef>
              <a:buNone/>
              <a:defRPr/>
            </a:lvl1pPr>
          </a:lstStyle>
          <a:p>
            <a:pPr indent="0">
              <a:spcBef>
                <a:spcPts val="1551"/>
              </a:spcBef>
              <a:buNone/>
            </a:pPr>
            <a:endParaRPr lang="en-US" sz="3193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90ED0BC9-56A1-467B-8644-7AFB370F5F6A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68069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820C98-5266-4F44-90F0-6E31550F26FD}" type="datetime1">
              <a:rPr lang="zh-TW" altLang="en-US" smtClean="0"/>
              <a:t>2025/12/8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EC2F31-27C9-41C4-8F1B-E500A9243DD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8078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C92B291-74F1-4C14-9C10-73D31CE9E05A}" type="datetime1">
              <a:rPr lang="zh-TW" altLang="en-US" smtClean="0"/>
              <a:t>2025/12/8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75D30F3-5453-479F-BB73-6B142921601A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9865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  <a:ea typeface="新細明體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  <a:ea typeface="新細明體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  <a:ea typeface="新細明體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  <a:ea typeface="新細明體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youtube.com/watch?v=LH5OBCjm8VA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image" Target="../media/image110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sv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43.png"/><Relationship Id="rId11" Type="http://schemas.openxmlformats.org/officeDocument/2006/relationships/image" Target="../media/image48.svg"/><Relationship Id="rId5" Type="http://schemas.openxmlformats.org/officeDocument/2006/relationships/image" Target="../media/image42.jpeg"/><Relationship Id="rId15" Type="http://schemas.openxmlformats.org/officeDocument/2006/relationships/image" Target="../media/image52.svg"/><Relationship Id="rId10" Type="http://schemas.openxmlformats.org/officeDocument/2006/relationships/image" Target="../media/image47.png"/><Relationship Id="rId4" Type="http://schemas.openxmlformats.org/officeDocument/2006/relationships/image" Target="../media/image41.svg"/><Relationship Id="rId9" Type="http://schemas.openxmlformats.org/officeDocument/2006/relationships/image" Target="../media/image46.png"/><Relationship Id="rId14" Type="http://schemas.openxmlformats.org/officeDocument/2006/relationships/image" Target="../media/image5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82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8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9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9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1F0CFB-801D-4143-9824-DB7080B833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0246" y="1753942"/>
            <a:ext cx="6963508" cy="1083286"/>
          </a:xfrm>
        </p:spPr>
        <p:txBody>
          <a:bodyPr>
            <a:normAutofit/>
          </a:bodyPr>
          <a:lstStyle/>
          <a:p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 Resolution</a:t>
            </a:r>
            <a:endParaRPr lang="zh-TW" alt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84CFDB3-BD05-42D4-ADAA-0255BEA19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C2F31-27C9-41C4-8F1B-E500A9243DD8}" type="slidenum">
              <a:rPr lang="zh-TW" altLang="en-US" smtClean="0"/>
              <a:t>1</a:t>
            </a:fld>
            <a:endParaRPr lang="zh-TW" altLang="en-US"/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5D40A4DA-8610-472E-B9A3-F4EE39A71BD2}"/>
              </a:ext>
            </a:extLst>
          </p:cNvPr>
          <p:cNvSpPr txBox="1">
            <a:spLocks/>
          </p:cNvSpPr>
          <p:nvPr/>
        </p:nvSpPr>
        <p:spPr>
          <a:xfrm>
            <a:off x="1090246" y="2991937"/>
            <a:ext cx="6963508" cy="12123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報告人：洪宗邑、蕭英祐</a:t>
            </a:r>
            <a:endParaRPr lang="en-US" altLang="zh-TW" sz="2800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指導教授：翁世光教授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6EBD288-53D9-4165-A04C-613344EA5246}"/>
              </a:ext>
            </a:extLst>
          </p:cNvPr>
          <p:cNvSpPr txBox="1"/>
          <p:nvPr/>
        </p:nvSpPr>
        <p:spPr>
          <a:xfrm>
            <a:off x="325135" y="4596261"/>
            <a:ext cx="15302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400" dirty="0"/>
              <a:t>影片介紹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2957C71-975F-4B5C-9411-E5DF5123C3C4}"/>
              </a:ext>
            </a:extLst>
          </p:cNvPr>
          <p:cNvSpPr txBox="1"/>
          <p:nvPr/>
        </p:nvSpPr>
        <p:spPr>
          <a:xfrm>
            <a:off x="354562" y="6400413"/>
            <a:ext cx="45253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linkClick r:id="rId2"/>
              </a:rPr>
              <a:t>https://www.youtube.com/watch?v=LH5OBCjm8VA</a:t>
            </a:r>
            <a:endParaRPr lang="zh-TW" altLang="en-US" sz="1200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C8F8C793-5927-41F2-8F43-D2D8203D96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135" y="4904038"/>
            <a:ext cx="1530221" cy="1530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815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84CFDB3-BD05-42D4-ADAA-0255BEA19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C2F31-27C9-41C4-8F1B-E500A9243DD8}" type="slidenum">
              <a:rPr lang="zh-TW" altLang="en-US" smtClean="0"/>
              <a:t>2</a:t>
            </a:fld>
            <a:endParaRPr lang="zh-TW" altLang="en-US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CF6AEB61-BCAD-4A87-964E-A48921CF1F21}"/>
              </a:ext>
            </a:extLst>
          </p:cNvPr>
          <p:cNvSpPr txBox="1">
            <a:spLocks/>
          </p:cNvSpPr>
          <p:nvPr/>
        </p:nvSpPr>
        <p:spPr bwMode="auto">
          <a:xfrm>
            <a:off x="457200" y="431006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ea typeface="DFKai-SB"/>
                <a:cs typeface="+mj-cs"/>
              </a:rPr>
              <a:t>Outline</a:t>
            </a:r>
            <a:endParaRPr kumimoji="0" lang="zh-TW" altLang="en-US" sz="4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ea typeface="DFKai-SB"/>
              <a:cs typeface="+mj-cs"/>
            </a:endParaRP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CDFDDA2C-3636-4FDD-8EF4-430E985185EE}"/>
              </a:ext>
            </a:extLst>
          </p:cNvPr>
          <p:cNvSpPr txBox="1">
            <a:spLocks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altLang="zh-TW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ea typeface="DFKai-SB"/>
                <a:cs typeface="+mn-cs"/>
              </a:rPr>
              <a:t>Introduction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lang="en-US" altLang="zh-TW" dirty="0">
                <a:solidFill>
                  <a:sysClr val="windowText" lastClr="000000"/>
                </a:solidFill>
                <a:latin typeface="Times New Roman"/>
                <a:ea typeface="DFKai-SB"/>
              </a:rPr>
              <a:t>Interpolation</a:t>
            </a:r>
          </a:p>
          <a:p>
            <a:pPr marL="914400" lvl="1" indent="-514350" defTabSz="914400" eaLnBrk="1" hangingPunct="1">
              <a:defRPr/>
            </a:pPr>
            <a:r>
              <a:rPr lang="en-US" altLang="zh-TW" dirty="0">
                <a:solidFill>
                  <a:sysClr val="windowText" lastClr="000000"/>
                </a:solidFill>
                <a:latin typeface="Times New Roman"/>
                <a:ea typeface="DFKai-SB"/>
              </a:rPr>
              <a:t>Linear</a:t>
            </a:r>
          </a:p>
          <a:p>
            <a:pPr marL="914400" lvl="1" indent="-514350" defTabSz="914400" eaLnBrk="1" hangingPunct="1">
              <a:defRPr/>
            </a:pPr>
            <a:r>
              <a:rPr lang="en-US" altLang="zh-TW" dirty="0">
                <a:solidFill>
                  <a:sysClr val="windowText" lastClr="000000"/>
                </a:solidFill>
                <a:latin typeface="Times New Roman"/>
                <a:ea typeface="DFKai-SB"/>
              </a:rPr>
              <a:t>Cubic  </a:t>
            </a:r>
          </a:p>
          <a:p>
            <a:pPr marL="914400" lvl="1" indent="-514350" defTabSz="914400" eaLnBrk="1" hangingPunct="1">
              <a:defRPr/>
            </a:pPr>
            <a:r>
              <a:rPr lang="en-US" altLang="zh-TW" dirty="0">
                <a:solidFill>
                  <a:sysClr val="windowText" lastClr="000000"/>
                </a:solidFill>
                <a:latin typeface="Times New Roman"/>
                <a:ea typeface="DFKai-SB"/>
              </a:rPr>
              <a:t>Lagrange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altLang="zh-TW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ea typeface="DFKai-SB"/>
                <a:cs typeface="+mn-cs"/>
              </a:rPr>
              <a:t>Result and analysis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lang="en-US" altLang="zh-TW" sz="3200" b="0" strike="noStrike" spc="-1" dirty="0">
                <a:solidFill>
                  <a:schemeClr val="dk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EDSR</a:t>
            </a:r>
            <a:endParaRPr kumimoji="0" lang="zh-TW" altLang="en-US" sz="3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ea typeface="DFKai-SB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6892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內容版面配置區 2">
            <a:extLst>
              <a:ext uri="{FF2B5EF4-FFF2-40B4-BE49-F238E27FC236}">
                <a16:creationId xmlns:a16="http://schemas.microsoft.com/office/drawing/2014/main" id="{8BC6BF55-A36C-4585-9668-A0BC4F6C32F6}"/>
              </a:ext>
            </a:extLst>
          </p:cNvPr>
          <p:cNvSpPr txBox="1">
            <a:spLocks/>
          </p:cNvSpPr>
          <p:nvPr/>
        </p:nvSpPr>
        <p:spPr bwMode="auto">
          <a:xfrm>
            <a:off x="457200" y="1600200"/>
            <a:ext cx="805815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super-resolution(SR)?</a:t>
            </a:r>
          </a:p>
          <a:p>
            <a:pPr lvl="1"/>
            <a:r>
              <a:rPr lang="en-US" altLang="zh-TW" dirty="0">
                <a:solidFill>
                  <a:sysClr val="windowText" lastClr="000000"/>
                </a:solidFill>
                <a:latin typeface="Times New Roman"/>
                <a:ea typeface="DFKai-SB"/>
              </a:rPr>
              <a:t>SR aims to reconstruct a higher resolution image from lower resolution image</a:t>
            </a:r>
            <a:r>
              <a:rPr lang="en-US" altLang="zh-TW" dirty="0">
                <a:solidFill>
                  <a:srgbClr val="00B0F0"/>
                </a:solidFill>
                <a:latin typeface="Times New Roman"/>
                <a:ea typeface="DFKai-SB"/>
              </a:rPr>
              <a:t>s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used when high resolution images is not always available due to sensor’s limitations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use SR because of </a:t>
            </a:r>
            <a:r>
              <a:rPr lang="en-US" altLang="zh-TW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computation time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needed for high quality ray tracing images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produce a </a:t>
            </a:r>
            <a:r>
              <a:rPr lang="en-US" altLang="zh-TW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 quality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ray tracing image, then use SR procedure to quickly upscale it with details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投影片編號版面配置區 13">
            <a:extLst>
              <a:ext uri="{FF2B5EF4-FFF2-40B4-BE49-F238E27FC236}">
                <a16:creationId xmlns:a16="http://schemas.microsoft.com/office/drawing/2014/main" id="{712BE5BD-05AD-46EF-B3F7-AC682490C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C2F31-27C9-41C4-8F1B-E500A9243DD8}" type="slidenum">
              <a:rPr lang="zh-TW" altLang="en-US" smtClean="0"/>
              <a:t>3</a:t>
            </a:fld>
            <a:endParaRPr lang="zh-TW" altLang="en-US"/>
          </a:p>
        </p:txBody>
      </p:sp>
      <p:sp>
        <p:nvSpPr>
          <p:cNvPr id="11" name="標題 1">
            <a:extLst>
              <a:ext uri="{FF2B5EF4-FFF2-40B4-BE49-F238E27FC236}">
                <a16:creationId xmlns:a16="http://schemas.microsoft.com/office/drawing/2014/main" id="{ACA1B432-8B5E-40A8-B29E-229ED5EDED7F}"/>
              </a:ext>
            </a:extLst>
          </p:cNvPr>
          <p:cNvSpPr txBox="1">
            <a:spLocks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ea typeface="DFKai-SB"/>
                <a:cs typeface="+mj-cs"/>
              </a:rPr>
              <a:t>Introduction</a:t>
            </a:r>
            <a:endParaRPr kumimoji="0" lang="zh-TW" altLang="en-US" sz="4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ea typeface="DFKai-SB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96704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內容版面配置區 2">
            <a:extLst>
              <a:ext uri="{FF2B5EF4-FFF2-40B4-BE49-F238E27FC236}">
                <a16:creationId xmlns:a16="http://schemas.microsoft.com/office/drawing/2014/main" id="{8BC6BF55-A36C-4585-9668-A0BC4F6C32F6}"/>
              </a:ext>
            </a:extLst>
          </p:cNvPr>
          <p:cNvSpPr txBox="1">
            <a:spLocks/>
          </p:cNvSpPr>
          <p:nvPr/>
        </p:nvSpPr>
        <p:spPr bwMode="auto">
          <a:xfrm>
            <a:off x="457200" y="1600200"/>
            <a:ext cx="805815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Reconstruction approach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multiple low resolution images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Recover the image by different math method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Example-based approach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 neural networks architecture in most cases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learning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SRCNN, SRGAN, ESRGAN</a:t>
            </a:r>
          </a:p>
        </p:txBody>
      </p:sp>
      <p:sp>
        <p:nvSpPr>
          <p:cNvPr id="14" name="投影片編號版面配置區 13">
            <a:extLst>
              <a:ext uri="{FF2B5EF4-FFF2-40B4-BE49-F238E27FC236}">
                <a16:creationId xmlns:a16="http://schemas.microsoft.com/office/drawing/2014/main" id="{712BE5BD-05AD-46EF-B3F7-AC682490C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C2F31-27C9-41C4-8F1B-E500A9243DD8}" type="slidenum">
              <a:rPr lang="zh-TW" altLang="en-US" smtClean="0"/>
              <a:t>4</a:t>
            </a:fld>
            <a:endParaRPr lang="zh-TW" altLang="en-US"/>
          </a:p>
        </p:txBody>
      </p:sp>
      <p:sp>
        <p:nvSpPr>
          <p:cNvPr id="11" name="標題 1">
            <a:extLst>
              <a:ext uri="{FF2B5EF4-FFF2-40B4-BE49-F238E27FC236}">
                <a16:creationId xmlns:a16="http://schemas.microsoft.com/office/drawing/2014/main" id="{ACA1B432-8B5E-40A8-B29E-229ED5EDED7F}"/>
              </a:ext>
            </a:extLst>
          </p:cNvPr>
          <p:cNvSpPr txBox="1">
            <a:spLocks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ea typeface="DFKai-SB"/>
                <a:cs typeface="+mj-cs"/>
              </a:rPr>
              <a:t>Introduction</a:t>
            </a:r>
            <a:endParaRPr kumimoji="0" lang="zh-TW" altLang="en-US" sz="4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ea typeface="DFKai-SB"/>
              <a:cs typeface="+mj-cs"/>
            </a:endParaRPr>
          </a:p>
        </p:txBody>
      </p:sp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BAE79F79-91DC-412A-8B24-900A19E740DE}"/>
              </a:ext>
            </a:extLst>
          </p:cNvPr>
          <p:cNvCxnSpPr>
            <a:cxnSpLocks/>
          </p:cNvCxnSpPr>
          <p:nvPr/>
        </p:nvCxnSpPr>
        <p:spPr>
          <a:xfrm flipV="1">
            <a:off x="7156255" y="2010389"/>
            <a:ext cx="391020" cy="5056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C941550C-C418-4927-9750-54AB9FD7B1A4}"/>
              </a:ext>
            </a:extLst>
          </p:cNvPr>
          <p:cNvCxnSpPr>
            <a:cxnSpLocks/>
          </p:cNvCxnSpPr>
          <p:nvPr/>
        </p:nvCxnSpPr>
        <p:spPr>
          <a:xfrm>
            <a:off x="7895586" y="2158805"/>
            <a:ext cx="691753" cy="3162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3FD1940E-C8D0-4959-ACBB-6791C6DCDAA0}"/>
              </a:ext>
            </a:extLst>
          </p:cNvPr>
          <p:cNvCxnSpPr/>
          <p:nvPr/>
        </p:nvCxnSpPr>
        <p:spPr>
          <a:xfrm>
            <a:off x="7442200" y="2735699"/>
            <a:ext cx="9296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橢圓 11">
            <a:extLst>
              <a:ext uri="{FF2B5EF4-FFF2-40B4-BE49-F238E27FC236}">
                <a16:creationId xmlns:a16="http://schemas.microsoft.com/office/drawing/2014/main" id="{F56ADD46-BF01-45CB-9C14-6B09579CC649}"/>
              </a:ext>
            </a:extLst>
          </p:cNvPr>
          <p:cNvSpPr/>
          <p:nvPr/>
        </p:nvSpPr>
        <p:spPr>
          <a:xfrm>
            <a:off x="7224159" y="2318854"/>
            <a:ext cx="108147" cy="720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D9F7DA79-26AA-4F73-A07A-24E516F3DE6C}"/>
              </a:ext>
            </a:extLst>
          </p:cNvPr>
          <p:cNvSpPr/>
          <p:nvPr/>
        </p:nvSpPr>
        <p:spPr>
          <a:xfrm>
            <a:off x="8060493" y="2207698"/>
            <a:ext cx="108147" cy="720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332E9993-C6AC-4DD7-8AD4-CDEB338DC1AE}"/>
              </a:ext>
            </a:extLst>
          </p:cNvPr>
          <p:cNvSpPr/>
          <p:nvPr/>
        </p:nvSpPr>
        <p:spPr>
          <a:xfrm>
            <a:off x="7643933" y="2702523"/>
            <a:ext cx="108147" cy="720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638D079D-E203-4F51-A6EF-1615D59D3878}"/>
              </a:ext>
            </a:extLst>
          </p:cNvPr>
          <p:cNvCxnSpPr>
            <a:stCxn id="12" idx="5"/>
          </p:cNvCxnSpPr>
          <p:nvPr/>
        </p:nvCxnSpPr>
        <p:spPr>
          <a:xfrm>
            <a:off x="7316468" y="2380317"/>
            <a:ext cx="327465" cy="3222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48BADAE1-069F-4FE1-A245-2A30CF6DBA68}"/>
              </a:ext>
            </a:extLst>
          </p:cNvPr>
          <p:cNvCxnSpPr>
            <a:stCxn id="15" idx="3"/>
          </p:cNvCxnSpPr>
          <p:nvPr/>
        </p:nvCxnSpPr>
        <p:spPr>
          <a:xfrm flipH="1">
            <a:off x="7781290" y="2269161"/>
            <a:ext cx="295041" cy="4205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27">
            <a:extLst>
              <a:ext uri="{FF2B5EF4-FFF2-40B4-BE49-F238E27FC236}">
                <a16:creationId xmlns:a16="http://schemas.microsoft.com/office/drawing/2014/main" id="{7E34156E-A4B4-4273-B8FC-864318797356}"/>
              </a:ext>
            </a:extLst>
          </p:cNvPr>
          <p:cNvCxnSpPr>
            <a:cxnSpLocks/>
          </p:cNvCxnSpPr>
          <p:nvPr/>
        </p:nvCxnSpPr>
        <p:spPr>
          <a:xfrm>
            <a:off x="6852246" y="1884649"/>
            <a:ext cx="394379" cy="436005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7">
            <a:extLst>
              <a:ext uri="{FF2B5EF4-FFF2-40B4-BE49-F238E27FC236}">
                <a16:creationId xmlns:a16="http://schemas.microsoft.com/office/drawing/2014/main" id="{B6929DE1-885B-48FB-9BC2-1B135F2B67A0}"/>
              </a:ext>
            </a:extLst>
          </p:cNvPr>
          <p:cNvCxnSpPr>
            <a:cxnSpLocks/>
          </p:cNvCxnSpPr>
          <p:nvPr/>
        </p:nvCxnSpPr>
        <p:spPr>
          <a:xfrm flipH="1">
            <a:off x="8138160" y="1567616"/>
            <a:ext cx="447676" cy="634067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A3EFE6B4-78DF-4B9A-9F64-AE34764A94A1}"/>
              </a:ext>
            </a:extLst>
          </p:cNvPr>
          <p:cNvSpPr txBox="1"/>
          <p:nvPr/>
        </p:nvSpPr>
        <p:spPr>
          <a:xfrm>
            <a:off x="6592235" y="1584889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0D73C622-E948-4557-8015-5A0F5FCDA96D}"/>
              </a:ext>
            </a:extLst>
          </p:cNvPr>
          <p:cNvSpPr txBox="1"/>
          <p:nvPr/>
        </p:nvSpPr>
        <p:spPr>
          <a:xfrm>
            <a:off x="8380395" y="1230868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5555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內容版面配置區 2">
            <a:extLst>
              <a:ext uri="{FF2B5EF4-FFF2-40B4-BE49-F238E27FC236}">
                <a16:creationId xmlns:a16="http://schemas.microsoft.com/office/drawing/2014/main" id="{8BC6BF55-A36C-4585-9668-A0BC4F6C32F6}"/>
              </a:ext>
            </a:extLst>
          </p:cNvPr>
          <p:cNvSpPr txBox="1">
            <a:spLocks/>
          </p:cNvSpPr>
          <p:nvPr/>
        </p:nvSpPr>
        <p:spPr bwMode="auto">
          <a:xfrm>
            <a:off x="457200" y="1600200"/>
            <a:ext cx="805815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Assume there are 4 points that need to be resampled to 8 points.</a:t>
            </a:r>
          </a:p>
        </p:txBody>
      </p:sp>
      <p:sp>
        <p:nvSpPr>
          <p:cNvPr id="14" name="投影片編號版面配置區 13">
            <a:extLst>
              <a:ext uri="{FF2B5EF4-FFF2-40B4-BE49-F238E27FC236}">
                <a16:creationId xmlns:a16="http://schemas.microsoft.com/office/drawing/2014/main" id="{712BE5BD-05AD-46EF-B3F7-AC682490C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C2F31-27C9-41C4-8F1B-E500A9243DD8}" type="slidenum">
              <a:rPr lang="zh-TW" altLang="en-US" smtClean="0"/>
              <a:t>5</a:t>
            </a:fld>
            <a:endParaRPr lang="zh-TW" altLang="en-US"/>
          </a:p>
        </p:txBody>
      </p:sp>
      <p:sp>
        <p:nvSpPr>
          <p:cNvPr id="11" name="標題 1">
            <a:extLst>
              <a:ext uri="{FF2B5EF4-FFF2-40B4-BE49-F238E27FC236}">
                <a16:creationId xmlns:a16="http://schemas.microsoft.com/office/drawing/2014/main" id="{ACA1B432-8B5E-40A8-B29E-229ED5EDED7F}"/>
              </a:ext>
            </a:extLst>
          </p:cNvPr>
          <p:cNvSpPr txBox="1">
            <a:spLocks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>
                <a:solidFill>
                  <a:sysClr val="windowText" lastClr="000000"/>
                </a:solidFill>
                <a:latin typeface="Times New Roman"/>
                <a:ea typeface="DFKai-SB"/>
              </a:rPr>
              <a:t>M</a:t>
            </a:r>
            <a:r>
              <a:rPr kumimoji="0" lang="en-US" altLang="zh-TW" sz="44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ea typeface="DFKai-SB"/>
                <a:cs typeface="+mj-cs"/>
              </a:rPr>
              <a:t>apping</a:t>
            </a:r>
            <a:r>
              <a:rPr kumimoji="0" lang="en-US" altLang="zh-TW" sz="4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ea typeface="DFKai-SB"/>
                <a:cs typeface="+mj-cs"/>
              </a:rPr>
              <a:t> </a:t>
            </a:r>
            <a:r>
              <a:rPr lang="en-US" altLang="zh-TW" dirty="0">
                <a:solidFill>
                  <a:sysClr val="windowText" lastClr="000000"/>
                </a:solidFill>
                <a:latin typeface="Times New Roman"/>
                <a:ea typeface="DFKai-SB"/>
              </a:rPr>
              <a:t>two </a:t>
            </a:r>
            <a:r>
              <a:rPr lang="en-US" altLang="zh-TW" dirty="0" err="1">
                <a:solidFill>
                  <a:sysClr val="windowText" lastClr="000000"/>
                </a:solidFill>
                <a:latin typeface="Times New Roman"/>
                <a:ea typeface="DFKai-SB"/>
              </a:rPr>
              <a:t>i</a:t>
            </a:r>
            <a:r>
              <a:rPr kumimoji="0" lang="en-US" altLang="zh-TW" sz="4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ea typeface="DFKai-SB"/>
                <a:cs typeface="+mj-cs"/>
              </a:rPr>
              <a:t>mage</a:t>
            </a:r>
            <a:endParaRPr kumimoji="0" lang="zh-TW" altLang="en-US" sz="4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ea typeface="DFKai-SB"/>
              <a:cs typeface="+mj-cs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9E08081-FAA2-420E-A56D-F3236591C9AC}"/>
              </a:ext>
            </a:extLst>
          </p:cNvPr>
          <p:cNvSpPr/>
          <p:nvPr/>
        </p:nvSpPr>
        <p:spPr>
          <a:xfrm>
            <a:off x="1391478" y="3377052"/>
            <a:ext cx="6490252" cy="4571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FA7C1B9C-1FB3-4124-9E9D-2CC6F36963CA}"/>
              </a:ext>
            </a:extLst>
          </p:cNvPr>
          <p:cNvCxnSpPr/>
          <p:nvPr/>
        </p:nvCxnSpPr>
        <p:spPr>
          <a:xfrm>
            <a:off x="1391478" y="3078459"/>
            <a:ext cx="0" cy="6429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E99B5EF0-4EFD-4EB6-B58D-F2FF6040DADC}"/>
              </a:ext>
            </a:extLst>
          </p:cNvPr>
          <p:cNvCxnSpPr/>
          <p:nvPr/>
        </p:nvCxnSpPr>
        <p:spPr>
          <a:xfrm>
            <a:off x="7881730" y="3078458"/>
            <a:ext cx="0" cy="6429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CCFEF3B3-1027-4339-95E1-6CC71A87E850}"/>
              </a:ext>
            </a:extLst>
          </p:cNvPr>
          <p:cNvCxnSpPr/>
          <p:nvPr/>
        </p:nvCxnSpPr>
        <p:spPr>
          <a:xfrm>
            <a:off x="3438939" y="3078458"/>
            <a:ext cx="0" cy="2985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AD89A29B-6AAB-44BC-8430-34FA0F76851B}"/>
              </a:ext>
            </a:extLst>
          </p:cNvPr>
          <p:cNvCxnSpPr/>
          <p:nvPr/>
        </p:nvCxnSpPr>
        <p:spPr>
          <a:xfrm>
            <a:off x="5658678" y="3078458"/>
            <a:ext cx="0" cy="2985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DAEFAD1C-2514-4ACA-A65A-1492F1215E1C}"/>
              </a:ext>
            </a:extLst>
          </p:cNvPr>
          <p:cNvCxnSpPr>
            <a:cxnSpLocks/>
          </p:cNvCxnSpPr>
          <p:nvPr/>
        </p:nvCxnSpPr>
        <p:spPr>
          <a:xfrm>
            <a:off x="2249557" y="3399909"/>
            <a:ext cx="0" cy="2252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47327013-5350-4D4B-B58D-E52206A016D5}"/>
              </a:ext>
            </a:extLst>
          </p:cNvPr>
          <p:cNvCxnSpPr>
            <a:cxnSpLocks/>
          </p:cNvCxnSpPr>
          <p:nvPr/>
        </p:nvCxnSpPr>
        <p:spPr>
          <a:xfrm>
            <a:off x="3167270" y="3412832"/>
            <a:ext cx="0" cy="2252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45EB792B-A635-45E3-89DC-A7513C9711E5}"/>
              </a:ext>
            </a:extLst>
          </p:cNvPr>
          <p:cNvCxnSpPr>
            <a:cxnSpLocks/>
          </p:cNvCxnSpPr>
          <p:nvPr/>
        </p:nvCxnSpPr>
        <p:spPr>
          <a:xfrm>
            <a:off x="4061791" y="3413005"/>
            <a:ext cx="0" cy="2252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75ED6C73-F591-4103-ADA1-0FB70FC3397C}"/>
              </a:ext>
            </a:extLst>
          </p:cNvPr>
          <p:cNvCxnSpPr>
            <a:cxnSpLocks/>
          </p:cNvCxnSpPr>
          <p:nvPr/>
        </p:nvCxnSpPr>
        <p:spPr>
          <a:xfrm>
            <a:off x="5045765" y="3409848"/>
            <a:ext cx="0" cy="2252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5DE24CB5-29A0-4D65-8A4F-4002B447A49C}"/>
              </a:ext>
            </a:extLst>
          </p:cNvPr>
          <p:cNvCxnSpPr>
            <a:cxnSpLocks/>
          </p:cNvCxnSpPr>
          <p:nvPr/>
        </p:nvCxnSpPr>
        <p:spPr>
          <a:xfrm>
            <a:off x="6016488" y="3406869"/>
            <a:ext cx="0" cy="2252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>
            <a:extLst>
              <a:ext uri="{FF2B5EF4-FFF2-40B4-BE49-F238E27FC236}">
                <a16:creationId xmlns:a16="http://schemas.microsoft.com/office/drawing/2014/main" id="{0ABA8268-9F39-4910-BB8D-F950420EFA8F}"/>
              </a:ext>
            </a:extLst>
          </p:cNvPr>
          <p:cNvCxnSpPr>
            <a:cxnSpLocks/>
          </p:cNvCxnSpPr>
          <p:nvPr/>
        </p:nvCxnSpPr>
        <p:spPr>
          <a:xfrm>
            <a:off x="7010401" y="3403972"/>
            <a:ext cx="0" cy="2252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F41E6A81-FDA4-465E-B4C7-B2F6370CC9EB}"/>
                  </a:ext>
                </a:extLst>
              </p:cNvPr>
              <p:cNvSpPr txBox="1"/>
              <p:nvPr/>
            </p:nvSpPr>
            <p:spPr>
              <a:xfrm>
                <a:off x="1241886" y="2709771"/>
                <a:ext cx="29918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F41E6A81-FDA4-465E-B4C7-B2F6370CC9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1886" y="2709771"/>
                <a:ext cx="299184" cy="276999"/>
              </a:xfrm>
              <a:prstGeom prst="rect">
                <a:avLst/>
              </a:prstGeom>
              <a:blipFill>
                <a:blip r:embed="rId3"/>
                <a:stretch>
                  <a:fillRect l="-20408" r="-6122" b="-155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30DE6A67-C6E3-4472-8A2A-F97781FC74CF}"/>
                  </a:ext>
                </a:extLst>
              </p:cNvPr>
              <p:cNvSpPr txBox="1"/>
              <p:nvPr/>
            </p:nvSpPr>
            <p:spPr>
              <a:xfrm>
                <a:off x="7752522" y="2709770"/>
                <a:ext cx="29918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30DE6A67-C6E3-4472-8A2A-F97781FC74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2522" y="2709770"/>
                <a:ext cx="299184" cy="276999"/>
              </a:xfrm>
              <a:prstGeom prst="rect">
                <a:avLst/>
              </a:prstGeom>
              <a:blipFill>
                <a:blip r:embed="rId4"/>
                <a:stretch>
                  <a:fillRect l="-20408" r="-6122" b="-155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94CF4963-4CC0-4079-9B74-33F2D48A0ED6}"/>
                  </a:ext>
                </a:extLst>
              </p:cNvPr>
              <p:cNvSpPr txBox="1"/>
              <p:nvPr/>
            </p:nvSpPr>
            <p:spPr>
              <a:xfrm>
                <a:off x="3362234" y="2701798"/>
                <a:ext cx="2938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94CF4963-4CC0-4079-9B74-33F2D48A0E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2234" y="2701798"/>
                <a:ext cx="293863" cy="276999"/>
              </a:xfrm>
              <a:prstGeom prst="rect">
                <a:avLst/>
              </a:prstGeom>
              <a:blipFill>
                <a:blip r:embed="rId5"/>
                <a:stretch>
                  <a:fillRect l="-18750" r="-8333" b="-152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91DEA7EF-4B32-4CB1-B3BE-5A63DB206FE4}"/>
                  </a:ext>
                </a:extLst>
              </p:cNvPr>
              <p:cNvSpPr txBox="1"/>
              <p:nvPr/>
            </p:nvSpPr>
            <p:spPr>
              <a:xfrm>
                <a:off x="5465421" y="2709770"/>
                <a:ext cx="29918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91DEA7EF-4B32-4CB1-B3BE-5A63DB206F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5421" y="2709770"/>
                <a:ext cx="299184" cy="276999"/>
              </a:xfrm>
              <a:prstGeom prst="rect">
                <a:avLst/>
              </a:prstGeom>
              <a:blipFill>
                <a:blip r:embed="rId6"/>
                <a:stretch>
                  <a:fillRect l="-20408" r="-6122" b="-155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550FD511-AA02-4906-8EF7-929867CE8A26}"/>
                  </a:ext>
                </a:extLst>
              </p:cNvPr>
              <p:cNvSpPr txBox="1"/>
              <p:nvPr/>
            </p:nvSpPr>
            <p:spPr>
              <a:xfrm>
                <a:off x="1214474" y="3723328"/>
                <a:ext cx="371833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550FD511-AA02-4906-8EF7-929867CE8A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4474" y="3723328"/>
                <a:ext cx="371833" cy="276999"/>
              </a:xfrm>
              <a:prstGeom prst="rect">
                <a:avLst/>
              </a:prstGeom>
              <a:blipFill>
                <a:blip r:embed="rId7"/>
                <a:stretch>
                  <a:fillRect l="-4918" b="-177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F596A8A7-6A28-4FB6-B266-C7961B62DC28}"/>
                  </a:ext>
                </a:extLst>
              </p:cNvPr>
              <p:cNvSpPr txBox="1"/>
              <p:nvPr/>
            </p:nvSpPr>
            <p:spPr>
              <a:xfrm>
                <a:off x="2076890" y="3721361"/>
                <a:ext cx="371833" cy="2858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F596A8A7-6A28-4FB6-B266-C7961B62DC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6890" y="3721361"/>
                <a:ext cx="371833" cy="285847"/>
              </a:xfrm>
              <a:prstGeom prst="rect">
                <a:avLst/>
              </a:prstGeom>
              <a:blipFill>
                <a:blip r:embed="rId8"/>
                <a:stretch>
                  <a:fillRect l="-4918" b="-1489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60A96135-DC0B-493C-B9F8-E3BEBFDDFF39}"/>
                  </a:ext>
                </a:extLst>
              </p:cNvPr>
              <p:cNvSpPr txBox="1"/>
              <p:nvPr/>
            </p:nvSpPr>
            <p:spPr>
              <a:xfrm>
                <a:off x="2948217" y="3721361"/>
                <a:ext cx="371833" cy="2858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60A96135-DC0B-493C-B9F8-E3BEBFDDFF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8217" y="3721361"/>
                <a:ext cx="371833" cy="285847"/>
              </a:xfrm>
              <a:prstGeom prst="rect">
                <a:avLst/>
              </a:prstGeom>
              <a:blipFill>
                <a:blip r:embed="rId9"/>
                <a:stretch>
                  <a:fillRect l="-6557" b="-1489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6F8E0371-6092-4619-9AC5-951B266ED365}"/>
                  </a:ext>
                </a:extLst>
              </p:cNvPr>
              <p:cNvSpPr txBox="1"/>
              <p:nvPr/>
            </p:nvSpPr>
            <p:spPr>
              <a:xfrm>
                <a:off x="3942131" y="3721361"/>
                <a:ext cx="371833" cy="2858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6F8E0371-6092-4619-9AC5-951B266ED3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2131" y="3721361"/>
                <a:ext cx="371833" cy="285847"/>
              </a:xfrm>
              <a:prstGeom prst="rect">
                <a:avLst/>
              </a:prstGeom>
              <a:blipFill>
                <a:blip r:embed="rId10"/>
                <a:stretch>
                  <a:fillRect l="-6557" b="-1489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BB310569-A606-49A5-836F-9C4938E8D94F}"/>
                  </a:ext>
                </a:extLst>
              </p:cNvPr>
              <p:cNvSpPr txBox="1"/>
              <p:nvPr/>
            </p:nvSpPr>
            <p:spPr>
              <a:xfrm>
                <a:off x="4814728" y="3682526"/>
                <a:ext cx="371833" cy="2858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BB310569-A606-49A5-836F-9C4938E8D9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4728" y="3682526"/>
                <a:ext cx="371833" cy="285847"/>
              </a:xfrm>
              <a:prstGeom prst="rect">
                <a:avLst/>
              </a:prstGeom>
              <a:blipFill>
                <a:blip r:embed="rId11"/>
                <a:stretch>
                  <a:fillRect l="-6557" b="-1489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0E6E7FB3-5C30-46A5-85EF-577160DA2C17}"/>
                  </a:ext>
                </a:extLst>
              </p:cNvPr>
              <p:cNvSpPr txBox="1"/>
              <p:nvPr/>
            </p:nvSpPr>
            <p:spPr>
              <a:xfrm>
                <a:off x="5843180" y="3682526"/>
                <a:ext cx="371833" cy="2858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0E6E7FB3-5C30-46A5-85EF-577160DA2C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3180" y="3682526"/>
                <a:ext cx="371833" cy="285847"/>
              </a:xfrm>
              <a:prstGeom prst="rect">
                <a:avLst/>
              </a:prstGeom>
              <a:blipFill>
                <a:blip r:embed="rId12"/>
                <a:stretch>
                  <a:fillRect l="-6557" b="-1489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5664E936-B5B9-44EA-B528-124090698DCD}"/>
                  </a:ext>
                </a:extLst>
              </p:cNvPr>
              <p:cNvSpPr txBox="1"/>
              <p:nvPr/>
            </p:nvSpPr>
            <p:spPr>
              <a:xfrm>
                <a:off x="6863853" y="3692232"/>
                <a:ext cx="371833" cy="2858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5664E936-B5B9-44EA-B528-124090698D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3853" y="3692232"/>
                <a:ext cx="371833" cy="285847"/>
              </a:xfrm>
              <a:prstGeom prst="rect">
                <a:avLst/>
              </a:prstGeom>
              <a:blipFill>
                <a:blip r:embed="rId13"/>
                <a:stretch>
                  <a:fillRect l="-6557" b="-1276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194C350A-3BF4-429C-910B-CCA8DF1EAD64}"/>
                  </a:ext>
                </a:extLst>
              </p:cNvPr>
              <p:cNvSpPr txBox="1"/>
              <p:nvPr/>
            </p:nvSpPr>
            <p:spPr>
              <a:xfrm>
                <a:off x="7753157" y="3722672"/>
                <a:ext cx="371833" cy="2858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194C350A-3BF4-429C-910B-CCA8DF1EAD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3157" y="3722672"/>
                <a:ext cx="371833" cy="285847"/>
              </a:xfrm>
              <a:prstGeom prst="rect">
                <a:avLst/>
              </a:prstGeom>
              <a:blipFill>
                <a:blip r:embed="rId14"/>
                <a:stretch>
                  <a:fillRect l="-6557" b="-1276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矩形 40">
            <a:extLst>
              <a:ext uri="{FF2B5EF4-FFF2-40B4-BE49-F238E27FC236}">
                <a16:creationId xmlns:a16="http://schemas.microsoft.com/office/drawing/2014/main" id="{E6693A90-B914-42BF-8EE8-89A9C538C391}"/>
              </a:ext>
            </a:extLst>
          </p:cNvPr>
          <p:cNvSpPr/>
          <p:nvPr/>
        </p:nvSpPr>
        <p:spPr>
          <a:xfrm>
            <a:off x="1391478" y="5101615"/>
            <a:ext cx="6490252" cy="4571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83A2B22D-3FCB-47D4-803F-E63EAC8A96C4}"/>
              </a:ext>
            </a:extLst>
          </p:cNvPr>
          <p:cNvCxnSpPr/>
          <p:nvPr/>
        </p:nvCxnSpPr>
        <p:spPr>
          <a:xfrm>
            <a:off x="3438939" y="4803021"/>
            <a:ext cx="0" cy="2985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>
            <a:extLst>
              <a:ext uri="{FF2B5EF4-FFF2-40B4-BE49-F238E27FC236}">
                <a16:creationId xmlns:a16="http://schemas.microsoft.com/office/drawing/2014/main" id="{12DF39DF-0611-4469-9FE0-3298F3DC111C}"/>
              </a:ext>
            </a:extLst>
          </p:cNvPr>
          <p:cNvCxnSpPr/>
          <p:nvPr/>
        </p:nvCxnSpPr>
        <p:spPr>
          <a:xfrm>
            <a:off x="5658678" y="4803021"/>
            <a:ext cx="0" cy="2985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B388E0DA-C58E-4820-96F4-F9816A8E78BE}"/>
                  </a:ext>
                </a:extLst>
              </p:cNvPr>
              <p:cNvSpPr txBox="1"/>
              <p:nvPr/>
            </p:nvSpPr>
            <p:spPr>
              <a:xfrm>
                <a:off x="1229694" y="4483102"/>
                <a:ext cx="29918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B388E0DA-C58E-4820-96F4-F9816A8E78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9694" y="4483102"/>
                <a:ext cx="299184" cy="276999"/>
              </a:xfrm>
              <a:prstGeom prst="rect">
                <a:avLst/>
              </a:prstGeom>
              <a:blipFill>
                <a:blip r:embed="rId15"/>
                <a:stretch>
                  <a:fillRect l="-20408" r="-6122" b="-152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1714B5D0-2D7A-4B27-BBD7-C55F3FEAEAA3}"/>
                  </a:ext>
                </a:extLst>
              </p:cNvPr>
              <p:cNvSpPr txBox="1"/>
              <p:nvPr/>
            </p:nvSpPr>
            <p:spPr>
              <a:xfrm>
                <a:off x="7740330" y="4483101"/>
                <a:ext cx="29918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dirty="0">
                  <a:solidFill>
                    <a:srgbClr val="92D050"/>
                  </a:solidFill>
                </a:endParaRPr>
              </a:p>
            </p:txBody>
          </p:sp>
        </mc:Choice>
        <mc:Fallback xmlns=""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1714B5D0-2D7A-4B27-BBD7-C55F3FEAEA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0330" y="4483101"/>
                <a:ext cx="299184" cy="276999"/>
              </a:xfrm>
              <a:prstGeom prst="rect">
                <a:avLst/>
              </a:prstGeom>
              <a:blipFill>
                <a:blip r:embed="rId16"/>
                <a:stretch>
                  <a:fillRect l="-20408" r="-6122" b="-152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48B74233-E57E-4645-81CD-7F4C71D99ECE}"/>
                  </a:ext>
                </a:extLst>
              </p:cNvPr>
              <p:cNvSpPr txBox="1"/>
              <p:nvPr/>
            </p:nvSpPr>
            <p:spPr>
              <a:xfrm>
                <a:off x="3350042" y="4475129"/>
                <a:ext cx="2938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48B74233-E57E-4645-81CD-7F4C71D99E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0042" y="4475129"/>
                <a:ext cx="293863" cy="276999"/>
              </a:xfrm>
              <a:prstGeom prst="rect">
                <a:avLst/>
              </a:prstGeom>
              <a:blipFill>
                <a:blip r:embed="rId17"/>
                <a:stretch>
                  <a:fillRect l="-18750" r="-8333" b="-152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A08E9E06-6257-425C-9B02-3D860A6D02AE}"/>
                  </a:ext>
                </a:extLst>
              </p:cNvPr>
              <p:cNvSpPr txBox="1"/>
              <p:nvPr/>
            </p:nvSpPr>
            <p:spPr>
              <a:xfrm>
                <a:off x="5453229" y="4483101"/>
                <a:ext cx="29918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dirty="0">
                  <a:solidFill>
                    <a:srgbClr val="92D050"/>
                  </a:solidFill>
                </a:endParaRPr>
              </a:p>
            </p:txBody>
          </p:sp>
        </mc:Choice>
        <mc:Fallback xmlns="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A08E9E06-6257-425C-9B02-3D860A6D02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3229" y="4483101"/>
                <a:ext cx="299184" cy="276999"/>
              </a:xfrm>
              <a:prstGeom prst="rect">
                <a:avLst/>
              </a:prstGeom>
              <a:blipFill>
                <a:blip r:embed="rId18"/>
                <a:stretch>
                  <a:fillRect l="-20408" r="-6122" b="-152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2888DF84-C5EA-45A3-B999-83677F6AFAA7}"/>
              </a:ext>
            </a:extLst>
          </p:cNvPr>
          <p:cNvCxnSpPr/>
          <p:nvPr/>
        </p:nvCxnSpPr>
        <p:spPr>
          <a:xfrm>
            <a:off x="1391478" y="4803021"/>
            <a:ext cx="0" cy="2985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E59A29B7-AB8B-415C-8D26-59B2999F194A}"/>
              </a:ext>
            </a:extLst>
          </p:cNvPr>
          <p:cNvCxnSpPr/>
          <p:nvPr/>
        </p:nvCxnSpPr>
        <p:spPr>
          <a:xfrm>
            <a:off x="7881730" y="4825880"/>
            <a:ext cx="0" cy="2985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矩形 50">
            <a:extLst>
              <a:ext uri="{FF2B5EF4-FFF2-40B4-BE49-F238E27FC236}">
                <a16:creationId xmlns:a16="http://schemas.microsoft.com/office/drawing/2014/main" id="{DC909F7B-9144-4E5C-B711-A503E2A2C18F}"/>
              </a:ext>
            </a:extLst>
          </p:cNvPr>
          <p:cNvSpPr/>
          <p:nvPr/>
        </p:nvSpPr>
        <p:spPr>
          <a:xfrm>
            <a:off x="1391478" y="5545243"/>
            <a:ext cx="6490252" cy="4571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2" name="直線接點 51">
            <a:extLst>
              <a:ext uri="{FF2B5EF4-FFF2-40B4-BE49-F238E27FC236}">
                <a16:creationId xmlns:a16="http://schemas.microsoft.com/office/drawing/2014/main" id="{33253EF3-B063-403B-87DE-7313C5D27065}"/>
              </a:ext>
            </a:extLst>
          </p:cNvPr>
          <p:cNvCxnSpPr>
            <a:cxnSpLocks/>
          </p:cNvCxnSpPr>
          <p:nvPr/>
        </p:nvCxnSpPr>
        <p:spPr>
          <a:xfrm>
            <a:off x="2249557" y="5568100"/>
            <a:ext cx="0" cy="2252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>
            <a:extLst>
              <a:ext uri="{FF2B5EF4-FFF2-40B4-BE49-F238E27FC236}">
                <a16:creationId xmlns:a16="http://schemas.microsoft.com/office/drawing/2014/main" id="{933843D9-F5C0-4DCB-8124-F629F2E3FFBB}"/>
              </a:ext>
            </a:extLst>
          </p:cNvPr>
          <p:cNvCxnSpPr>
            <a:cxnSpLocks/>
          </p:cNvCxnSpPr>
          <p:nvPr/>
        </p:nvCxnSpPr>
        <p:spPr>
          <a:xfrm>
            <a:off x="3167270" y="5581023"/>
            <a:ext cx="0" cy="2252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>
            <a:extLst>
              <a:ext uri="{FF2B5EF4-FFF2-40B4-BE49-F238E27FC236}">
                <a16:creationId xmlns:a16="http://schemas.microsoft.com/office/drawing/2014/main" id="{45A6F921-7DB0-4428-B9AB-2259DD137B36}"/>
              </a:ext>
            </a:extLst>
          </p:cNvPr>
          <p:cNvCxnSpPr>
            <a:cxnSpLocks/>
          </p:cNvCxnSpPr>
          <p:nvPr/>
        </p:nvCxnSpPr>
        <p:spPr>
          <a:xfrm>
            <a:off x="4061791" y="5581196"/>
            <a:ext cx="0" cy="2252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>
            <a:extLst>
              <a:ext uri="{FF2B5EF4-FFF2-40B4-BE49-F238E27FC236}">
                <a16:creationId xmlns:a16="http://schemas.microsoft.com/office/drawing/2014/main" id="{413E32C4-216B-4408-AADE-83EA1DF76449}"/>
              </a:ext>
            </a:extLst>
          </p:cNvPr>
          <p:cNvCxnSpPr>
            <a:cxnSpLocks/>
          </p:cNvCxnSpPr>
          <p:nvPr/>
        </p:nvCxnSpPr>
        <p:spPr>
          <a:xfrm>
            <a:off x="5045765" y="5578039"/>
            <a:ext cx="0" cy="2252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>
            <a:extLst>
              <a:ext uri="{FF2B5EF4-FFF2-40B4-BE49-F238E27FC236}">
                <a16:creationId xmlns:a16="http://schemas.microsoft.com/office/drawing/2014/main" id="{2A854BFA-463C-4B4B-867A-1E2C203141D4}"/>
              </a:ext>
            </a:extLst>
          </p:cNvPr>
          <p:cNvCxnSpPr>
            <a:cxnSpLocks/>
          </p:cNvCxnSpPr>
          <p:nvPr/>
        </p:nvCxnSpPr>
        <p:spPr>
          <a:xfrm>
            <a:off x="6016488" y="5575060"/>
            <a:ext cx="0" cy="2252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>
            <a:extLst>
              <a:ext uri="{FF2B5EF4-FFF2-40B4-BE49-F238E27FC236}">
                <a16:creationId xmlns:a16="http://schemas.microsoft.com/office/drawing/2014/main" id="{617E476B-AA2B-4B9F-8726-4684BCEA74AB}"/>
              </a:ext>
            </a:extLst>
          </p:cNvPr>
          <p:cNvCxnSpPr>
            <a:cxnSpLocks/>
          </p:cNvCxnSpPr>
          <p:nvPr/>
        </p:nvCxnSpPr>
        <p:spPr>
          <a:xfrm>
            <a:off x="7010401" y="5572163"/>
            <a:ext cx="0" cy="2252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B0DC200D-A03F-4CAD-B7A4-5A2523201349}"/>
                  </a:ext>
                </a:extLst>
              </p:cNvPr>
              <p:cNvSpPr txBox="1"/>
              <p:nvPr/>
            </p:nvSpPr>
            <p:spPr>
              <a:xfrm>
                <a:off x="1214474" y="5891519"/>
                <a:ext cx="371833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TW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TW" altLang="en-US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B0DC200D-A03F-4CAD-B7A4-5A25232013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4474" y="5891519"/>
                <a:ext cx="371833" cy="276999"/>
              </a:xfrm>
              <a:prstGeom prst="rect">
                <a:avLst/>
              </a:prstGeom>
              <a:blipFill>
                <a:blip r:embed="rId19"/>
                <a:stretch>
                  <a:fillRect l="-4918" b="-173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字方塊 58">
                <a:extLst>
                  <a:ext uri="{FF2B5EF4-FFF2-40B4-BE49-F238E27FC236}">
                    <a16:creationId xmlns:a16="http://schemas.microsoft.com/office/drawing/2014/main" id="{0799883A-024D-4DB3-AD33-493B04C0737F}"/>
                  </a:ext>
                </a:extLst>
              </p:cNvPr>
              <p:cNvSpPr txBox="1"/>
              <p:nvPr/>
            </p:nvSpPr>
            <p:spPr>
              <a:xfrm>
                <a:off x="2076890" y="5889552"/>
                <a:ext cx="371833" cy="2858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9" name="文字方塊 58">
                <a:extLst>
                  <a:ext uri="{FF2B5EF4-FFF2-40B4-BE49-F238E27FC236}">
                    <a16:creationId xmlns:a16="http://schemas.microsoft.com/office/drawing/2014/main" id="{0799883A-024D-4DB3-AD33-493B04C073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6890" y="5889552"/>
                <a:ext cx="371833" cy="285847"/>
              </a:xfrm>
              <a:prstGeom prst="rect">
                <a:avLst/>
              </a:prstGeom>
              <a:blipFill>
                <a:blip r:embed="rId20"/>
                <a:stretch>
                  <a:fillRect l="-4918" b="-1489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字方塊 59">
                <a:extLst>
                  <a:ext uri="{FF2B5EF4-FFF2-40B4-BE49-F238E27FC236}">
                    <a16:creationId xmlns:a16="http://schemas.microsoft.com/office/drawing/2014/main" id="{137DD448-2620-46D4-80DE-02A85B2D22C6}"/>
                  </a:ext>
                </a:extLst>
              </p:cNvPr>
              <p:cNvSpPr txBox="1"/>
              <p:nvPr/>
            </p:nvSpPr>
            <p:spPr>
              <a:xfrm>
                <a:off x="2948217" y="5889552"/>
                <a:ext cx="371833" cy="2858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文字方塊 59">
                <a:extLst>
                  <a:ext uri="{FF2B5EF4-FFF2-40B4-BE49-F238E27FC236}">
                    <a16:creationId xmlns:a16="http://schemas.microsoft.com/office/drawing/2014/main" id="{137DD448-2620-46D4-80DE-02A85B2D22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8217" y="5889552"/>
                <a:ext cx="371833" cy="285847"/>
              </a:xfrm>
              <a:prstGeom prst="rect">
                <a:avLst/>
              </a:prstGeom>
              <a:blipFill>
                <a:blip r:embed="rId21"/>
                <a:stretch>
                  <a:fillRect l="-6557" b="-1489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字方塊 60">
                <a:extLst>
                  <a:ext uri="{FF2B5EF4-FFF2-40B4-BE49-F238E27FC236}">
                    <a16:creationId xmlns:a16="http://schemas.microsoft.com/office/drawing/2014/main" id="{A65F9D6D-53A3-43CF-9221-D4459D37A0D7}"/>
                  </a:ext>
                </a:extLst>
              </p:cNvPr>
              <p:cNvSpPr txBox="1"/>
              <p:nvPr/>
            </p:nvSpPr>
            <p:spPr>
              <a:xfrm>
                <a:off x="3942131" y="5889552"/>
                <a:ext cx="371833" cy="2858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TW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TW" altLang="en-US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61" name="文字方塊 60">
                <a:extLst>
                  <a:ext uri="{FF2B5EF4-FFF2-40B4-BE49-F238E27FC236}">
                    <a16:creationId xmlns:a16="http://schemas.microsoft.com/office/drawing/2014/main" id="{A65F9D6D-53A3-43CF-9221-D4459D37A0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2131" y="5889552"/>
                <a:ext cx="371833" cy="285847"/>
              </a:xfrm>
              <a:prstGeom prst="rect">
                <a:avLst/>
              </a:prstGeom>
              <a:blipFill>
                <a:blip r:embed="rId22"/>
                <a:stretch>
                  <a:fillRect l="-6557" b="-1489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446FDBCA-84CE-4272-8AB1-B9E36986711E}"/>
                  </a:ext>
                </a:extLst>
              </p:cNvPr>
              <p:cNvSpPr txBox="1"/>
              <p:nvPr/>
            </p:nvSpPr>
            <p:spPr>
              <a:xfrm>
                <a:off x="4814728" y="5850717"/>
                <a:ext cx="371833" cy="2858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altLang="zh-TW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TW" altLang="en-US" dirty="0">
                  <a:solidFill>
                    <a:srgbClr val="92D050"/>
                  </a:solidFill>
                </a:endParaRPr>
              </a:p>
            </p:txBody>
          </p:sp>
        </mc:Choice>
        <mc:Fallback xmlns="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446FDBCA-84CE-4272-8AB1-B9E3698671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4728" y="5850717"/>
                <a:ext cx="371833" cy="285847"/>
              </a:xfrm>
              <a:prstGeom prst="rect">
                <a:avLst/>
              </a:prstGeom>
              <a:blipFill>
                <a:blip r:embed="rId23"/>
                <a:stretch>
                  <a:fillRect l="-6557" b="-1276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文字方塊 62">
                <a:extLst>
                  <a:ext uri="{FF2B5EF4-FFF2-40B4-BE49-F238E27FC236}">
                    <a16:creationId xmlns:a16="http://schemas.microsoft.com/office/drawing/2014/main" id="{9E25DC6D-DF58-4813-8973-9323E99CB2E7}"/>
                  </a:ext>
                </a:extLst>
              </p:cNvPr>
              <p:cNvSpPr txBox="1"/>
              <p:nvPr/>
            </p:nvSpPr>
            <p:spPr>
              <a:xfrm>
                <a:off x="5843180" y="5850717"/>
                <a:ext cx="371833" cy="2858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3" name="文字方塊 62">
                <a:extLst>
                  <a:ext uri="{FF2B5EF4-FFF2-40B4-BE49-F238E27FC236}">
                    <a16:creationId xmlns:a16="http://schemas.microsoft.com/office/drawing/2014/main" id="{9E25DC6D-DF58-4813-8973-9323E99CB2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3180" y="5850717"/>
                <a:ext cx="371833" cy="285847"/>
              </a:xfrm>
              <a:prstGeom prst="rect">
                <a:avLst/>
              </a:prstGeom>
              <a:blipFill>
                <a:blip r:embed="rId24"/>
                <a:stretch>
                  <a:fillRect l="-6557" b="-1489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745C9B9D-BF5A-4D84-9653-314ACC53FB28}"/>
                  </a:ext>
                </a:extLst>
              </p:cNvPr>
              <p:cNvSpPr txBox="1"/>
              <p:nvPr/>
            </p:nvSpPr>
            <p:spPr>
              <a:xfrm>
                <a:off x="6863853" y="5860423"/>
                <a:ext cx="371833" cy="2858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745C9B9D-BF5A-4D84-9653-314ACC53FB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3853" y="5860423"/>
                <a:ext cx="371833" cy="285847"/>
              </a:xfrm>
              <a:prstGeom prst="rect">
                <a:avLst/>
              </a:prstGeom>
              <a:blipFill>
                <a:blip r:embed="rId25"/>
                <a:stretch>
                  <a:fillRect l="-6557" b="-1489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字方塊 64">
                <a:extLst>
                  <a:ext uri="{FF2B5EF4-FFF2-40B4-BE49-F238E27FC236}">
                    <a16:creationId xmlns:a16="http://schemas.microsoft.com/office/drawing/2014/main" id="{48048D3F-49C8-408D-878C-B7EA08A1C98E}"/>
                  </a:ext>
                </a:extLst>
              </p:cNvPr>
              <p:cNvSpPr txBox="1"/>
              <p:nvPr/>
            </p:nvSpPr>
            <p:spPr>
              <a:xfrm>
                <a:off x="7753157" y="5890863"/>
                <a:ext cx="371833" cy="2858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  <m:sup>
                          <m:r>
                            <a:rPr lang="en-US" altLang="zh-TW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TW" altLang="en-US" dirty="0">
                  <a:solidFill>
                    <a:srgbClr val="92D050"/>
                  </a:solidFill>
                </a:endParaRPr>
              </a:p>
            </p:txBody>
          </p:sp>
        </mc:Choice>
        <mc:Fallback xmlns="">
          <p:sp>
            <p:nvSpPr>
              <p:cNvPr id="65" name="文字方塊 64">
                <a:extLst>
                  <a:ext uri="{FF2B5EF4-FFF2-40B4-BE49-F238E27FC236}">
                    <a16:creationId xmlns:a16="http://schemas.microsoft.com/office/drawing/2014/main" id="{48048D3F-49C8-408D-878C-B7EA08A1C9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3157" y="5890863"/>
                <a:ext cx="371833" cy="285847"/>
              </a:xfrm>
              <a:prstGeom prst="rect">
                <a:avLst/>
              </a:prstGeom>
              <a:blipFill>
                <a:blip r:embed="rId26"/>
                <a:stretch>
                  <a:fillRect l="-6557" b="-1489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9702A88F-2885-4CB0-BE92-B1696BA76F5A}"/>
              </a:ext>
            </a:extLst>
          </p:cNvPr>
          <p:cNvCxnSpPr/>
          <p:nvPr/>
        </p:nvCxnSpPr>
        <p:spPr>
          <a:xfrm>
            <a:off x="1391478" y="5565021"/>
            <a:ext cx="0" cy="2985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接點 67">
            <a:extLst>
              <a:ext uri="{FF2B5EF4-FFF2-40B4-BE49-F238E27FC236}">
                <a16:creationId xmlns:a16="http://schemas.microsoft.com/office/drawing/2014/main" id="{AC53AEE2-E76B-4C85-9856-4E8EBC02EB94}"/>
              </a:ext>
            </a:extLst>
          </p:cNvPr>
          <p:cNvCxnSpPr/>
          <p:nvPr/>
        </p:nvCxnSpPr>
        <p:spPr>
          <a:xfrm>
            <a:off x="7881730" y="5537080"/>
            <a:ext cx="0" cy="2985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手繪多邊形: 圖案 77">
            <a:extLst>
              <a:ext uri="{FF2B5EF4-FFF2-40B4-BE49-F238E27FC236}">
                <a16:creationId xmlns:a16="http://schemas.microsoft.com/office/drawing/2014/main" id="{EE7B06C3-A789-465B-8E03-98CFD6798E21}"/>
              </a:ext>
            </a:extLst>
          </p:cNvPr>
          <p:cNvSpPr/>
          <p:nvPr/>
        </p:nvSpPr>
        <p:spPr>
          <a:xfrm>
            <a:off x="1379286" y="4254382"/>
            <a:ext cx="2028465" cy="207980"/>
          </a:xfrm>
          <a:custGeom>
            <a:avLst/>
            <a:gdLst>
              <a:gd name="connsiteX0" fmla="*/ 0 w 1574800"/>
              <a:gd name="connsiteY0" fmla="*/ 284624 h 284624"/>
              <a:gd name="connsiteX1" fmla="*/ 822960 w 1574800"/>
              <a:gd name="connsiteY1" fmla="*/ 144 h 284624"/>
              <a:gd name="connsiteX2" fmla="*/ 1574800 w 1574800"/>
              <a:gd name="connsiteY2" fmla="*/ 254144 h 2846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74800" h="284624">
                <a:moveTo>
                  <a:pt x="0" y="284624"/>
                </a:moveTo>
                <a:cubicBezTo>
                  <a:pt x="280246" y="144924"/>
                  <a:pt x="560493" y="5224"/>
                  <a:pt x="822960" y="144"/>
                </a:cubicBezTo>
                <a:cubicBezTo>
                  <a:pt x="1085427" y="-4936"/>
                  <a:pt x="1330113" y="124604"/>
                  <a:pt x="1574800" y="254144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9" name="手繪多邊形: 圖案 78">
            <a:extLst>
              <a:ext uri="{FF2B5EF4-FFF2-40B4-BE49-F238E27FC236}">
                <a16:creationId xmlns:a16="http://schemas.microsoft.com/office/drawing/2014/main" id="{6A5294FB-B110-4B5D-A31E-09282A0C80A2}"/>
              </a:ext>
            </a:extLst>
          </p:cNvPr>
          <p:cNvSpPr/>
          <p:nvPr/>
        </p:nvSpPr>
        <p:spPr>
          <a:xfrm rot="10800000">
            <a:off x="1434489" y="6215452"/>
            <a:ext cx="2627301" cy="260197"/>
          </a:xfrm>
          <a:custGeom>
            <a:avLst/>
            <a:gdLst>
              <a:gd name="connsiteX0" fmla="*/ 0 w 1574800"/>
              <a:gd name="connsiteY0" fmla="*/ 284624 h 284624"/>
              <a:gd name="connsiteX1" fmla="*/ 822960 w 1574800"/>
              <a:gd name="connsiteY1" fmla="*/ 144 h 284624"/>
              <a:gd name="connsiteX2" fmla="*/ 1574800 w 1574800"/>
              <a:gd name="connsiteY2" fmla="*/ 254144 h 2846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74800" h="284624">
                <a:moveTo>
                  <a:pt x="0" y="284624"/>
                </a:moveTo>
                <a:cubicBezTo>
                  <a:pt x="280246" y="144924"/>
                  <a:pt x="560493" y="5224"/>
                  <a:pt x="822960" y="144"/>
                </a:cubicBezTo>
                <a:cubicBezTo>
                  <a:pt x="1085427" y="-4936"/>
                  <a:pt x="1330113" y="124604"/>
                  <a:pt x="1574800" y="254144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0" name="手繪多邊形: 圖案 79">
            <a:extLst>
              <a:ext uri="{FF2B5EF4-FFF2-40B4-BE49-F238E27FC236}">
                <a16:creationId xmlns:a16="http://schemas.microsoft.com/office/drawing/2014/main" id="{8C152C62-0DFC-46D3-9956-67324B426D09}"/>
              </a:ext>
            </a:extLst>
          </p:cNvPr>
          <p:cNvSpPr/>
          <p:nvPr/>
        </p:nvSpPr>
        <p:spPr>
          <a:xfrm rot="10800000">
            <a:off x="5113029" y="6164559"/>
            <a:ext cx="2627301" cy="260197"/>
          </a:xfrm>
          <a:custGeom>
            <a:avLst/>
            <a:gdLst>
              <a:gd name="connsiteX0" fmla="*/ 0 w 1574800"/>
              <a:gd name="connsiteY0" fmla="*/ 284624 h 284624"/>
              <a:gd name="connsiteX1" fmla="*/ 822960 w 1574800"/>
              <a:gd name="connsiteY1" fmla="*/ 144 h 284624"/>
              <a:gd name="connsiteX2" fmla="*/ 1574800 w 1574800"/>
              <a:gd name="connsiteY2" fmla="*/ 254144 h 2846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74800" h="284624">
                <a:moveTo>
                  <a:pt x="0" y="284624"/>
                </a:moveTo>
                <a:cubicBezTo>
                  <a:pt x="280246" y="144924"/>
                  <a:pt x="560493" y="5224"/>
                  <a:pt x="822960" y="144"/>
                </a:cubicBezTo>
                <a:cubicBezTo>
                  <a:pt x="1085427" y="-4936"/>
                  <a:pt x="1330113" y="124604"/>
                  <a:pt x="1574800" y="254144"/>
                </a:cubicBezTo>
              </a:path>
            </a:pathLst>
          </a:cu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1" name="手繪多邊形: 圖案 80">
            <a:extLst>
              <a:ext uri="{FF2B5EF4-FFF2-40B4-BE49-F238E27FC236}">
                <a16:creationId xmlns:a16="http://schemas.microsoft.com/office/drawing/2014/main" id="{682E9FC1-8FC7-4357-BA9A-EBD1C074604C}"/>
              </a:ext>
            </a:extLst>
          </p:cNvPr>
          <p:cNvSpPr/>
          <p:nvPr/>
        </p:nvSpPr>
        <p:spPr>
          <a:xfrm>
            <a:off x="5724057" y="4262734"/>
            <a:ext cx="2028465" cy="207980"/>
          </a:xfrm>
          <a:custGeom>
            <a:avLst/>
            <a:gdLst>
              <a:gd name="connsiteX0" fmla="*/ 0 w 1574800"/>
              <a:gd name="connsiteY0" fmla="*/ 284624 h 284624"/>
              <a:gd name="connsiteX1" fmla="*/ 822960 w 1574800"/>
              <a:gd name="connsiteY1" fmla="*/ 144 h 284624"/>
              <a:gd name="connsiteX2" fmla="*/ 1574800 w 1574800"/>
              <a:gd name="connsiteY2" fmla="*/ 254144 h 2846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74800" h="284624">
                <a:moveTo>
                  <a:pt x="0" y="284624"/>
                </a:moveTo>
                <a:cubicBezTo>
                  <a:pt x="280246" y="144924"/>
                  <a:pt x="560493" y="5224"/>
                  <a:pt x="822960" y="144"/>
                </a:cubicBezTo>
                <a:cubicBezTo>
                  <a:pt x="1085427" y="-4936"/>
                  <a:pt x="1330113" y="124604"/>
                  <a:pt x="1574800" y="254144"/>
                </a:cubicBezTo>
              </a:path>
            </a:pathLst>
          </a:cu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1875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Linear Interpolation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內容版面配置區 3"/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199" y="1600200"/>
                <a:ext cx="4839620" cy="4525963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dirty="0"/>
                  <a:t>Problem: Given two samples </a:t>
                </a:r>
                <a:r>
                  <a:rPr lang="en-US" altLang="zh-TW" i="1" dirty="0"/>
                  <a:t>(a, f(a)) </a:t>
                </a:r>
                <a:r>
                  <a:rPr lang="en-US" altLang="zh-TW" dirty="0"/>
                  <a:t>and </a:t>
                </a:r>
                <a:r>
                  <a:rPr lang="en-US" altLang="zh-TW" i="1" dirty="0"/>
                  <a:t>(b, f(b))</a:t>
                </a:r>
                <a:r>
                  <a:rPr lang="en-US" altLang="zh-TW" dirty="0"/>
                  <a:t>, compute </a:t>
                </a:r>
                <a:r>
                  <a:rPr lang="en-US" altLang="zh-TW" i="1" dirty="0"/>
                  <a:t>f(t)</a:t>
                </a:r>
                <a:r>
                  <a:rPr lang="en-US" altLang="zh-TW" dirty="0"/>
                  <a:t>, where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</a:rPr>
                      <m:t>𝑎</m:t>
                    </m:r>
                    <m:r>
                      <a:rPr lang="en-US" altLang="zh-TW" b="0" i="1" smtClean="0">
                        <a:latin typeface="Cambria Math"/>
                      </a:rPr>
                      <m:t>&lt;</m:t>
                    </m:r>
                    <m:r>
                      <a:rPr lang="en-US" altLang="zh-TW" b="0" i="1" smtClean="0">
                        <a:latin typeface="Cambria Math"/>
                      </a:rPr>
                      <m:t>𝑏</m:t>
                    </m:r>
                    <m:r>
                      <a:rPr lang="en-US" altLang="zh-TW" b="0" i="1" smtClean="0">
                        <a:latin typeface="Cambria Math"/>
                      </a:rPr>
                      <m:t>, </m:t>
                    </m:r>
                    <m:r>
                      <a:rPr lang="en-US" altLang="zh-TW" b="0" i="1" smtClean="0">
                        <a:latin typeface="Cambria Math"/>
                      </a:rPr>
                      <m:t>𝑡</m:t>
                    </m:r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/>
                            <a:ea typeface="Cambria Math"/>
                          </a:rPr>
                          <m:t>𝑎</m:t>
                        </m:r>
                        <m:r>
                          <a:rPr lang="en-US" altLang="zh-TW" b="0" i="1" smtClean="0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/>
                            <a:ea typeface="Cambria Math"/>
                          </a:rPr>
                          <m:t>𝑏</m:t>
                        </m:r>
                      </m:e>
                    </m:d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.</m:t>
                    </m:r>
                  </m:oMath>
                </a14:m>
                <a:endParaRPr lang="en-US" altLang="zh-TW" dirty="0"/>
              </a:p>
              <a:p>
                <a:pPr lvl="1"/>
                <a:r>
                  <a:rPr lang="en-US" altLang="zh-TW" dirty="0"/>
                  <a:t>Linear interpolation: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𝑎</m:t>
                        </m:r>
                      </m:e>
                    </m:d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/>
                      </a:rPr>
                      <m:t>+</m:t>
                    </m:r>
                    <m:f>
                      <m:fPr>
                        <m:ctrlP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𝑓</m:t>
                        </m:r>
                        <m:d>
                          <m:dPr>
                            <m:ctrlPr>
                              <a:rPr lang="en-US" altLang="zh-TW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𝑏</m:t>
                            </m:r>
                          </m:e>
                        </m:d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𝑓</m:t>
                        </m:r>
                        <m:d>
                          <m:dPr>
                            <m:ctrlPr>
                              <a:rPr lang="en-US" altLang="zh-TW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𝑎</m:t>
                            </m:r>
                          </m:e>
                        </m:d>
                      </m:num>
                      <m:den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𝑏</m:t>
                        </m:r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𝑎</m:t>
                        </m:r>
                      </m:den>
                    </m:f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/>
                      </a:rPr>
                      <m:t>(</m:t>
                    </m:r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/>
                      </a:rPr>
                      <m:t>𝑡</m:t>
                    </m:r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/>
                      </a:rPr>
                      <m:t>−</m:t>
                    </m:r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/>
                      </a:rPr>
                      <m:t>𝑎</m:t>
                    </m:r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altLang="zh-TW" dirty="0">
                    <a:solidFill>
                      <a:srgbClr val="FF0000"/>
                    </a:solidFill>
                  </a:rPr>
                  <a:t> </a:t>
                </a:r>
              </a:p>
              <a:p>
                <a:pPr lvl="1"/>
                <a:r>
                  <a:rPr lang="en-US" altLang="zh-TW" dirty="0"/>
                  <a:t>The function value is inversely proportional to the distances between the interpolation point and the 2 ends.</a:t>
                </a:r>
              </a:p>
            </p:txBody>
          </p:sp>
        </mc:Choice>
        <mc:Fallback xmlns="">
          <p:sp>
            <p:nvSpPr>
              <p:cNvPr id="4" name="內容版面配置區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199" y="1600200"/>
                <a:ext cx="4839620" cy="4525963"/>
              </a:xfrm>
              <a:blipFill>
                <a:blip r:embed="rId3"/>
                <a:stretch>
                  <a:fillRect l="-2267" t="-1482" r="-41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內容版面配置區 4"/>
          <p:cNvSpPr>
            <a:spLocks noGrp="1"/>
          </p:cNvSpPr>
          <p:nvPr>
            <p:ph sz="half" idx="2"/>
          </p:nvPr>
        </p:nvSpPr>
        <p:spPr>
          <a:xfrm>
            <a:off x="5350693" y="2012949"/>
            <a:ext cx="3250703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zh-TW" dirty="0"/>
              <a:t>The graph</a:t>
            </a:r>
            <a:endParaRPr lang="zh-TW" altLang="en-US" dirty="0"/>
          </a:p>
        </p:txBody>
      </p:sp>
      <p:grpSp>
        <p:nvGrpSpPr>
          <p:cNvPr id="21" name="群組 20"/>
          <p:cNvGrpSpPr/>
          <p:nvPr/>
        </p:nvGrpSpPr>
        <p:grpSpPr>
          <a:xfrm>
            <a:off x="5508104" y="2775119"/>
            <a:ext cx="3240360" cy="2176123"/>
            <a:chOff x="4932040" y="3093727"/>
            <a:chExt cx="3240360" cy="2176123"/>
          </a:xfrm>
        </p:grpSpPr>
        <p:cxnSp>
          <p:nvCxnSpPr>
            <p:cNvPr id="7" name="直線單箭頭接點 6"/>
            <p:cNvCxnSpPr/>
            <p:nvPr/>
          </p:nvCxnSpPr>
          <p:spPr>
            <a:xfrm flipV="1">
              <a:off x="5364088" y="4005064"/>
              <a:ext cx="0" cy="864096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線接點 8"/>
            <p:cNvCxnSpPr/>
            <p:nvPr/>
          </p:nvCxnSpPr>
          <p:spPr>
            <a:xfrm>
              <a:off x="4932040" y="4869160"/>
              <a:ext cx="3240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單箭頭接點 10"/>
            <p:cNvCxnSpPr/>
            <p:nvPr/>
          </p:nvCxnSpPr>
          <p:spPr>
            <a:xfrm flipV="1">
              <a:off x="7380312" y="3212976"/>
              <a:ext cx="0" cy="1656184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接點 14"/>
            <p:cNvCxnSpPr/>
            <p:nvPr/>
          </p:nvCxnSpPr>
          <p:spPr>
            <a:xfrm flipV="1">
              <a:off x="5031829" y="3093727"/>
              <a:ext cx="2736304" cy="108012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單箭頭接點 16"/>
            <p:cNvCxnSpPr/>
            <p:nvPr/>
          </p:nvCxnSpPr>
          <p:spPr>
            <a:xfrm flipV="1">
              <a:off x="6228184" y="3717032"/>
              <a:ext cx="0" cy="115212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文字方塊 17"/>
            <p:cNvSpPr txBox="1"/>
            <p:nvPr/>
          </p:nvSpPr>
          <p:spPr>
            <a:xfrm>
              <a:off x="5221214" y="4900518"/>
              <a:ext cx="3032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i="1" dirty="0"/>
                <a:t>a</a:t>
              </a:r>
              <a:endParaRPr lang="zh-TW" altLang="en-US" i="1" dirty="0"/>
            </a:p>
          </p:txBody>
        </p:sp>
        <p:sp>
          <p:nvSpPr>
            <p:cNvPr id="19" name="文字方塊 18"/>
            <p:cNvSpPr txBox="1"/>
            <p:nvPr/>
          </p:nvSpPr>
          <p:spPr>
            <a:xfrm>
              <a:off x="6105852" y="4867086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>
                  <a:solidFill>
                    <a:srgbClr val="0070C0"/>
                  </a:solidFill>
                </a:rPr>
                <a:t>t</a:t>
              </a:r>
              <a:endParaRPr lang="zh-TW" altLang="en-US" dirty="0">
                <a:solidFill>
                  <a:srgbClr val="0070C0"/>
                </a:solidFill>
              </a:endParaRPr>
            </a:p>
          </p:txBody>
        </p:sp>
        <p:sp>
          <p:nvSpPr>
            <p:cNvPr id="20" name="文字方塊 19"/>
            <p:cNvSpPr txBox="1"/>
            <p:nvPr/>
          </p:nvSpPr>
          <p:spPr>
            <a:xfrm>
              <a:off x="7232675" y="488121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i="1" dirty="0"/>
                <a:t>b</a:t>
              </a:r>
              <a:endParaRPr lang="zh-TW" altLang="en-US" i="1" dirty="0"/>
            </a:p>
          </p:txBody>
        </p:sp>
      </p:grp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467796" y="6356350"/>
            <a:ext cx="2133600" cy="365125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t>6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14425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Piecewise Linear Interpolation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200" y="1600200"/>
                <a:ext cx="4325854" cy="4525963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US" altLang="zh-TW" dirty="0"/>
                  <a:t>Problem: Given (n+1) samples, compute </a:t>
                </a:r>
                <a:r>
                  <a:rPr lang="en-US" altLang="zh-TW" i="1" dirty="0"/>
                  <a:t>f(t)</a:t>
                </a:r>
                <a:r>
                  <a:rPr lang="en-US" altLang="zh-TW" dirty="0"/>
                  <a:t>, where </a:t>
                </a:r>
                <a:r>
                  <a:rPr lang="en-US" altLang="zh-TW" i="1" dirty="0"/>
                  <a:t>t</a:t>
                </a:r>
                <a:r>
                  <a:rPr lang="en-US" altLang="zh-TW" dirty="0"/>
                  <a:t> is in the range of the sampling positions.</a:t>
                </a:r>
              </a:p>
              <a:p>
                <a:pPr lvl="1"/>
                <a:endParaRPr lang="en-US" altLang="zh-TW" dirty="0"/>
              </a:p>
              <a:p>
                <a:r>
                  <a:rPr lang="en-US" altLang="zh-TW" dirty="0">
                    <a:solidFill>
                      <a:srgbClr val="C00000"/>
                    </a:solidFill>
                  </a:rPr>
                  <a:t>Piecewise linear interpolation: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altLang="zh-TW" dirty="0"/>
                  <a:t>Divide the domain into n intervals: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𝑖</m:t>
                            </m:r>
                            <m:r>
                              <a:rPr lang="en-US" altLang="zh-TW" b="0" i="1" smtClean="0">
                                <a:latin typeface="Cambria Math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en-US" altLang="zh-TW" b="0" i="1" smtClean="0">
                        <a:latin typeface="Cambria Math"/>
                      </a:rPr>
                      <m:t>,0</m:t>
                    </m:r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𝑖</m:t>
                    </m:r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𝑛</m:t>
                    </m:r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−1.</m:t>
                    </m:r>
                  </m:oMath>
                </a14:m>
                <a:endParaRPr lang="en-US" altLang="zh-TW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altLang="zh-TW" dirty="0"/>
                  <a:t>Find the interval containing </a:t>
                </a:r>
                <a:r>
                  <a:rPr lang="en-US" altLang="zh-TW" i="1" dirty="0"/>
                  <a:t>t</a:t>
                </a:r>
                <a:r>
                  <a:rPr lang="en-US" altLang="zh-TW" dirty="0"/>
                  <a:t>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altLang="zh-TW" dirty="0"/>
                  <a:t>Assume it is the </a:t>
                </a:r>
                <a:r>
                  <a:rPr lang="en-US" altLang="zh-TW" i="1" dirty="0"/>
                  <a:t>j</a:t>
                </a:r>
                <a:r>
                  <a:rPr lang="en-US" altLang="zh-TW" dirty="0"/>
                  <a:t>-</a:t>
                </a:r>
                <a:r>
                  <a:rPr lang="en-US" altLang="zh-TW" dirty="0" err="1"/>
                  <a:t>th</a:t>
                </a:r>
                <a:r>
                  <a:rPr lang="en-US" altLang="zh-TW" dirty="0"/>
                  <a:t> interval, compute </a:t>
                </a:r>
                <a:r>
                  <a:rPr lang="en-US" altLang="zh-TW" i="1" dirty="0"/>
                  <a:t>f(t)</a:t>
                </a:r>
                <a:r>
                  <a:rPr lang="en-US" altLang="zh-TW" dirty="0"/>
                  <a:t> by using linear interpolation in the </a:t>
                </a:r>
                <a:r>
                  <a:rPr lang="en-US" altLang="zh-TW" i="1" dirty="0"/>
                  <a:t>j</a:t>
                </a:r>
                <a:r>
                  <a:rPr lang="en-US" altLang="zh-TW" dirty="0"/>
                  <a:t>-</a:t>
                </a:r>
                <a:r>
                  <a:rPr lang="en-US" altLang="zh-TW" dirty="0" err="1"/>
                  <a:t>th</a:t>
                </a:r>
                <a:r>
                  <a:rPr lang="en-US" altLang="zh-TW" dirty="0"/>
                  <a:t> interval.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200" y="1600200"/>
                <a:ext cx="4325854" cy="4525963"/>
              </a:xfrm>
              <a:blipFill>
                <a:blip r:embed="rId2"/>
                <a:stretch>
                  <a:fillRect l="-1831" t="-1887" r="-1127" b="-22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729492" y="1600200"/>
            <a:ext cx="3957308" cy="4525963"/>
          </a:xfrm>
        </p:spPr>
        <p:txBody>
          <a:bodyPr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altLang="zh-TW" sz="2600" dirty="0">
                <a:solidFill>
                  <a:srgbClr val="00B0F0"/>
                </a:solidFill>
              </a:rPr>
              <a:t>The input data:</a:t>
            </a:r>
          </a:p>
          <a:p>
            <a:endParaRPr lang="en-US" altLang="zh-TW" dirty="0"/>
          </a:p>
          <a:p>
            <a:endParaRPr lang="en-US" altLang="zh-TW" dirty="0"/>
          </a:p>
          <a:p>
            <a:pPr marL="0" indent="0">
              <a:buNone/>
            </a:pPr>
            <a:r>
              <a:rPr lang="en-US" altLang="zh-TW" sz="2200" dirty="0">
                <a:solidFill>
                  <a:srgbClr val="00B0F0"/>
                </a:solidFill>
              </a:rPr>
              <a:t>The piecewise linear interpolation function </a:t>
            </a:r>
            <a:r>
              <a:rPr lang="en-US" altLang="zh-TW" sz="2200" i="1" dirty="0">
                <a:solidFill>
                  <a:srgbClr val="00B0F0"/>
                </a:solidFill>
              </a:rPr>
              <a:t>s(x)</a:t>
            </a:r>
            <a:r>
              <a:rPr lang="en-US" altLang="zh-TW" sz="2200" dirty="0">
                <a:solidFill>
                  <a:srgbClr val="00B0F0"/>
                </a:solidFill>
              </a:rPr>
              <a:t> consists of </a:t>
            </a:r>
            <a:r>
              <a:rPr lang="en-US" altLang="zh-TW" sz="2200" i="1" dirty="0">
                <a:solidFill>
                  <a:srgbClr val="00B0F0"/>
                </a:solidFill>
              </a:rPr>
              <a:t>n</a:t>
            </a:r>
            <a:r>
              <a:rPr lang="en-US" altLang="zh-TW" sz="2200" dirty="0">
                <a:solidFill>
                  <a:srgbClr val="00B0F0"/>
                </a:solidFill>
              </a:rPr>
              <a:t> linear polynomials.</a:t>
            </a:r>
            <a:endParaRPr lang="zh-TW" altLang="en-US" sz="2200" dirty="0">
              <a:solidFill>
                <a:srgbClr val="00B0F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9492" y="2096306"/>
            <a:ext cx="3663902" cy="649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直線接點 5"/>
          <p:cNvCxnSpPr/>
          <p:nvPr/>
        </p:nvCxnSpPr>
        <p:spPr>
          <a:xfrm>
            <a:off x="5004048" y="5517232"/>
            <a:ext cx="3600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 flipV="1">
            <a:off x="5004048" y="4941168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 flipV="1">
            <a:off x="5796136" y="5085184"/>
            <a:ext cx="0" cy="432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>
            <a:off x="6660232" y="5517232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7380312" y="5517232"/>
            <a:ext cx="0" cy="1440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 flipV="1">
            <a:off x="8028384" y="4797152"/>
            <a:ext cx="0" cy="7200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 flipV="1">
            <a:off x="8604448" y="5157192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5004048" y="4941168"/>
            <a:ext cx="792088" cy="14401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>
            <a:off x="5796136" y="5085184"/>
            <a:ext cx="864096" cy="72008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>
          <a:xfrm flipV="1">
            <a:off x="6660232" y="5661248"/>
            <a:ext cx="720080" cy="14401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/>
          <p:cNvCxnSpPr/>
          <p:nvPr/>
        </p:nvCxnSpPr>
        <p:spPr>
          <a:xfrm flipV="1">
            <a:off x="7380312" y="4797152"/>
            <a:ext cx="648072" cy="86409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/>
          <p:cNvCxnSpPr/>
          <p:nvPr/>
        </p:nvCxnSpPr>
        <p:spPr>
          <a:xfrm>
            <a:off x="8028384" y="4797152"/>
            <a:ext cx="576064" cy="36004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字方塊 28"/>
          <p:cNvSpPr txBox="1"/>
          <p:nvPr/>
        </p:nvSpPr>
        <p:spPr>
          <a:xfrm>
            <a:off x="4932040" y="5548590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x</a:t>
            </a:r>
            <a:r>
              <a:rPr lang="en-US" altLang="zh-TW" baseline="-25000" dirty="0"/>
              <a:t>0</a:t>
            </a:r>
            <a:endParaRPr lang="zh-TW" altLang="en-US" baseline="-25000" dirty="0"/>
          </a:p>
        </p:txBody>
      </p:sp>
      <p:sp>
        <p:nvSpPr>
          <p:cNvPr id="31" name="文字方塊 30"/>
          <p:cNvSpPr txBox="1"/>
          <p:nvPr/>
        </p:nvSpPr>
        <p:spPr>
          <a:xfrm>
            <a:off x="6464620" y="5805264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x</a:t>
            </a:r>
            <a:r>
              <a:rPr lang="en-US" altLang="zh-TW" baseline="-25000" dirty="0"/>
              <a:t>i</a:t>
            </a:r>
            <a:endParaRPr lang="zh-TW" altLang="en-US" baseline="-25000" dirty="0"/>
          </a:p>
        </p:txBody>
      </p:sp>
      <p:sp>
        <p:nvSpPr>
          <p:cNvPr id="32" name="文字方塊 31"/>
          <p:cNvSpPr txBox="1"/>
          <p:nvPr/>
        </p:nvSpPr>
        <p:spPr>
          <a:xfrm>
            <a:off x="7142907" y="5701898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x</a:t>
            </a:r>
            <a:r>
              <a:rPr lang="en-US" altLang="zh-TW" baseline="-25000" dirty="0"/>
              <a:t>i+1</a:t>
            </a:r>
            <a:endParaRPr lang="zh-TW" altLang="en-US" baseline="-25000" dirty="0"/>
          </a:p>
        </p:txBody>
      </p:sp>
      <p:sp>
        <p:nvSpPr>
          <p:cNvPr id="33" name="文字方塊 32"/>
          <p:cNvSpPr txBox="1"/>
          <p:nvPr/>
        </p:nvSpPr>
        <p:spPr>
          <a:xfrm>
            <a:off x="8393394" y="5517232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x</a:t>
            </a:r>
            <a:r>
              <a:rPr lang="en-US" altLang="zh-TW" baseline="-25000" dirty="0" err="1"/>
              <a:t>n</a:t>
            </a:r>
            <a:endParaRPr lang="zh-TW" altLang="en-US" baseline="-25000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0508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Cubic Interpolation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內容版面配置區 3"/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197" y="1600201"/>
                <a:ext cx="8503915" cy="3774437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dirty="0"/>
                  <a:t>Given four surrounding samples </a:t>
                </a:r>
                <a:r>
                  <a:rPr lang="en-US" altLang="zh-TW" i="1" dirty="0"/>
                  <a:t>(x</a:t>
                </a:r>
                <a:r>
                  <a:rPr lang="en-US" altLang="zh-TW" i="1" baseline="-25000" dirty="0"/>
                  <a:t>0</a:t>
                </a:r>
                <a:r>
                  <a:rPr lang="en-US" altLang="zh-TW" i="1" dirty="0"/>
                  <a:t>, f(x</a:t>
                </a:r>
                <a:r>
                  <a:rPr lang="en-US" altLang="zh-TW" i="1" baseline="-25000" dirty="0"/>
                  <a:t>0</a:t>
                </a:r>
                <a:r>
                  <a:rPr lang="en-US" altLang="zh-TW" i="1" dirty="0"/>
                  <a:t>))</a:t>
                </a:r>
                <a:r>
                  <a:rPr lang="en-US" altLang="zh-TW" dirty="0"/>
                  <a:t>,</a:t>
                </a:r>
                <a:r>
                  <a:rPr lang="en-US" altLang="zh-TW" i="1" dirty="0"/>
                  <a:t> (x</a:t>
                </a:r>
                <a:r>
                  <a:rPr lang="en-US" altLang="zh-TW" i="1" baseline="-25000" dirty="0"/>
                  <a:t>1</a:t>
                </a:r>
                <a:r>
                  <a:rPr lang="en-US" altLang="zh-TW" i="1" dirty="0"/>
                  <a:t>, f(x</a:t>
                </a:r>
                <a:r>
                  <a:rPr lang="en-US" altLang="zh-TW" i="1" baseline="-25000" dirty="0"/>
                  <a:t>1</a:t>
                </a:r>
                <a:r>
                  <a:rPr lang="en-US" altLang="zh-TW" i="1" dirty="0"/>
                  <a:t>))</a:t>
                </a:r>
                <a:r>
                  <a:rPr lang="en-US" altLang="zh-TW" dirty="0"/>
                  <a:t>,</a:t>
                </a:r>
                <a:r>
                  <a:rPr lang="en-US" altLang="zh-TW" i="1" dirty="0"/>
                  <a:t> (x</a:t>
                </a:r>
                <a:r>
                  <a:rPr lang="en-US" altLang="zh-TW" i="1" baseline="-25000" dirty="0"/>
                  <a:t>2</a:t>
                </a:r>
                <a:r>
                  <a:rPr lang="en-US" altLang="zh-TW" i="1" dirty="0"/>
                  <a:t>, f(x</a:t>
                </a:r>
                <a:r>
                  <a:rPr lang="en-US" altLang="zh-TW" i="1" baseline="-25000" dirty="0"/>
                  <a:t>2</a:t>
                </a:r>
                <a:r>
                  <a:rPr lang="en-US" altLang="zh-TW" i="1" dirty="0"/>
                  <a:t>))</a:t>
                </a:r>
                <a:r>
                  <a:rPr lang="en-US" altLang="zh-TW" dirty="0"/>
                  <a:t>,</a:t>
                </a:r>
                <a:r>
                  <a:rPr lang="en-US" altLang="zh-TW" i="1" dirty="0"/>
                  <a:t> (x</a:t>
                </a:r>
                <a:r>
                  <a:rPr lang="en-US" altLang="zh-TW" i="1" baseline="-25000" dirty="0"/>
                  <a:t>3</a:t>
                </a:r>
                <a:r>
                  <a:rPr lang="en-US" altLang="zh-TW" i="1" dirty="0"/>
                  <a:t>, f(x</a:t>
                </a:r>
                <a:r>
                  <a:rPr lang="en-US" altLang="zh-TW" i="1" baseline="-25000" dirty="0"/>
                  <a:t>3</a:t>
                </a:r>
                <a:r>
                  <a:rPr lang="en-US" altLang="zh-TW" i="1" dirty="0"/>
                  <a:t>))</a:t>
                </a:r>
              </a:p>
              <a:p>
                <a:pPr lvl="1"/>
                <a:r>
                  <a:rPr lang="en-US" altLang="zh-TW" dirty="0"/>
                  <a:t>Solve the equation: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sSupPr>
                        <m:ctrlP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𝑐𝑥</m:t>
                    </m:r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altLang="zh-TW" dirty="0">
                  <a:solidFill>
                    <a:srgbClr val="FF0000"/>
                  </a:solidFill>
                </a:endParaRPr>
              </a:p>
              <a:p>
                <a:pPr lvl="1"/>
                <a:r>
                  <a:rPr lang="en-US" altLang="zh-TW" dirty="0"/>
                  <a:t>Compute </a:t>
                </a:r>
                <a:r>
                  <a:rPr lang="en-US" altLang="zh-TW" i="1" dirty="0"/>
                  <a:t>f(t)</a:t>
                </a:r>
                <a:r>
                  <a:rPr lang="en-US" altLang="zh-TW" dirty="0"/>
                  <a:t>, where </a:t>
                </a:r>
                <a:r>
                  <a:rPr lang="en-US" altLang="zh-TW" i="1" dirty="0"/>
                  <a:t>t</a:t>
                </a:r>
                <a:r>
                  <a:rPr lang="en-US" altLang="zh-TW" dirty="0"/>
                  <a:t> is in the range of the sampling positions</a:t>
                </a:r>
              </a:p>
              <a:p>
                <a:pPr lvl="1"/>
                <a:r>
                  <a:rPr lang="en-US" altLang="zh-TW" dirty="0"/>
                  <a:t>Cubic polynomial gives smooth interpolation results</a:t>
                </a:r>
              </a:p>
            </p:txBody>
          </p:sp>
        </mc:Choice>
        <mc:Fallback xmlns="">
          <p:sp>
            <p:nvSpPr>
              <p:cNvPr id="4" name="內容版面配置區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197" y="1600201"/>
                <a:ext cx="8503915" cy="3774437"/>
              </a:xfrm>
              <a:blipFill>
                <a:blip r:embed="rId3"/>
                <a:stretch>
                  <a:fillRect l="-1290" t="-1777" r="-7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群組 20"/>
          <p:cNvGrpSpPr/>
          <p:nvPr/>
        </p:nvGrpSpPr>
        <p:grpSpPr>
          <a:xfrm>
            <a:off x="2951820" y="4362888"/>
            <a:ext cx="3240360" cy="2023499"/>
            <a:chOff x="4932040" y="3315808"/>
            <a:chExt cx="3240360" cy="2023499"/>
          </a:xfrm>
        </p:grpSpPr>
        <p:cxnSp>
          <p:nvCxnSpPr>
            <p:cNvPr id="7" name="直線單箭頭接點 6"/>
            <p:cNvCxnSpPr>
              <a:cxnSpLocks/>
            </p:cNvCxnSpPr>
            <p:nvPr/>
          </p:nvCxnSpPr>
          <p:spPr>
            <a:xfrm flipV="1">
              <a:off x="6156568" y="3315808"/>
              <a:ext cx="0" cy="1553352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線接點 8"/>
            <p:cNvCxnSpPr/>
            <p:nvPr/>
          </p:nvCxnSpPr>
          <p:spPr>
            <a:xfrm>
              <a:off x="4932040" y="4869160"/>
              <a:ext cx="3240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單箭頭接點 10"/>
            <p:cNvCxnSpPr>
              <a:cxnSpLocks/>
            </p:cNvCxnSpPr>
            <p:nvPr/>
          </p:nvCxnSpPr>
          <p:spPr>
            <a:xfrm flipV="1">
              <a:off x="6925596" y="4184050"/>
              <a:ext cx="4124" cy="710072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單箭頭接點 16"/>
            <p:cNvCxnSpPr/>
            <p:nvPr/>
          </p:nvCxnSpPr>
          <p:spPr>
            <a:xfrm flipV="1">
              <a:off x="6543144" y="3717910"/>
              <a:ext cx="0" cy="115212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字方塊 18"/>
            <p:cNvSpPr txBox="1"/>
            <p:nvPr/>
          </p:nvSpPr>
          <p:spPr>
            <a:xfrm>
              <a:off x="6401860" y="4969975"/>
              <a:ext cx="3977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solidFill>
                    <a:srgbClr val="0070C0"/>
                  </a:solidFill>
                </a:rPr>
                <a:t>t</a:t>
              </a:r>
              <a:endParaRPr lang="zh-TW" altLang="en-US" dirty="0">
                <a:solidFill>
                  <a:srgbClr val="0070C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字方塊 19"/>
                <p:cNvSpPr txBox="1"/>
                <p:nvPr/>
              </p:nvSpPr>
              <p:spPr>
                <a:xfrm>
                  <a:off x="7438127" y="4868283"/>
                  <a:ext cx="4708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TW" altLang="en-US" i="1" dirty="0"/>
                </a:p>
              </p:txBody>
            </p:sp>
          </mc:Choice>
          <mc:Fallback xmlns="">
            <p:sp>
              <p:nvSpPr>
                <p:cNvPr id="20" name="文字方塊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8127" y="4868283"/>
                  <a:ext cx="470898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467796" y="6356350"/>
            <a:ext cx="2133600" cy="365125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t>8</a:t>
            </a:fld>
            <a:endParaRPr lang="zh-TW" altLang="en-US" dirty="0"/>
          </a:p>
        </p:txBody>
      </p:sp>
      <p:sp>
        <p:nvSpPr>
          <p:cNvPr id="3" name="手繪多邊形: 圖案 2">
            <a:extLst>
              <a:ext uri="{FF2B5EF4-FFF2-40B4-BE49-F238E27FC236}">
                <a16:creationId xmlns:a16="http://schemas.microsoft.com/office/drawing/2014/main" id="{5C17EBB4-330E-4D57-8FFD-6C85D37DF4DD}"/>
              </a:ext>
            </a:extLst>
          </p:cNvPr>
          <p:cNvSpPr/>
          <p:nvPr/>
        </p:nvSpPr>
        <p:spPr>
          <a:xfrm>
            <a:off x="3173956" y="4088568"/>
            <a:ext cx="2600960" cy="1118974"/>
          </a:xfrm>
          <a:custGeom>
            <a:avLst/>
            <a:gdLst>
              <a:gd name="connsiteX0" fmla="*/ 0 w 2600960"/>
              <a:gd name="connsiteY0" fmla="*/ 873760 h 1118974"/>
              <a:gd name="connsiteX1" fmla="*/ 1076960 w 2600960"/>
              <a:gd name="connsiteY1" fmla="*/ 243840 h 1118974"/>
              <a:gd name="connsiteX2" fmla="*/ 1798320 w 2600960"/>
              <a:gd name="connsiteY2" fmla="*/ 1117600 h 1118974"/>
              <a:gd name="connsiteX3" fmla="*/ 2600960 w 2600960"/>
              <a:gd name="connsiteY3" fmla="*/ 0 h 1118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00960" h="1118974">
                <a:moveTo>
                  <a:pt x="0" y="873760"/>
                </a:moveTo>
                <a:cubicBezTo>
                  <a:pt x="388620" y="538480"/>
                  <a:pt x="777240" y="203200"/>
                  <a:pt x="1076960" y="243840"/>
                </a:cubicBezTo>
                <a:cubicBezTo>
                  <a:pt x="1376680" y="284480"/>
                  <a:pt x="1544320" y="1158240"/>
                  <a:pt x="1798320" y="1117600"/>
                </a:cubicBezTo>
                <a:cubicBezTo>
                  <a:pt x="2052320" y="1076960"/>
                  <a:pt x="2484120" y="160867"/>
                  <a:pt x="260096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AE1E48BB-05E4-4140-A148-A30A4EA6E1AE}"/>
              </a:ext>
            </a:extLst>
          </p:cNvPr>
          <p:cNvCxnSpPr>
            <a:cxnSpLocks/>
          </p:cNvCxnSpPr>
          <p:nvPr/>
        </p:nvCxnSpPr>
        <p:spPr>
          <a:xfrm flipV="1">
            <a:off x="5684572" y="4362888"/>
            <a:ext cx="0" cy="155335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3320BE0D-C1DC-4386-A932-A19C78C4EEBD}"/>
              </a:ext>
            </a:extLst>
          </p:cNvPr>
          <p:cNvCxnSpPr>
            <a:cxnSpLocks/>
          </p:cNvCxnSpPr>
          <p:nvPr/>
        </p:nvCxnSpPr>
        <p:spPr>
          <a:xfrm flipV="1">
            <a:off x="3388412" y="4794688"/>
            <a:ext cx="0" cy="112155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0168FB03-24A2-4B05-9B80-070702C28C79}"/>
                  </a:ext>
                </a:extLst>
              </p:cNvPr>
              <p:cNvSpPr txBox="1"/>
              <p:nvPr/>
            </p:nvSpPr>
            <p:spPr>
              <a:xfrm>
                <a:off x="4746707" y="5966163"/>
                <a:ext cx="4708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i="1" dirty="0"/>
              </a:p>
            </p:txBody>
          </p:sp>
        </mc:Choice>
        <mc:Fallback xmlns="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0168FB03-24A2-4B05-9B80-070702C28C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6707" y="5966163"/>
                <a:ext cx="470898" cy="369332"/>
              </a:xfrm>
              <a:prstGeom prst="rect">
                <a:avLst/>
              </a:prstGeom>
              <a:blipFill>
                <a:blip r:embed="rId5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0A453E0B-BD7A-4C24-80E7-E0299133A370}"/>
                  </a:ext>
                </a:extLst>
              </p:cNvPr>
              <p:cNvSpPr txBox="1"/>
              <p:nvPr/>
            </p:nvSpPr>
            <p:spPr>
              <a:xfrm>
                <a:off x="3904225" y="5966163"/>
                <a:ext cx="4655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i="1" dirty="0"/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0A453E0B-BD7A-4C24-80E7-E0299133A3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4225" y="5966163"/>
                <a:ext cx="465576" cy="369332"/>
              </a:xfrm>
              <a:prstGeom prst="rect">
                <a:avLst/>
              </a:prstGeom>
              <a:blipFill>
                <a:blip r:embed="rId6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68695F2F-4838-4C9F-839D-CA833D287656}"/>
                  </a:ext>
                </a:extLst>
              </p:cNvPr>
              <p:cNvSpPr txBox="1"/>
              <p:nvPr/>
            </p:nvSpPr>
            <p:spPr>
              <a:xfrm>
                <a:off x="3162511" y="5943930"/>
                <a:ext cx="4708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i="1" dirty="0"/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68695F2F-4838-4C9F-839D-CA833D2876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2511" y="5943930"/>
                <a:ext cx="470898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37945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Splines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199" y="1600200"/>
                <a:ext cx="4501159" cy="4525963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altLang="zh-TW" dirty="0"/>
                  <a:t>What is a spline?</a:t>
                </a:r>
              </a:p>
              <a:p>
                <a:pPr lvl="1"/>
                <a:r>
                  <a:rPr lang="en-US" altLang="zh-TW" dirty="0">
                    <a:solidFill>
                      <a:srgbClr val="FF0000"/>
                    </a:solidFill>
                  </a:rPr>
                  <a:t>A curve consists of several pieces of polynomials joined under certain continuity conditions.</a:t>
                </a:r>
              </a:p>
              <a:p>
                <a:pPr marL="457200" lvl="1" indent="0">
                  <a:buNone/>
                </a:pPr>
                <a:r>
                  <a:rPr lang="en-US" altLang="zh-TW" sz="2000" dirty="0">
                    <a:solidFill>
                      <a:srgbClr val="00B0F0"/>
                    </a:solidFill>
                  </a:rPr>
                  <a:t>(They are joined at the sample points.)</a:t>
                </a:r>
              </a:p>
              <a:p>
                <a:r>
                  <a:rPr lang="en-US" altLang="zh-TW" dirty="0"/>
                  <a:t>Continuity conditions:</a:t>
                </a:r>
              </a:p>
              <a:p>
                <a:pPr marL="457200" lvl="1" indent="0">
                  <a:buNone/>
                </a:pPr>
                <a:r>
                  <a:rPr lang="en-US" altLang="zh-TW" dirty="0">
                    <a:solidFill>
                      <a:srgbClr val="C00000"/>
                    </a:solidFill>
                  </a:rPr>
                  <a:t>C</a:t>
                </a:r>
                <a:r>
                  <a:rPr lang="en-US" altLang="zh-TW" baseline="30000" dirty="0">
                    <a:solidFill>
                      <a:srgbClr val="C00000"/>
                    </a:solidFill>
                  </a:rPr>
                  <a:t>0</a:t>
                </a:r>
                <a:r>
                  <a:rPr lang="en-US" altLang="zh-TW" dirty="0"/>
                  <a:t>: S</a:t>
                </a:r>
                <a:r>
                  <a:rPr lang="en-US" altLang="zh-TW" baseline="-25000" dirty="0"/>
                  <a:t>i</a:t>
                </a:r>
                <a:r>
                  <a:rPr lang="en-US" altLang="zh-TW" dirty="0"/>
                  <a:t>(t) = S</a:t>
                </a:r>
                <a:r>
                  <a:rPr lang="en-US" altLang="zh-TW" baseline="-25000" dirty="0"/>
                  <a:t>i+1</a:t>
                </a:r>
                <a:r>
                  <a:rPr lang="en-US" altLang="zh-TW" dirty="0"/>
                  <a:t>(t) at the joint </a:t>
                </a:r>
                <a:r>
                  <a:rPr lang="en-US" altLang="zh-TW" i="1" dirty="0"/>
                  <a:t>t</a:t>
                </a:r>
                <a:r>
                  <a:rPr lang="en-US" altLang="zh-TW" dirty="0"/>
                  <a:t>.</a:t>
                </a:r>
              </a:p>
              <a:p>
                <a:pPr marL="457200" lvl="1" indent="0">
                  <a:buNone/>
                </a:pPr>
                <a:r>
                  <a:rPr lang="en-US" altLang="zh-TW" dirty="0">
                    <a:solidFill>
                      <a:srgbClr val="FF0000"/>
                    </a:solidFill>
                  </a:rPr>
                  <a:t>C</a:t>
                </a:r>
                <a:r>
                  <a:rPr lang="en-US" altLang="zh-TW" baseline="30000" dirty="0">
                    <a:solidFill>
                      <a:srgbClr val="FF0000"/>
                    </a:solidFill>
                  </a:rPr>
                  <a:t>1</a:t>
                </a:r>
                <a:r>
                  <a:rPr lang="en-US" altLang="zh-TW" dirty="0"/>
                  <a:t>: C</a:t>
                </a:r>
                <a:r>
                  <a:rPr lang="en-US" altLang="zh-TW" baseline="30000" dirty="0"/>
                  <a:t>0</a:t>
                </a:r>
                <a:r>
                  <a:rPr lang="en-US" altLang="zh-TW" dirty="0"/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sSub>
                          <m:sSub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  <m:sub/>
                      <m:sup>
                        <m:r>
                          <a:rPr lang="en-US" altLang="zh-TW" b="0" i="1" smtClean="0">
                            <a:latin typeface="Cambria Math"/>
                          </a:rPr>
                          <m:t>′</m:t>
                        </m:r>
                      </m:sup>
                    </m:sSubSup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n-US" altLang="zh-TW" b="0" i="1" smtClean="0">
                        <a:latin typeface="Cambria Math"/>
                      </a:rPr>
                      <m:t>=</m:t>
                    </m:r>
                    <m:sSubSup>
                      <m:sSub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𝑖</m:t>
                            </m:r>
                            <m:r>
                              <a:rPr lang="en-US" altLang="zh-TW" b="0" i="1" smtClean="0">
                                <a:latin typeface="Cambria Math"/>
                              </a:rPr>
                              <m:t>+1</m:t>
                            </m:r>
                          </m:sub>
                        </m:sSub>
                      </m:e>
                      <m:sub/>
                      <m:sup>
                        <m:r>
                          <a:rPr lang="en-US" altLang="zh-TW" b="0" i="1" smtClean="0">
                            <a:latin typeface="Cambria Math"/>
                          </a:rPr>
                          <m:t>′</m:t>
                        </m:r>
                      </m:sup>
                    </m:sSubSup>
                    <m:r>
                      <a:rPr lang="en-US" altLang="zh-TW" b="0" i="1" smtClean="0">
                        <a:latin typeface="Cambria Math"/>
                      </a:rPr>
                      <m:t>(</m:t>
                    </m:r>
                    <m:r>
                      <a:rPr lang="en-US" altLang="zh-TW" b="0" i="1" smtClean="0">
                        <a:latin typeface="Cambria Math"/>
                      </a:rPr>
                      <m:t>𝑡</m:t>
                    </m:r>
                    <m:r>
                      <a:rPr lang="en-US" altLang="zh-TW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altLang="zh-TW" dirty="0"/>
                  <a:t>.</a:t>
                </a:r>
              </a:p>
              <a:p>
                <a:pPr marL="457200" lvl="1" indent="0">
                  <a:buNone/>
                </a:pPr>
                <a:r>
                  <a:rPr lang="en-US" altLang="zh-TW" dirty="0">
                    <a:solidFill>
                      <a:srgbClr val="FFC000"/>
                    </a:solidFill>
                  </a:rPr>
                  <a:t>C</a:t>
                </a:r>
                <a:r>
                  <a:rPr lang="en-US" altLang="zh-TW" baseline="30000" dirty="0">
                    <a:solidFill>
                      <a:srgbClr val="FFC000"/>
                    </a:solidFill>
                  </a:rPr>
                  <a:t>2</a:t>
                </a:r>
                <a:r>
                  <a:rPr lang="en-US" altLang="zh-TW" dirty="0"/>
                  <a:t>: C</a:t>
                </a:r>
                <a:r>
                  <a:rPr lang="en-US" altLang="zh-TW" baseline="30000" dirty="0"/>
                  <a:t>1</a:t>
                </a:r>
                <a:r>
                  <a:rPr lang="en-US" altLang="zh-TW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  <m:sup>
                        <m:r>
                          <a:rPr lang="en-US" altLang="zh-TW" b="0" i="1" smtClean="0">
                            <a:latin typeface="Cambria Math"/>
                          </a:rPr>
                          <m:t>"</m:t>
                        </m:r>
                      </m:sup>
                    </m:sSup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n-US" altLang="zh-TW" b="0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𝑖</m:t>
                            </m:r>
                            <m:r>
                              <a:rPr lang="en-US" altLang="zh-TW" b="0" i="1" smtClean="0">
                                <a:latin typeface="Cambria Math"/>
                              </a:rPr>
                              <m:t>+1</m:t>
                            </m:r>
                          </m:sub>
                        </m:sSub>
                      </m:e>
                      <m:sup>
                        <m:r>
                          <a:rPr lang="en-US" altLang="zh-TW" b="0" i="1" smtClean="0">
                            <a:latin typeface="Cambria Math"/>
                          </a:rPr>
                          <m:t>"</m:t>
                        </m:r>
                      </m:sup>
                    </m:sSup>
                    <m:r>
                      <a:rPr lang="en-US" altLang="zh-TW" b="0" i="1" smtClean="0">
                        <a:latin typeface="Cambria Math"/>
                      </a:rPr>
                      <m:t>(</m:t>
                    </m:r>
                    <m:r>
                      <a:rPr lang="en-US" altLang="zh-TW" b="0" i="1" smtClean="0">
                        <a:latin typeface="Cambria Math"/>
                      </a:rPr>
                      <m:t>𝑡</m:t>
                    </m:r>
                    <m:r>
                      <a:rPr lang="en-US" altLang="zh-TW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altLang="zh-TW" dirty="0"/>
                  <a:t>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199" y="1600200"/>
                <a:ext cx="4501159" cy="4525963"/>
              </a:xfrm>
              <a:blipFill>
                <a:blip r:embed="rId2"/>
                <a:stretch>
                  <a:fillRect l="-2439" t="-2426" r="-230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5004046" y="2060848"/>
            <a:ext cx="3682753" cy="4065315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altLang="zh-TW" dirty="0">
                <a:solidFill>
                  <a:srgbClr val="00B0F0"/>
                </a:solidFill>
              </a:rPr>
              <a:t>A spline of 3 pieces</a:t>
            </a:r>
            <a:endParaRPr lang="zh-TW" altLang="en-US" dirty="0">
              <a:solidFill>
                <a:srgbClr val="00B0F0"/>
              </a:solidFill>
            </a:endParaRPr>
          </a:p>
        </p:txBody>
      </p:sp>
      <p:cxnSp>
        <p:nvCxnSpPr>
          <p:cNvPr id="6" name="直線接點 5"/>
          <p:cNvCxnSpPr/>
          <p:nvPr/>
        </p:nvCxnSpPr>
        <p:spPr>
          <a:xfrm>
            <a:off x="5004048" y="4149080"/>
            <a:ext cx="34563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 flipV="1">
            <a:off x="5004048" y="3645024"/>
            <a:ext cx="0" cy="504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 flipV="1">
            <a:off x="5940152" y="3140968"/>
            <a:ext cx="0" cy="10081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 flipV="1">
            <a:off x="7236296" y="3429000"/>
            <a:ext cx="0" cy="7200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 flipV="1">
            <a:off x="8460432" y="3573016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手繪多邊形 14"/>
          <p:cNvSpPr/>
          <p:nvPr/>
        </p:nvSpPr>
        <p:spPr>
          <a:xfrm>
            <a:off x="4991100" y="3152775"/>
            <a:ext cx="962025" cy="600275"/>
          </a:xfrm>
          <a:custGeom>
            <a:avLst/>
            <a:gdLst>
              <a:gd name="connsiteX0" fmla="*/ 0 w 962025"/>
              <a:gd name="connsiteY0" fmla="*/ 504825 h 600275"/>
              <a:gd name="connsiteX1" fmla="*/ 504825 w 962025"/>
              <a:gd name="connsiteY1" fmla="*/ 561975 h 600275"/>
              <a:gd name="connsiteX2" fmla="*/ 962025 w 962025"/>
              <a:gd name="connsiteY2" fmla="*/ 0 h 600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62025" h="600275">
                <a:moveTo>
                  <a:pt x="0" y="504825"/>
                </a:moveTo>
                <a:cubicBezTo>
                  <a:pt x="172244" y="575468"/>
                  <a:pt x="344488" y="646112"/>
                  <a:pt x="504825" y="561975"/>
                </a:cubicBezTo>
                <a:cubicBezTo>
                  <a:pt x="665162" y="477838"/>
                  <a:pt x="813593" y="238919"/>
                  <a:pt x="962025" y="0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手繪多邊形 15"/>
          <p:cNvSpPr/>
          <p:nvPr/>
        </p:nvSpPr>
        <p:spPr>
          <a:xfrm>
            <a:off x="5960665" y="2933684"/>
            <a:ext cx="1308373" cy="495316"/>
          </a:xfrm>
          <a:custGeom>
            <a:avLst/>
            <a:gdLst>
              <a:gd name="connsiteX0" fmla="*/ 0 w 1276350"/>
              <a:gd name="connsiteY0" fmla="*/ 219091 h 495316"/>
              <a:gd name="connsiteX1" fmla="*/ 400050 w 1276350"/>
              <a:gd name="connsiteY1" fmla="*/ 16 h 495316"/>
              <a:gd name="connsiteX2" fmla="*/ 914400 w 1276350"/>
              <a:gd name="connsiteY2" fmla="*/ 228616 h 495316"/>
              <a:gd name="connsiteX3" fmla="*/ 1276350 w 1276350"/>
              <a:gd name="connsiteY3" fmla="*/ 495316 h 495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6350" h="495316">
                <a:moveTo>
                  <a:pt x="0" y="219091"/>
                </a:moveTo>
                <a:cubicBezTo>
                  <a:pt x="123825" y="108760"/>
                  <a:pt x="247650" y="-1571"/>
                  <a:pt x="400050" y="16"/>
                </a:cubicBezTo>
                <a:cubicBezTo>
                  <a:pt x="552450" y="1603"/>
                  <a:pt x="768350" y="146066"/>
                  <a:pt x="914400" y="228616"/>
                </a:cubicBezTo>
                <a:cubicBezTo>
                  <a:pt x="1060450" y="311166"/>
                  <a:pt x="1168400" y="403241"/>
                  <a:pt x="1276350" y="495316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手繪多邊形 16"/>
          <p:cNvSpPr/>
          <p:nvPr/>
        </p:nvSpPr>
        <p:spPr>
          <a:xfrm>
            <a:off x="7236296" y="3400425"/>
            <a:ext cx="1209675" cy="389520"/>
          </a:xfrm>
          <a:custGeom>
            <a:avLst/>
            <a:gdLst>
              <a:gd name="connsiteX0" fmla="*/ 0 w 1209675"/>
              <a:gd name="connsiteY0" fmla="*/ 0 h 389520"/>
              <a:gd name="connsiteX1" fmla="*/ 657225 w 1209675"/>
              <a:gd name="connsiteY1" fmla="*/ 361950 h 389520"/>
              <a:gd name="connsiteX2" fmla="*/ 942975 w 1209675"/>
              <a:gd name="connsiteY2" fmla="*/ 342900 h 389520"/>
              <a:gd name="connsiteX3" fmla="*/ 1209675 w 1209675"/>
              <a:gd name="connsiteY3" fmla="*/ 171450 h 389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09675" h="389520">
                <a:moveTo>
                  <a:pt x="0" y="0"/>
                </a:moveTo>
                <a:cubicBezTo>
                  <a:pt x="250031" y="152400"/>
                  <a:pt x="500063" y="304800"/>
                  <a:pt x="657225" y="361950"/>
                </a:cubicBezTo>
                <a:cubicBezTo>
                  <a:pt x="814387" y="419100"/>
                  <a:pt x="850900" y="374650"/>
                  <a:pt x="942975" y="342900"/>
                </a:cubicBezTo>
                <a:cubicBezTo>
                  <a:pt x="1035050" y="311150"/>
                  <a:pt x="1122362" y="241300"/>
                  <a:pt x="1209675" y="17145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/>
          <p:cNvSpPr txBox="1"/>
          <p:nvPr/>
        </p:nvSpPr>
        <p:spPr>
          <a:xfrm>
            <a:off x="5022701" y="3378187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S</a:t>
            </a:r>
            <a:r>
              <a:rPr lang="en-US" altLang="zh-TW" baseline="-25000" dirty="0">
                <a:solidFill>
                  <a:srgbClr val="FF0000"/>
                </a:solidFill>
              </a:rPr>
              <a:t>0</a:t>
            </a:r>
            <a:r>
              <a:rPr lang="en-US" altLang="zh-TW" dirty="0">
                <a:solidFill>
                  <a:srgbClr val="FF0000"/>
                </a:solidFill>
              </a:rPr>
              <a:t>(t)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6063555" y="2636912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00B050"/>
                </a:solidFill>
              </a:rPr>
              <a:t>S</a:t>
            </a:r>
            <a:r>
              <a:rPr lang="en-US" altLang="zh-TW" baseline="-25000" dirty="0">
                <a:solidFill>
                  <a:srgbClr val="00B050"/>
                </a:solidFill>
              </a:rPr>
              <a:t>1</a:t>
            </a:r>
            <a:r>
              <a:rPr lang="en-US" altLang="zh-TW" dirty="0">
                <a:solidFill>
                  <a:srgbClr val="00B050"/>
                </a:solidFill>
              </a:rPr>
              <a:t>(t)</a:t>
            </a:r>
            <a:endParaRPr lang="zh-TW" altLang="en-US" dirty="0">
              <a:solidFill>
                <a:srgbClr val="00B050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7662961" y="3378179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S</a:t>
            </a:r>
            <a:r>
              <a:rPr lang="en-US" altLang="zh-TW" baseline="-25000" dirty="0"/>
              <a:t>2</a:t>
            </a:r>
            <a:r>
              <a:rPr lang="en-US" altLang="zh-TW" dirty="0"/>
              <a:t>(t)</a:t>
            </a:r>
            <a:endParaRPr lang="zh-TW" altLang="en-US" dirty="0"/>
          </a:p>
        </p:txBody>
      </p:sp>
      <p:sp>
        <p:nvSpPr>
          <p:cNvPr id="22" name="投影片編號版面配置區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2168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Cubic Splines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199" y="1600200"/>
                <a:ext cx="4349673" cy="4525963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dirty="0"/>
                  <a:t>What is a cubic spline?</a:t>
                </a:r>
              </a:p>
              <a:p>
                <a:pPr lvl="1"/>
                <a:r>
                  <a:rPr lang="en-US" altLang="zh-TW" dirty="0"/>
                  <a:t>It consists of pieces of cubic polynomials (</a:t>
                </a:r>
                <a:r>
                  <a:rPr lang="zh-TW" altLang="en-US" dirty="0"/>
                  <a:t>三次</a:t>
                </a:r>
                <a:r>
                  <a:rPr lang="en-US" altLang="zh-TW" dirty="0"/>
                  <a:t>).</a:t>
                </a:r>
              </a:p>
              <a:p>
                <a:r>
                  <a:rPr lang="en-US" altLang="zh-TW" dirty="0"/>
                  <a:t>General form: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altLang="zh-TW" b="0" i="1" smtClean="0">
                        <a:solidFill>
                          <a:srgbClr val="C00000"/>
                        </a:solidFill>
                        <a:latin typeface="Cambria Math"/>
                      </a:rPr>
                      <m:t>(</m:t>
                    </m:r>
                    <m:r>
                      <a:rPr lang="en-US" altLang="zh-TW" b="0" i="1" smtClean="0">
                        <a:solidFill>
                          <a:srgbClr val="C00000"/>
                        </a:solidFill>
                        <a:latin typeface="Cambria Math"/>
                      </a:rPr>
                      <m:t>𝑡</m:t>
                    </m:r>
                    <m:r>
                      <a:rPr lang="en-US" altLang="zh-TW" b="0" i="1" smtClean="0">
                        <a:solidFill>
                          <a:srgbClr val="C00000"/>
                        </a:solidFill>
                        <a:latin typeface="Cambria Math"/>
                      </a:rPr>
                      <m:t>)≡</m:t>
                    </m:r>
                    <m:sSub>
                      <m:sSubPr>
                        <m:ctrlP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  <m:sSup>
                      <m:sSupPr>
                        <m:ctrlP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𝑡</m:t>
                        </m:r>
                      </m:e>
                      <m:sup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a:rPr lang="en-US" altLang="zh-TW" b="0" i="1" smtClean="0">
                        <a:solidFill>
                          <a:srgbClr val="C00000"/>
                        </a:solidFill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Sup>
                          <m:sSubSupPr>
                            <m:ctrlPr>
                              <a:rPr lang="en-US" altLang="zh-TW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b="0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𝑡</m:t>
                            </m:r>
                          </m:e>
                          <m:sub/>
                          <m:sup>
                            <m:r>
                              <a:rPr lang="en-US" altLang="zh-TW" b="0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altLang="zh-TW" b="0" i="1" smtClean="0">
                        <a:solidFill>
                          <a:srgbClr val="C00000"/>
                        </a:solidFill>
                        <a:latin typeface="Cambria Math"/>
                      </a:rPr>
                      <m:t>𝑡</m:t>
                    </m:r>
                    <m:r>
                      <a:rPr lang="en-US" altLang="zh-TW" b="0" i="1" smtClean="0">
                        <a:solidFill>
                          <a:srgbClr val="C00000"/>
                        </a:solidFill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>
                    <a:solidFill>
                      <a:srgbClr val="C00000"/>
                    </a:solidFill>
                  </a:rPr>
                  <a:t> </a:t>
                </a:r>
              </a:p>
              <a:p>
                <a:pPr lvl="1"/>
                <a:r>
                  <a:rPr lang="en-US" altLang="zh-TW" dirty="0"/>
                  <a:t>variable </a:t>
                </a:r>
                <a:r>
                  <a:rPr lang="en-US" altLang="zh-TW" i="1" dirty="0"/>
                  <a:t>t</a:t>
                </a:r>
                <a:r>
                  <a:rPr lang="en-US" altLang="zh-TW" dirty="0"/>
                  <a:t> is a parameter.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altLang="zh-TW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𝑡</m:t>
                    </m:r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≤</m:t>
                    </m:r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altLang="zh-TW" dirty="0"/>
                  <a:t>.</a:t>
                </a:r>
              </a:p>
              <a:p>
                <a:pPr lvl="1"/>
                <a:r>
                  <a:rPr lang="en-US" altLang="zh-TW" i="1" dirty="0"/>
                  <a:t>S</a:t>
                </a:r>
                <a:r>
                  <a:rPr lang="en-US" altLang="zh-TW" i="1" baseline="-25000" dirty="0"/>
                  <a:t>i</a:t>
                </a:r>
                <a:r>
                  <a:rPr lang="en-US" altLang="zh-TW" i="1" dirty="0"/>
                  <a:t>(t)</a:t>
                </a:r>
                <a:r>
                  <a:rPr lang="en-US" altLang="zh-TW" dirty="0"/>
                  <a:t> is the </a:t>
                </a:r>
                <a:r>
                  <a:rPr lang="en-US" altLang="zh-TW" dirty="0" err="1"/>
                  <a:t>i-th</a:t>
                </a:r>
                <a:r>
                  <a:rPr lang="en-US" altLang="zh-TW" dirty="0"/>
                  <a:t> piece.</a:t>
                </a:r>
              </a:p>
              <a:p>
                <a:pPr lvl="1"/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199" y="1600200"/>
                <a:ext cx="4349673" cy="4525963"/>
              </a:xfrm>
              <a:blipFill>
                <a:blip r:embed="rId3"/>
                <a:stretch>
                  <a:fillRect l="-2521" t="-14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859836" y="1916832"/>
            <a:ext cx="3826964" cy="420933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zh-TW" sz="2400" dirty="0">
                <a:solidFill>
                  <a:srgbClr val="002060"/>
                </a:solidFill>
              </a:rPr>
              <a:t>A spline of 3 pieces.</a:t>
            </a:r>
            <a:endParaRPr lang="zh-TW" altLang="en-US" sz="2400" dirty="0">
              <a:solidFill>
                <a:srgbClr val="002060"/>
              </a:solidFill>
            </a:endParaRPr>
          </a:p>
        </p:txBody>
      </p:sp>
      <p:cxnSp>
        <p:nvCxnSpPr>
          <p:cNvPr id="6" name="直線接點 5"/>
          <p:cNvCxnSpPr/>
          <p:nvPr/>
        </p:nvCxnSpPr>
        <p:spPr>
          <a:xfrm>
            <a:off x="5004048" y="4149080"/>
            <a:ext cx="34563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 flipV="1">
            <a:off x="5004048" y="3645024"/>
            <a:ext cx="0" cy="504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 flipV="1">
            <a:off x="5940152" y="3140968"/>
            <a:ext cx="0" cy="10081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 flipV="1">
            <a:off x="7236296" y="3429000"/>
            <a:ext cx="0" cy="7200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 flipV="1">
            <a:off x="8460432" y="3573016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手繪多邊形 14"/>
          <p:cNvSpPr/>
          <p:nvPr/>
        </p:nvSpPr>
        <p:spPr>
          <a:xfrm>
            <a:off x="4991100" y="3152775"/>
            <a:ext cx="962025" cy="600275"/>
          </a:xfrm>
          <a:custGeom>
            <a:avLst/>
            <a:gdLst>
              <a:gd name="connsiteX0" fmla="*/ 0 w 962025"/>
              <a:gd name="connsiteY0" fmla="*/ 504825 h 600275"/>
              <a:gd name="connsiteX1" fmla="*/ 504825 w 962025"/>
              <a:gd name="connsiteY1" fmla="*/ 561975 h 600275"/>
              <a:gd name="connsiteX2" fmla="*/ 962025 w 962025"/>
              <a:gd name="connsiteY2" fmla="*/ 0 h 600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62025" h="600275">
                <a:moveTo>
                  <a:pt x="0" y="504825"/>
                </a:moveTo>
                <a:cubicBezTo>
                  <a:pt x="172244" y="575468"/>
                  <a:pt x="344488" y="646112"/>
                  <a:pt x="504825" y="561975"/>
                </a:cubicBezTo>
                <a:cubicBezTo>
                  <a:pt x="665162" y="477838"/>
                  <a:pt x="813593" y="238919"/>
                  <a:pt x="962025" y="0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手繪多邊形 15"/>
          <p:cNvSpPr/>
          <p:nvPr/>
        </p:nvSpPr>
        <p:spPr>
          <a:xfrm>
            <a:off x="5960665" y="2933684"/>
            <a:ext cx="1308373" cy="495316"/>
          </a:xfrm>
          <a:custGeom>
            <a:avLst/>
            <a:gdLst>
              <a:gd name="connsiteX0" fmla="*/ 0 w 1276350"/>
              <a:gd name="connsiteY0" fmla="*/ 219091 h 495316"/>
              <a:gd name="connsiteX1" fmla="*/ 400050 w 1276350"/>
              <a:gd name="connsiteY1" fmla="*/ 16 h 495316"/>
              <a:gd name="connsiteX2" fmla="*/ 914400 w 1276350"/>
              <a:gd name="connsiteY2" fmla="*/ 228616 h 495316"/>
              <a:gd name="connsiteX3" fmla="*/ 1276350 w 1276350"/>
              <a:gd name="connsiteY3" fmla="*/ 495316 h 495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6350" h="495316">
                <a:moveTo>
                  <a:pt x="0" y="219091"/>
                </a:moveTo>
                <a:cubicBezTo>
                  <a:pt x="123825" y="108760"/>
                  <a:pt x="247650" y="-1571"/>
                  <a:pt x="400050" y="16"/>
                </a:cubicBezTo>
                <a:cubicBezTo>
                  <a:pt x="552450" y="1603"/>
                  <a:pt x="768350" y="146066"/>
                  <a:pt x="914400" y="228616"/>
                </a:cubicBezTo>
                <a:cubicBezTo>
                  <a:pt x="1060450" y="311166"/>
                  <a:pt x="1168400" y="403241"/>
                  <a:pt x="1276350" y="495316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手繪多邊形 16"/>
          <p:cNvSpPr/>
          <p:nvPr/>
        </p:nvSpPr>
        <p:spPr>
          <a:xfrm>
            <a:off x="7236296" y="3400425"/>
            <a:ext cx="1209675" cy="389520"/>
          </a:xfrm>
          <a:custGeom>
            <a:avLst/>
            <a:gdLst>
              <a:gd name="connsiteX0" fmla="*/ 0 w 1209675"/>
              <a:gd name="connsiteY0" fmla="*/ 0 h 389520"/>
              <a:gd name="connsiteX1" fmla="*/ 657225 w 1209675"/>
              <a:gd name="connsiteY1" fmla="*/ 361950 h 389520"/>
              <a:gd name="connsiteX2" fmla="*/ 942975 w 1209675"/>
              <a:gd name="connsiteY2" fmla="*/ 342900 h 389520"/>
              <a:gd name="connsiteX3" fmla="*/ 1209675 w 1209675"/>
              <a:gd name="connsiteY3" fmla="*/ 171450 h 389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09675" h="389520">
                <a:moveTo>
                  <a:pt x="0" y="0"/>
                </a:moveTo>
                <a:cubicBezTo>
                  <a:pt x="250031" y="152400"/>
                  <a:pt x="500063" y="304800"/>
                  <a:pt x="657225" y="361950"/>
                </a:cubicBezTo>
                <a:cubicBezTo>
                  <a:pt x="814387" y="419100"/>
                  <a:pt x="850900" y="374650"/>
                  <a:pt x="942975" y="342900"/>
                </a:cubicBezTo>
                <a:cubicBezTo>
                  <a:pt x="1035050" y="311150"/>
                  <a:pt x="1122362" y="241300"/>
                  <a:pt x="1209675" y="17145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/>
          <p:cNvSpPr txBox="1"/>
          <p:nvPr/>
        </p:nvSpPr>
        <p:spPr>
          <a:xfrm>
            <a:off x="5022701" y="3378187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S</a:t>
            </a:r>
            <a:r>
              <a:rPr lang="en-US" altLang="zh-TW" baseline="-25000" dirty="0">
                <a:solidFill>
                  <a:srgbClr val="FF0000"/>
                </a:solidFill>
              </a:rPr>
              <a:t>0</a:t>
            </a:r>
            <a:r>
              <a:rPr lang="en-US" altLang="zh-TW" dirty="0">
                <a:solidFill>
                  <a:srgbClr val="FF0000"/>
                </a:solidFill>
              </a:rPr>
              <a:t>(t)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6063555" y="2636912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00B050"/>
                </a:solidFill>
              </a:rPr>
              <a:t>S</a:t>
            </a:r>
            <a:r>
              <a:rPr lang="en-US" altLang="zh-TW" baseline="-25000" dirty="0">
                <a:solidFill>
                  <a:srgbClr val="00B050"/>
                </a:solidFill>
              </a:rPr>
              <a:t>1</a:t>
            </a:r>
            <a:r>
              <a:rPr lang="en-US" altLang="zh-TW" dirty="0">
                <a:solidFill>
                  <a:srgbClr val="00B050"/>
                </a:solidFill>
              </a:rPr>
              <a:t>(t)</a:t>
            </a:r>
            <a:endParaRPr lang="zh-TW" altLang="en-US" dirty="0">
              <a:solidFill>
                <a:srgbClr val="00B050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7662961" y="3378179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S</a:t>
            </a:r>
            <a:r>
              <a:rPr lang="en-US" altLang="zh-TW" baseline="-25000" dirty="0"/>
              <a:t>2</a:t>
            </a:r>
            <a:r>
              <a:rPr lang="en-US" altLang="zh-TW" dirty="0"/>
              <a:t>(t)</a:t>
            </a:r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7073431" y="4163516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</a:t>
            </a:r>
            <a:r>
              <a:rPr lang="en-US" altLang="zh-TW" baseline="-25000" dirty="0"/>
              <a:t>2</a:t>
            </a:r>
            <a:endParaRPr lang="zh-TW" altLang="en-US" baseline="-25000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5777287" y="4163516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</a:t>
            </a:r>
            <a:r>
              <a:rPr lang="en-US" altLang="zh-TW" baseline="-25000" dirty="0"/>
              <a:t>1</a:t>
            </a:r>
            <a:endParaRPr lang="zh-TW" altLang="en-US" baseline="-25000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4859836" y="4156298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</a:t>
            </a:r>
            <a:r>
              <a:rPr lang="en-US" altLang="zh-TW" baseline="-25000" dirty="0"/>
              <a:t>0</a:t>
            </a:r>
            <a:endParaRPr lang="zh-TW" altLang="en-US" baseline="-25000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8270820" y="4166914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</a:t>
            </a:r>
            <a:r>
              <a:rPr lang="en-US" altLang="zh-TW" baseline="-25000" dirty="0"/>
              <a:t>3</a:t>
            </a:r>
            <a:endParaRPr lang="zh-TW" altLang="en-US" baseline="-25000" dirty="0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7627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Natural Cubic Splines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349749" cy="4525963"/>
          </a:xfrm>
        </p:spPr>
        <p:txBody>
          <a:bodyPr/>
          <a:lstStyle/>
          <a:p>
            <a:r>
              <a:rPr lang="en-US" altLang="zh-TW" dirty="0"/>
              <a:t>Required conditions:</a:t>
            </a:r>
          </a:p>
          <a:p>
            <a:pPr lvl="1"/>
            <a:r>
              <a:rPr lang="en-US" altLang="zh-TW" dirty="0"/>
              <a:t>Assume there are n+1 samples {(</a:t>
            </a:r>
            <a:r>
              <a:rPr lang="en-US" altLang="zh-TW" i="1" dirty="0" err="1"/>
              <a:t>t</a:t>
            </a:r>
            <a:r>
              <a:rPr lang="en-US" altLang="zh-TW" i="1" baseline="-25000" dirty="0" err="1"/>
              <a:t>i</a:t>
            </a:r>
            <a:r>
              <a:rPr lang="en-US" altLang="zh-TW" i="1" dirty="0"/>
              <a:t>, f</a:t>
            </a:r>
            <a:r>
              <a:rPr lang="en-US" altLang="zh-TW" i="1" baseline="-25000" dirty="0"/>
              <a:t>i</a:t>
            </a:r>
            <a:r>
              <a:rPr lang="en-US" altLang="zh-TW" dirty="0"/>
              <a:t>)}, 0 </a:t>
            </a:r>
            <a:r>
              <a:rPr lang="en-US" altLang="zh-TW" dirty="0">
                <a:latin typeface="Times New Roman"/>
                <a:cs typeface="Times New Roman"/>
              </a:rPr>
              <a:t>≤ </a:t>
            </a:r>
            <a:r>
              <a:rPr lang="en-US" altLang="zh-TW" i="1" dirty="0" err="1">
                <a:latin typeface="Times New Roman"/>
                <a:cs typeface="Times New Roman"/>
              </a:rPr>
              <a:t>i</a:t>
            </a:r>
            <a:r>
              <a:rPr lang="en-US" altLang="zh-TW" dirty="0">
                <a:latin typeface="Times New Roman"/>
                <a:cs typeface="Times New Roman"/>
              </a:rPr>
              <a:t> ≤ n.</a:t>
            </a:r>
          </a:p>
          <a:p>
            <a:pPr lvl="1"/>
            <a:r>
              <a:rPr lang="en-US" altLang="zh-TW" dirty="0"/>
              <a:t>There are n pieces of polynomials, </a:t>
            </a:r>
            <a:r>
              <a:rPr lang="en-US" altLang="zh-TW" i="1" dirty="0"/>
              <a:t>S</a:t>
            </a:r>
            <a:r>
              <a:rPr lang="en-US" altLang="zh-TW" i="1" baseline="-25000" dirty="0"/>
              <a:t>i</a:t>
            </a:r>
            <a:r>
              <a:rPr lang="en-US" altLang="zh-TW" i="1" dirty="0"/>
              <a:t>(t)</a:t>
            </a:r>
            <a:r>
              <a:rPr lang="en-US" altLang="zh-TW" dirty="0"/>
              <a:t>.</a:t>
            </a:r>
            <a:endParaRPr lang="zh-TW" altLang="en-US" dirty="0"/>
          </a:p>
          <a:p>
            <a:pPr lvl="1"/>
            <a:r>
              <a:rPr lang="en-US" altLang="zh-TW" i="1" dirty="0">
                <a:solidFill>
                  <a:prstClr val="black"/>
                </a:solidFill>
              </a:rPr>
              <a:t>C</a:t>
            </a:r>
            <a:r>
              <a:rPr lang="en-US" altLang="zh-TW" i="1" baseline="30000" dirty="0">
                <a:solidFill>
                  <a:prstClr val="black"/>
                </a:solidFill>
              </a:rPr>
              <a:t>2</a:t>
            </a:r>
            <a:r>
              <a:rPr lang="en-US" altLang="zh-TW" i="1" dirty="0">
                <a:solidFill>
                  <a:prstClr val="black"/>
                </a:solidFill>
              </a:rPr>
              <a:t> </a:t>
            </a:r>
            <a:r>
              <a:rPr lang="en-US" altLang="zh-TW" dirty="0">
                <a:solidFill>
                  <a:prstClr val="black"/>
                </a:solidFill>
              </a:rPr>
              <a:t>continuity at the joints </a:t>
            </a:r>
            <a:r>
              <a:rPr lang="en-US" altLang="zh-TW" i="1" dirty="0" err="1">
                <a:solidFill>
                  <a:prstClr val="black"/>
                </a:solidFill>
              </a:rPr>
              <a:t>t</a:t>
            </a:r>
            <a:r>
              <a:rPr lang="en-US" altLang="zh-TW" i="1" baseline="-25000" dirty="0" err="1">
                <a:solidFill>
                  <a:prstClr val="black"/>
                </a:solidFill>
              </a:rPr>
              <a:t>i</a:t>
            </a:r>
            <a:r>
              <a:rPr lang="en-US" altLang="zh-TW" dirty="0">
                <a:solidFill>
                  <a:prstClr val="black"/>
                </a:solidFill>
              </a:rPr>
              <a:t>, 1</a:t>
            </a:r>
            <a:r>
              <a:rPr lang="en-US" altLang="zh-TW" dirty="0">
                <a:solidFill>
                  <a:prstClr val="black"/>
                </a:solidFill>
                <a:latin typeface="Times New Roman"/>
                <a:cs typeface="Times New Roman"/>
              </a:rPr>
              <a:t>≤ </a:t>
            </a:r>
            <a:r>
              <a:rPr lang="en-US" altLang="zh-TW" i="1" dirty="0" err="1">
                <a:solidFill>
                  <a:prstClr val="black"/>
                </a:solidFill>
                <a:latin typeface="Times New Roman"/>
                <a:cs typeface="Times New Roman"/>
              </a:rPr>
              <a:t>i</a:t>
            </a:r>
            <a:r>
              <a:rPr lang="en-US" altLang="zh-TW" dirty="0">
                <a:solidFill>
                  <a:prstClr val="black"/>
                </a:solidFill>
                <a:latin typeface="Times New Roman"/>
                <a:cs typeface="Times New Roman"/>
              </a:rPr>
              <a:t> ≤</a:t>
            </a:r>
            <a:r>
              <a:rPr lang="en-US" altLang="zh-TW" dirty="0">
                <a:solidFill>
                  <a:prstClr val="black"/>
                </a:solidFill>
              </a:rPr>
              <a:t> n.</a:t>
            </a:r>
          </a:p>
          <a:p>
            <a:pPr lvl="1"/>
            <a:r>
              <a:rPr lang="en-US" altLang="zh-TW" i="1" dirty="0">
                <a:solidFill>
                  <a:srgbClr val="C00000"/>
                </a:solidFill>
              </a:rPr>
              <a:t>S</a:t>
            </a:r>
            <a:r>
              <a:rPr lang="en-US" altLang="zh-TW" i="1" baseline="-25000" dirty="0">
                <a:solidFill>
                  <a:srgbClr val="C00000"/>
                </a:solidFill>
              </a:rPr>
              <a:t>0</a:t>
            </a:r>
            <a:r>
              <a:rPr lang="en-US" altLang="zh-TW" i="1" dirty="0">
                <a:solidFill>
                  <a:srgbClr val="C00000"/>
                </a:solidFill>
              </a:rPr>
              <a:t>”(t</a:t>
            </a:r>
            <a:r>
              <a:rPr lang="en-US" altLang="zh-TW" i="1" baseline="-25000" dirty="0">
                <a:solidFill>
                  <a:srgbClr val="C00000"/>
                </a:solidFill>
              </a:rPr>
              <a:t>0</a:t>
            </a:r>
            <a:r>
              <a:rPr lang="en-US" altLang="zh-TW" i="1" dirty="0">
                <a:solidFill>
                  <a:srgbClr val="C00000"/>
                </a:solidFill>
              </a:rPr>
              <a:t>) </a:t>
            </a:r>
            <a:r>
              <a:rPr lang="en-US" altLang="zh-TW" dirty="0">
                <a:solidFill>
                  <a:srgbClr val="C00000"/>
                </a:solidFill>
              </a:rPr>
              <a:t>= </a:t>
            </a:r>
            <a:r>
              <a:rPr lang="en-US" altLang="zh-TW" i="1" dirty="0">
                <a:solidFill>
                  <a:srgbClr val="C00000"/>
                </a:solidFill>
              </a:rPr>
              <a:t>S</a:t>
            </a:r>
            <a:r>
              <a:rPr lang="en-US" altLang="zh-TW" i="1" baseline="-25000" dirty="0">
                <a:solidFill>
                  <a:srgbClr val="C00000"/>
                </a:solidFill>
              </a:rPr>
              <a:t>n</a:t>
            </a:r>
            <a:r>
              <a:rPr lang="en-US" altLang="zh-TW" i="1" dirty="0">
                <a:solidFill>
                  <a:srgbClr val="C00000"/>
                </a:solidFill>
              </a:rPr>
              <a:t>”(</a:t>
            </a:r>
            <a:r>
              <a:rPr lang="en-US" altLang="zh-TW" i="1" dirty="0" err="1">
                <a:solidFill>
                  <a:srgbClr val="C00000"/>
                </a:solidFill>
              </a:rPr>
              <a:t>t</a:t>
            </a:r>
            <a:r>
              <a:rPr lang="en-US" altLang="zh-TW" i="1" baseline="-25000" dirty="0" err="1">
                <a:solidFill>
                  <a:srgbClr val="C00000"/>
                </a:solidFill>
              </a:rPr>
              <a:t>n</a:t>
            </a:r>
            <a:r>
              <a:rPr lang="en-US" altLang="zh-TW" i="1" dirty="0">
                <a:solidFill>
                  <a:srgbClr val="C00000"/>
                </a:solidFill>
              </a:rPr>
              <a:t>) </a:t>
            </a:r>
            <a:r>
              <a:rPr lang="en-US" altLang="zh-TW" dirty="0">
                <a:solidFill>
                  <a:srgbClr val="C00000"/>
                </a:solidFill>
              </a:rPr>
              <a:t>= 0.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5004048" y="1959432"/>
            <a:ext cx="3682752" cy="4166731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zh-TW" sz="2400" dirty="0">
                <a:solidFill>
                  <a:srgbClr val="002060"/>
                </a:solidFill>
              </a:rPr>
              <a:t>The input data:</a:t>
            </a:r>
          </a:p>
          <a:p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5076056" y="2708920"/>
          <a:ext cx="3096346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6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24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24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24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24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39040">
                <a:tc>
                  <a:txBody>
                    <a:bodyPr/>
                    <a:lstStyle/>
                    <a:p>
                      <a:r>
                        <a:rPr lang="en-US" altLang="zh-TW" dirty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t</a:t>
                      </a:r>
                      <a:r>
                        <a:rPr lang="en-US" altLang="zh-TW" baseline="-25000" dirty="0"/>
                        <a:t>0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t</a:t>
                      </a:r>
                      <a:r>
                        <a:rPr lang="en-US" altLang="zh-TW" baseline="-25000" dirty="0"/>
                        <a:t>1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t</a:t>
                      </a:r>
                      <a:r>
                        <a:rPr lang="en-US" altLang="zh-TW" baseline="-25000" dirty="0" err="1"/>
                        <a:t>n</a:t>
                      </a:r>
                      <a:endParaRPr lang="zh-TW" altLang="en-US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f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f</a:t>
                      </a:r>
                      <a:r>
                        <a:rPr lang="en-US" altLang="zh-TW" baseline="-25000" dirty="0"/>
                        <a:t>0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f</a:t>
                      </a:r>
                      <a:r>
                        <a:rPr lang="en-US" altLang="zh-TW" baseline="-25000" dirty="0"/>
                        <a:t>1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f</a:t>
                      </a:r>
                      <a:r>
                        <a:rPr lang="en-US" altLang="zh-TW" baseline="-25000" dirty="0" err="1"/>
                        <a:t>n</a:t>
                      </a:r>
                      <a:endParaRPr lang="zh-TW" altLang="en-US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7" name="直線接點 6"/>
          <p:cNvCxnSpPr/>
          <p:nvPr/>
        </p:nvCxnSpPr>
        <p:spPr>
          <a:xfrm>
            <a:off x="5004048" y="5445224"/>
            <a:ext cx="32403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V="1">
            <a:off x="5004048" y="4941168"/>
            <a:ext cx="0" cy="5040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 flipV="1">
            <a:off x="6012160" y="4149080"/>
            <a:ext cx="0" cy="12961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 flipV="1">
            <a:off x="5436096" y="4941168"/>
            <a:ext cx="0" cy="5040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 flipV="1">
            <a:off x="7740352" y="4941168"/>
            <a:ext cx="0" cy="5040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 flipV="1">
            <a:off x="8244408" y="4365104"/>
            <a:ext cx="0" cy="10801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4834771" y="5445224"/>
            <a:ext cx="338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TW" b="1" dirty="0">
                <a:solidFill>
                  <a:srgbClr val="FF0000"/>
                </a:solidFill>
              </a:rPr>
              <a:t>t</a:t>
            </a:r>
            <a:r>
              <a:rPr lang="en-US" altLang="zh-TW" b="1" baseline="-25000" dirty="0">
                <a:solidFill>
                  <a:srgbClr val="FF0000"/>
                </a:solidFill>
              </a:rPr>
              <a:t>0</a:t>
            </a:r>
            <a:endParaRPr lang="zh-TW" altLang="en-US" b="1" baseline="-25000" dirty="0">
              <a:solidFill>
                <a:srgbClr val="FF0000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8071123" y="5445224"/>
            <a:ext cx="3465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TW" b="1" dirty="0" err="1">
                <a:solidFill>
                  <a:srgbClr val="FF0000"/>
                </a:solidFill>
              </a:rPr>
              <a:t>t</a:t>
            </a:r>
            <a:r>
              <a:rPr lang="en-US" altLang="zh-TW" b="1" baseline="-25000" dirty="0" err="1">
                <a:solidFill>
                  <a:srgbClr val="FF0000"/>
                </a:solidFill>
              </a:rPr>
              <a:t>n</a:t>
            </a:r>
            <a:endParaRPr lang="zh-TW" altLang="en-US" b="1" baseline="-25000" dirty="0">
              <a:solidFill>
                <a:srgbClr val="FF0000"/>
              </a:solidFill>
            </a:endParaRPr>
          </a:p>
        </p:txBody>
      </p:sp>
      <p:sp>
        <p:nvSpPr>
          <p:cNvPr id="19" name="投影片編號版面配置區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39300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658962"/>
          </a:xfrm>
        </p:spPr>
        <p:txBody>
          <a:bodyPr/>
          <a:lstStyle/>
          <a:p>
            <a:r>
              <a:rPr lang="en-US" altLang="zh-TW" dirty="0"/>
              <a:t>Interpolation Conditions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內容版面配置區 4"/>
              <p:cNvSpPr>
                <a:spLocks noGrp="1"/>
              </p:cNvSpPr>
              <p:nvPr>
                <p:ph idx="1"/>
              </p:nvPr>
            </p:nvSpPr>
            <p:spPr>
              <a:xfrm>
                <a:off x="3632291" y="332656"/>
                <a:ext cx="5359148" cy="5853113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altLang="zh-TW" dirty="0"/>
                  <a:t>To construct these 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 cubic polynomial, we need </a:t>
                </a:r>
                <a:r>
                  <a:rPr lang="en-US" altLang="zh-TW" i="1" dirty="0"/>
                  <a:t>4*n</a:t>
                </a:r>
                <a:r>
                  <a:rPr lang="en-US" altLang="zh-TW" dirty="0"/>
                  <a:t> conditions. </a:t>
                </a:r>
                <a:r>
                  <a:rPr lang="en-US" altLang="zh-TW" i="1" dirty="0"/>
                  <a:t>S</a:t>
                </a:r>
                <a:r>
                  <a:rPr lang="en-US" altLang="zh-TW" i="1" baseline="-25000" dirty="0"/>
                  <a:t>0</a:t>
                </a:r>
                <a:r>
                  <a:rPr lang="en-US" altLang="zh-TW" i="1" dirty="0"/>
                  <a:t>(t) ~ S</a:t>
                </a:r>
                <a:r>
                  <a:rPr lang="en-US" altLang="zh-TW" i="1" baseline="-25000" dirty="0"/>
                  <a:t>n-1</a:t>
                </a:r>
                <a:r>
                  <a:rPr lang="en-US" altLang="zh-TW" i="1" dirty="0"/>
                  <a:t>(t)</a:t>
                </a:r>
                <a:r>
                  <a:rPr lang="en-US" altLang="zh-TW" dirty="0"/>
                  <a:t>.</a:t>
                </a:r>
              </a:p>
              <a:p>
                <a:r>
                  <a:rPr lang="en-US" altLang="zh-TW" dirty="0"/>
                  <a:t>Why?</a:t>
                </a:r>
              </a:p>
              <a:p>
                <a:pPr lvl="1"/>
                <a:r>
                  <a:rPr lang="en-US" altLang="zh-TW" dirty="0"/>
                  <a:t>A cubic polynomial possesses 4 coefficients.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US" altLang="zh-TW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US" altLang="zh-TW" i="1">
                          <a:solidFill>
                            <a:prstClr val="black"/>
                          </a:solidFill>
                          <a:latin typeface="Cambria Math"/>
                        </a:rPr>
                        <m:t>(</m:t>
                      </m:r>
                      <m:r>
                        <a:rPr lang="en-US" altLang="zh-TW" i="1">
                          <a:solidFill>
                            <a:prstClr val="black"/>
                          </a:solidFill>
                          <a:latin typeface="Cambria Math"/>
                        </a:rPr>
                        <m:t>𝑡</m:t>
                      </m:r>
                      <m:r>
                        <a:rPr lang="en-US" altLang="zh-TW" i="1">
                          <a:solidFill>
                            <a:prstClr val="black"/>
                          </a:solidFill>
                          <a:latin typeface="Cambria Math"/>
                        </a:rPr>
                        <m:t>)≡</m:t>
                      </m:r>
                      <m:sSub>
                        <m:sSubPr>
                          <m:ctrlPr>
                            <a:rPr lang="en-US" altLang="zh-TW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altLang="zh-TW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𝑖</m:t>
                          </m:r>
                        </m:sub>
                      </m:sSub>
                      <m:sSup>
                        <m:sSupPr>
                          <m:ctrlPr>
                            <a:rPr lang="en-US" altLang="zh-TW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𝑡</m:t>
                          </m:r>
                        </m:e>
                        <m:sup>
                          <m:r>
                            <a:rPr lang="en-US" altLang="zh-TW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3</m:t>
                          </m:r>
                        </m:sup>
                      </m:sSup>
                      <m:r>
                        <a:rPr lang="en-US" altLang="zh-TW" i="1">
                          <a:solidFill>
                            <a:prstClr val="black"/>
                          </a:solidFill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altLang="zh-TW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altLang="zh-TW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altLang="zh-TW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Sup>
                            <m:sSubSupPr>
                              <m:ctrlPr>
                                <a:rPr lang="en-US" altLang="zh-TW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𝑡</m:t>
                              </m:r>
                            </m:e>
                            <m:sub/>
                            <m:sup>
                              <m:r>
                                <a:rPr lang="en-US" altLang="zh-TW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TW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altLang="zh-TW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altLang="zh-TW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US" altLang="zh-TW" i="1">
                          <a:solidFill>
                            <a:prstClr val="black"/>
                          </a:solidFill>
                          <a:latin typeface="Cambria Math"/>
                        </a:rPr>
                        <m:t>𝑡</m:t>
                      </m:r>
                      <m:r>
                        <a:rPr lang="en-US" altLang="zh-TW" i="1">
                          <a:solidFill>
                            <a:prstClr val="black"/>
                          </a:solidFill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altLang="zh-TW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altLang="zh-TW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altLang="zh-TW" dirty="0"/>
              </a:p>
              <a:p>
                <a:r>
                  <a:rPr lang="en-US" altLang="zh-TW" dirty="0"/>
                  <a:t>The conditions</a:t>
                </a:r>
              </a:p>
              <a:p>
                <a:pPr lvl="1"/>
                <a:r>
                  <a:rPr lang="en-US" altLang="zh-TW" dirty="0"/>
                  <a:t>2 interpolation conditions for each polynomial </a:t>
                </a:r>
                <a:r>
                  <a:rPr lang="en-US" altLang="zh-TW" i="1" dirty="0"/>
                  <a:t>S(</a:t>
                </a:r>
                <a:r>
                  <a:rPr lang="en-US" altLang="zh-TW" i="1" dirty="0" err="1"/>
                  <a:t>t</a:t>
                </a:r>
                <a:r>
                  <a:rPr lang="en-US" altLang="zh-TW" i="1" baseline="-25000" dirty="0" err="1"/>
                  <a:t>i</a:t>
                </a:r>
                <a:r>
                  <a:rPr lang="en-US" altLang="zh-TW" i="1" dirty="0"/>
                  <a:t>) = f</a:t>
                </a:r>
                <a:r>
                  <a:rPr lang="en-US" altLang="zh-TW" i="1" baseline="-25000" dirty="0"/>
                  <a:t>i</a:t>
                </a:r>
                <a:r>
                  <a:rPr lang="en-US" altLang="zh-TW" dirty="0"/>
                  <a:t>, </a:t>
                </a:r>
                <a:r>
                  <a:rPr lang="en-US" altLang="zh-TW" sz="3200" i="1" dirty="0">
                    <a:solidFill>
                      <a:prstClr val="black"/>
                    </a:solidFill>
                  </a:rPr>
                  <a:t>S(t</a:t>
                </a:r>
                <a:r>
                  <a:rPr lang="en-US" altLang="zh-TW" sz="3200" i="1" baseline="-25000" dirty="0">
                    <a:solidFill>
                      <a:prstClr val="black"/>
                    </a:solidFill>
                  </a:rPr>
                  <a:t>i+1</a:t>
                </a:r>
                <a:r>
                  <a:rPr lang="en-US" altLang="zh-TW" sz="3200" i="1" dirty="0">
                    <a:solidFill>
                      <a:prstClr val="black"/>
                    </a:solidFill>
                  </a:rPr>
                  <a:t>) = f</a:t>
                </a:r>
                <a:r>
                  <a:rPr lang="en-US" altLang="zh-TW" sz="3200" i="1" baseline="-25000" dirty="0">
                    <a:solidFill>
                      <a:prstClr val="black"/>
                    </a:solidFill>
                  </a:rPr>
                  <a:t>i+1 </a:t>
                </a:r>
                <a:r>
                  <a:rPr lang="en-US" altLang="zh-TW" sz="3200" i="1" dirty="0">
                    <a:solidFill>
                      <a:prstClr val="black"/>
                    </a:solidFill>
                  </a:rPr>
                  <a:t>, </a:t>
                </a:r>
                <a:r>
                  <a:rPr lang="en-US" altLang="zh-TW" sz="3200" dirty="0">
                    <a:solidFill>
                      <a:prstClr val="black"/>
                    </a:solidFill>
                  </a:rPr>
                  <a:t>2n conditions.</a:t>
                </a:r>
                <a:endParaRPr lang="en-US" altLang="zh-TW" dirty="0"/>
              </a:p>
              <a:p>
                <a:pPr lvl="1"/>
                <a:r>
                  <a:rPr lang="en-US" altLang="zh-TW" i="1" dirty="0"/>
                  <a:t>C</a:t>
                </a:r>
                <a:r>
                  <a:rPr lang="en-US" altLang="zh-TW" i="1" baseline="30000" dirty="0"/>
                  <a:t>1</a:t>
                </a:r>
                <a:r>
                  <a:rPr lang="en-US" altLang="zh-TW" dirty="0"/>
                  <a:t> and </a:t>
                </a:r>
                <a:r>
                  <a:rPr lang="en-US" altLang="zh-TW" i="1" dirty="0"/>
                  <a:t>C</a:t>
                </a:r>
                <a:r>
                  <a:rPr lang="en-US" altLang="zh-TW" i="1" baseline="30000" dirty="0"/>
                  <a:t>2</a:t>
                </a:r>
                <a:r>
                  <a:rPr lang="en-US" altLang="zh-TW" dirty="0"/>
                  <a:t> continuity conditions at </a:t>
                </a:r>
                <a:r>
                  <a:rPr lang="en-US" altLang="zh-TW" i="1" dirty="0"/>
                  <a:t>t</a:t>
                </a:r>
                <a:r>
                  <a:rPr lang="en-US" altLang="zh-TW" i="1" baseline="-25000" dirty="0"/>
                  <a:t>1</a:t>
                </a:r>
                <a:r>
                  <a:rPr lang="en-US" altLang="zh-TW" i="1" dirty="0"/>
                  <a:t>, t</a:t>
                </a:r>
                <a:r>
                  <a:rPr lang="en-US" altLang="zh-TW" i="1" baseline="-25000" dirty="0"/>
                  <a:t>2</a:t>
                </a:r>
                <a:r>
                  <a:rPr lang="en-US" altLang="zh-TW" i="1" dirty="0"/>
                  <a:t>, …, t</a:t>
                </a:r>
                <a:r>
                  <a:rPr lang="en-US" altLang="zh-TW" i="1" baseline="-25000" dirty="0"/>
                  <a:t>n-1</a:t>
                </a:r>
                <a:r>
                  <a:rPr lang="en-US" altLang="zh-TW" dirty="0"/>
                  <a:t>: </a:t>
                </a:r>
                <a:r>
                  <a:rPr lang="en-US" altLang="zh-TW" i="1" dirty="0"/>
                  <a:t>2(n-1) </a:t>
                </a:r>
                <a:r>
                  <a:rPr lang="en-US" altLang="zh-TW" dirty="0"/>
                  <a:t>conditions.</a:t>
                </a:r>
              </a:p>
              <a:p>
                <a:pPr lvl="1"/>
                <a:r>
                  <a:rPr lang="en-US" altLang="zh-TW" dirty="0">
                    <a:solidFill>
                      <a:prstClr val="black"/>
                    </a:solidFill>
                  </a:rPr>
                  <a:t>The 2</a:t>
                </a:r>
                <a:r>
                  <a:rPr lang="en-US" altLang="zh-TW" baseline="30000" dirty="0">
                    <a:solidFill>
                      <a:prstClr val="black"/>
                    </a:solidFill>
                  </a:rPr>
                  <a:t>nd</a:t>
                </a:r>
                <a:r>
                  <a:rPr lang="en-US" altLang="zh-TW" dirty="0">
                    <a:solidFill>
                      <a:prstClr val="black"/>
                    </a:solidFill>
                  </a:rPr>
                  <a:t> derivative conditions at the 2 ends: </a:t>
                </a:r>
                <a:r>
                  <a:rPr lang="en-US" altLang="zh-TW" i="1" dirty="0">
                    <a:solidFill>
                      <a:prstClr val="black"/>
                    </a:solidFill>
                  </a:rPr>
                  <a:t>S</a:t>
                </a:r>
                <a:r>
                  <a:rPr lang="en-US" altLang="zh-TW" i="1" baseline="-25000" dirty="0">
                    <a:solidFill>
                      <a:prstClr val="black"/>
                    </a:solidFill>
                  </a:rPr>
                  <a:t>0</a:t>
                </a:r>
                <a:r>
                  <a:rPr lang="en-US" altLang="zh-TW" i="1" dirty="0">
                    <a:solidFill>
                      <a:prstClr val="black"/>
                    </a:solidFill>
                  </a:rPr>
                  <a:t>”(t</a:t>
                </a:r>
                <a:r>
                  <a:rPr lang="en-US" altLang="zh-TW" i="1" baseline="-25000" dirty="0">
                    <a:solidFill>
                      <a:prstClr val="black"/>
                    </a:solidFill>
                  </a:rPr>
                  <a:t>0</a:t>
                </a:r>
                <a:r>
                  <a:rPr lang="en-US" altLang="zh-TW" i="1" dirty="0">
                    <a:solidFill>
                      <a:prstClr val="black"/>
                    </a:solidFill>
                  </a:rPr>
                  <a:t>) </a:t>
                </a:r>
                <a:r>
                  <a:rPr lang="en-US" altLang="zh-TW" dirty="0">
                    <a:solidFill>
                      <a:prstClr val="black"/>
                    </a:solidFill>
                  </a:rPr>
                  <a:t>= </a:t>
                </a:r>
                <a:r>
                  <a:rPr lang="en-US" altLang="zh-TW" i="1" dirty="0">
                    <a:solidFill>
                      <a:prstClr val="black"/>
                    </a:solidFill>
                  </a:rPr>
                  <a:t>S</a:t>
                </a:r>
                <a:r>
                  <a:rPr lang="en-US" altLang="zh-TW" i="1" baseline="-25000" dirty="0">
                    <a:solidFill>
                      <a:prstClr val="black"/>
                    </a:solidFill>
                  </a:rPr>
                  <a:t>n</a:t>
                </a:r>
                <a:r>
                  <a:rPr lang="en-US" altLang="zh-TW" i="1" dirty="0">
                    <a:solidFill>
                      <a:prstClr val="black"/>
                    </a:solidFill>
                  </a:rPr>
                  <a:t>”(</a:t>
                </a:r>
                <a:r>
                  <a:rPr lang="en-US" altLang="zh-TW" i="1" dirty="0" err="1">
                    <a:solidFill>
                      <a:prstClr val="black"/>
                    </a:solidFill>
                  </a:rPr>
                  <a:t>t</a:t>
                </a:r>
                <a:r>
                  <a:rPr lang="en-US" altLang="zh-TW" i="1" baseline="-25000" dirty="0" err="1">
                    <a:solidFill>
                      <a:prstClr val="black"/>
                    </a:solidFill>
                  </a:rPr>
                  <a:t>n</a:t>
                </a:r>
                <a:r>
                  <a:rPr lang="en-US" altLang="zh-TW" i="1" dirty="0">
                    <a:solidFill>
                      <a:prstClr val="black"/>
                    </a:solidFill>
                  </a:rPr>
                  <a:t>) </a:t>
                </a:r>
                <a:r>
                  <a:rPr lang="en-US" altLang="zh-TW" dirty="0">
                    <a:solidFill>
                      <a:prstClr val="black"/>
                    </a:solidFill>
                  </a:rPr>
                  <a:t>= 0. 2 conditions.</a:t>
                </a:r>
              </a:p>
              <a:p>
                <a:pPr lvl="1"/>
                <a:r>
                  <a:rPr lang="en-US" altLang="zh-TW" dirty="0">
                    <a:solidFill>
                      <a:prstClr val="black"/>
                    </a:solidFill>
                  </a:rPr>
                  <a:t>Totally, 2n+ 2(n-1) + 2 = 4n conditions.</a:t>
                </a:r>
              </a:p>
              <a:p>
                <a:pPr lvl="1"/>
                <a:endParaRPr lang="zh-TW" altLang="en-US" dirty="0"/>
              </a:p>
            </p:txBody>
          </p:sp>
        </mc:Choice>
        <mc:Fallback xmlns="">
          <p:sp>
            <p:nvSpPr>
              <p:cNvPr id="5" name="內容版面配置區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32291" y="332656"/>
                <a:ext cx="5359148" cy="5853113"/>
              </a:xfrm>
              <a:blipFill>
                <a:blip r:embed="rId3"/>
                <a:stretch>
                  <a:fillRect l="-1706" t="-2188" r="-21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E668FFD-466B-4EA1-98DD-0FA6C4E955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1164695"/>
            <a:ext cx="3008313" cy="2245444"/>
          </a:xfrm>
        </p:spPr>
        <p:txBody>
          <a:bodyPr/>
          <a:lstStyle/>
          <a:p>
            <a:r>
              <a:rPr lang="en-US" altLang="zh-TW" dirty="0"/>
              <a:t>A spline of 3 polynomials</a:t>
            </a:r>
            <a:endParaRPr lang="zh-TW" alt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12</a:t>
            </a:fld>
            <a:endParaRPr lang="zh-TW" altLang="en-US"/>
          </a:p>
        </p:txBody>
      </p: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76B55602-FC58-43BD-8C0B-D142A3B6338B}"/>
              </a:ext>
            </a:extLst>
          </p:cNvPr>
          <p:cNvGrpSpPr/>
          <p:nvPr/>
        </p:nvGrpSpPr>
        <p:grpSpPr>
          <a:xfrm>
            <a:off x="92999" y="1665287"/>
            <a:ext cx="3736714" cy="1899334"/>
            <a:chOff x="5415997" y="1611615"/>
            <a:chExt cx="3736714" cy="1899334"/>
          </a:xfrm>
        </p:grpSpPr>
        <p:cxnSp>
          <p:nvCxnSpPr>
            <p:cNvPr id="8" name="直線接點 7">
              <a:extLst>
                <a:ext uri="{FF2B5EF4-FFF2-40B4-BE49-F238E27FC236}">
                  <a16:creationId xmlns:a16="http://schemas.microsoft.com/office/drawing/2014/main" id="{44A28DF3-747A-4318-9FBE-2EC16BB3E74D}"/>
                </a:ext>
              </a:extLst>
            </p:cNvPr>
            <p:cNvCxnSpPr/>
            <p:nvPr/>
          </p:nvCxnSpPr>
          <p:spPr>
            <a:xfrm>
              <a:off x="5560209" y="3123783"/>
              <a:ext cx="34563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線接點 8">
              <a:extLst>
                <a:ext uri="{FF2B5EF4-FFF2-40B4-BE49-F238E27FC236}">
                  <a16:creationId xmlns:a16="http://schemas.microsoft.com/office/drawing/2014/main" id="{165A3E8B-39B5-4848-8C38-EE06D3800027}"/>
                </a:ext>
              </a:extLst>
            </p:cNvPr>
            <p:cNvCxnSpPr/>
            <p:nvPr/>
          </p:nvCxnSpPr>
          <p:spPr>
            <a:xfrm flipV="1">
              <a:off x="5560209" y="2619727"/>
              <a:ext cx="0" cy="5040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接點 9">
              <a:extLst>
                <a:ext uri="{FF2B5EF4-FFF2-40B4-BE49-F238E27FC236}">
                  <a16:creationId xmlns:a16="http://schemas.microsoft.com/office/drawing/2014/main" id="{A5204235-F520-4709-AEF3-C740DD40431F}"/>
                </a:ext>
              </a:extLst>
            </p:cNvPr>
            <p:cNvCxnSpPr/>
            <p:nvPr/>
          </p:nvCxnSpPr>
          <p:spPr>
            <a:xfrm flipV="1">
              <a:off x="6496313" y="2115671"/>
              <a:ext cx="0" cy="100811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接點 10">
              <a:extLst>
                <a:ext uri="{FF2B5EF4-FFF2-40B4-BE49-F238E27FC236}">
                  <a16:creationId xmlns:a16="http://schemas.microsoft.com/office/drawing/2014/main" id="{D6219B72-20C9-43A5-952E-7C29C490B7B8}"/>
                </a:ext>
              </a:extLst>
            </p:cNvPr>
            <p:cNvCxnSpPr/>
            <p:nvPr/>
          </p:nvCxnSpPr>
          <p:spPr>
            <a:xfrm flipV="1">
              <a:off x="7792457" y="2403703"/>
              <a:ext cx="0" cy="72008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接點 11">
              <a:extLst>
                <a:ext uri="{FF2B5EF4-FFF2-40B4-BE49-F238E27FC236}">
                  <a16:creationId xmlns:a16="http://schemas.microsoft.com/office/drawing/2014/main" id="{2F15B20C-F7F9-4277-B56F-BCAB22002E9C}"/>
                </a:ext>
              </a:extLst>
            </p:cNvPr>
            <p:cNvCxnSpPr/>
            <p:nvPr/>
          </p:nvCxnSpPr>
          <p:spPr>
            <a:xfrm flipV="1">
              <a:off x="9016593" y="2547719"/>
              <a:ext cx="0" cy="57606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手繪多邊形 14">
              <a:extLst>
                <a:ext uri="{FF2B5EF4-FFF2-40B4-BE49-F238E27FC236}">
                  <a16:creationId xmlns:a16="http://schemas.microsoft.com/office/drawing/2014/main" id="{86C50626-2F95-4971-BB5D-C0C0A99F6F7B}"/>
                </a:ext>
              </a:extLst>
            </p:cNvPr>
            <p:cNvSpPr/>
            <p:nvPr/>
          </p:nvSpPr>
          <p:spPr>
            <a:xfrm>
              <a:off x="5547261" y="2127478"/>
              <a:ext cx="962025" cy="600275"/>
            </a:xfrm>
            <a:custGeom>
              <a:avLst/>
              <a:gdLst>
                <a:gd name="connsiteX0" fmla="*/ 0 w 962025"/>
                <a:gd name="connsiteY0" fmla="*/ 504825 h 600275"/>
                <a:gd name="connsiteX1" fmla="*/ 504825 w 962025"/>
                <a:gd name="connsiteY1" fmla="*/ 561975 h 600275"/>
                <a:gd name="connsiteX2" fmla="*/ 962025 w 962025"/>
                <a:gd name="connsiteY2" fmla="*/ 0 h 600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62025" h="600275">
                  <a:moveTo>
                    <a:pt x="0" y="504825"/>
                  </a:moveTo>
                  <a:cubicBezTo>
                    <a:pt x="172244" y="575468"/>
                    <a:pt x="344488" y="646112"/>
                    <a:pt x="504825" y="561975"/>
                  </a:cubicBezTo>
                  <a:cubicBezTo>
                    <a:pt x="665162" y="477838"/>
                    <a:pt x="813593" y="238919"/>
                    <a:pt x="962025" y="0"/>
                  </a:cubicBezTo>
                </a:path>
              </a:pathLst>
            </a:cu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手繪多邊形 15">
              <a:extLst>
                <a:ext uri="{FF2B5EF4-FFF2-40B4-BE49-F238E27FC236}">
                  <a16:creationId xmlns:a16="http://schemas.microsoft.com/office/drawing/2014/main" id="{51A19954-0507-459B-9BBD-B134A00D39EB}"/>
                </a:ext>
              </a:extLst>
            </p:cNvPr>
            <p:cNvSpPr/>
            <p:nvPr/>
          </p:nvSpPr>
          <p:spPr>
            <a:xfrm>
              <a:off x="6516826" y="1908387"/>
              <a:ext cx="1308373" cy="495316"/>
            </a:xfrm>
            <a:custGeom>
              <a:avLst/>
              <a:gdLst>
                <a:gd name="connsiteX0" fmla="*/ 0 w 1276350"/>
                <a:gd name="connsiteY0" fmla="*/ 219091 h 495316"/>
                <a:gd name="connsiteX1" fmla="*/ 400050 w 1276350"/>
                <a:gd name="connsiteY1" fmla="*/ 16 h 495316"/>
                <a:gd name="connsiteX2" fmla="*/ 914400 w 1276350"/>
                <a:gd name="connsiteY2" fmla="*/ 228616 h 495316"/>
                <a:gd name="connsiteX3" fmla="*/ 1276350 w 1276350"/>
                <a:gd name="connsiteY3" fmla="*/ 495316 h 49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6350" h="495316">
                  <a:moveTo>
                    <a:pt x="0" y="219091"/>
                  </a:moveTo>
                  <a:cubicBezTo>
                    <a:pt x="123825" y="108760"/>
                    <a:pt x="247650" y="-1571"/>
                    <a:pt x="400050" y="16"/>
                  </a:cubicBezTo>
                  <a:cubicBezTo>
                    <a:pt x="552450" y="1603"/>
                    <a:pt x="768350" y="146066"/>
                    <a:pt x="914400" y="228616"/>
                  </a:cubicBezTo>
                  <a:cubicBezTo>
                    <a:pt x="1060450" y="311166"/>
                    <a:pt x="1168400" y="403241"/>
                    <a:pt x="1276350" y="495316"/>
                  </a:cubicBezTo>
                </a:path>
              </a:pathLst>
            </a:cu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手繪多邊形 16">
              <a:extLst>
                <a:ext uri="{FF2B5EF4-FFF2-40B4-BE49-F238E27FC236}">
                  <a16:creationId xmlns:a16="http://schemas.microsoft.com/office/drawing/2014/main" id="{B61ADFBE-40A3-4CFC-8074-FD7618C3F19D}"/>
                </a:ext>
              </a:extLst>
            </p:cNvPr>
            <p:cNvSpPr/>
            <p:nvPr/>
          </p:nvSpPr>
          <p:spPr>
            <a:xfrm>
              <a:off x="7792457" y="2375128"/>
              <a:ext cx="1209675" cy="389520"/>
            </a:xfrm>
            <a:custGeom>
              <a:avLst/>
              <a:gdLst>
                <a:gd name="connsiteX0" fmla="*/ 0 w 1209675"/>
                <a:gd name="connsiteY0" fmla="*/ 0 h 389520"/>
                <a:gd name="connsiteX1" fmla="*/ 657225 w 1209675"/>
                <a:gd name="connsiteY1" fmla="*/ 361950 h 389520"/>
                <a:gd name="connsiteX2" fmla="*/ 942975 w 1209675"/>
                <a:gd name="connsiteY2" fmla="*/ 342900 h 389520"/>
                <a:gd name="connsiteX3" fmla="*/ 1209675 w 1209675"/>
                <a:gd name="connsiteY3" fmla="*/ 171450 h 389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9675" h="389520">
                  <a:moveTo>
                    <a:pt x="0" y="0"/>
                  </a:moveTo>
                  <a:cubicBezTo>
                    <a:pt x="250031" y="152400"/>
                    <a:pt x="500063" y="304800"/>
                    <a:pt x="657225" y="361950"/>
                  </a:cubicBezTo>
                  <a:cubicBezTo>
                    <a:pt x="814387" y="419100"/>
                    <a:pt x="850900" y="374650"/>
                    <a:pt x="942975" y="342900"/>
                  </a:cubicBezTo>
                  <a:cubicBezTo>
                    <a:pt x="1035050" y="311150"/>
                    <a:pt x="1122362" y="241300"/>
                    <a:pt x="1209675" y="17145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2B7F9C7D-2FE2-4A31-B633-4CD0655D7DA7}"/>
                </a:ext>
              </a:extLst>
            </p:cNvPr>
            <p:cNvSpPr txBox="1"/>
            <p:nvPr/>
          </p:nvSpPr>
          <p:spPr>
            <a:xfrm>
              <a:off x="5578862" y="2352890"/>
              <a:ext cx="6078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>
                  <a:solidFill>
                    <a:srgbClr val="FF0000"/>
                  </a:solidFill>
                </a:rPr>
                <a:t>S</a:t>
              </a:r>
              <a:r>
                <a:rPr lang="en-US" altLang="zh-TW" baseline="-25000" dirty="0">
                  <a:solidFill>
                    <a:srgbClr val="FF0000"/>
                  </a:solidFill>
                </a:rPr>
                <a:t>0</a:t>
              </a:r>
              <a:r>
                <a:rPr lang="en-US" altLang="zh-TW" dirty="0">
                  <a:solidFill>
                    <a:srgbClr val="FF0000"/>
                  </a:solidFill>
                </a:rPr>
                <a:t>(t)</a:t>
              </a:r>
              <a:endParaRPr lang="zh-TW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265E5851-1890-4680-90FB-73570C12392A}"/>
                </a:ext>
              </a:extLst>
            </p:cNvPr>
            <p:cNvSpPr txBox="1"/>
            <p:nvPr/>
          </p:nvSpPr>
          <p:spPr>
            <a:xfrm>
              <a:off x="6619716" y="1611615"/>
              <a:ext cx="6078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>
                  <a:solidFill>
                    <a:srgbClr val="00B050"/>
                  </a:solidFill>
                </a:rPr>
                <a:t>S</a:t>
              </a:r>
              <a:r>
                <a:rPr lang="en-US" altLang="zh-TW" baseline="-25000" dirty="0">
                  <a:solidFill>
                    <a:srgbClr val="00B050"/>
                  </a:solidFill>
                </a:rPr>
                <a:t>1</a:t>
              </a:r>
              <a:r>
                <a:rPr lang="en-US" altLang="zh-TW" dirty="0">
                  <a:solidFill>
                    <a:srgbClr val="00B050"/>
                  </a:solidFill>
                </a:rPr>
                <a:t>(t)</a:t>
              </a:r>
              <a:endParaRPr lang="zh-TW" altLang="en-US" dirty="0">
                <a:solidFill>
                  <a:srgbClr val="00B050"/>
                </a:solidFill>
              </a:endParaRPr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0D1B1C10-4421-4410-9A43-47624B27082B}"/>
                </a:ext>
              </a:extLst>
            </p:cNvPr>
            <p:cNvSpPr txBox="1"/>
            <p:nvPr/>
          </p:nvSpPr>
          <p:spPr>
            <a:xfrm>
              <a:off x="8219122" y="2352882"/>
              <a:ext cx="6078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S</a:t>
              </a:r>
              <a:r>
                <a:rPr lang="en-US" altLang="zh-TW" baseline="-25000" dirty="0"/>
                <a:t>2</a:t>
              </a:r>
              <a:r>
                <a:rPr lang="en-US" altLang="zh-TW" dirty="0"/>
                <a:t>(t)</a:t>
              </a:r>
              <a:endParaRPr lang="zh-TW" altLang="en-US" dirty="0"/>
            </a:p>
          </p:txBody>
        </p:sp>
        <p:sp>
          <p:nvSpPr>
            <p:cNvPr id="19" name="文字方塊 18">
              <a:extLst>
                <a:ext uri="{FF2B5EF4-FFF2-40B4-BE49-F238E27FC236}">
                  <a16:creationId xmlns:a16="http://schemas.microsoft.com/office/drawing/2014/main" id="{5FB5141B-5264-482B-AD89-2F4F40023700}"/>
                </a:ext>
              </a:extLst>
            </p:cNvPr>
            <p:cNvSpPr txBox="1"/>
            <p:nvPr/>
          </p:nvSpPr>
          <p:spPr>
            <a:xfrm>
              <a:off x="7629592" y="3138219"/>
              <a:ext cx="3257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t</a:t>
              </a:r>
              <a:r>
                <a:rPr lang="en-US" altLang="zh-TW" baseline="-25000" dirty="0"/>
                <a:t>2</a:t>
              </a:r>
              <a:endParaRPr lang="zh-TW" altLang="en-US" baseline="-25000" dirty="0"/>
            </a:p>
          </p:txBody>
        </p:sp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E74307B4-6771-4B99-BA0B-A27B1579F854}"/>
                </a:ext>
              </a:extLst>
            </p:cNvPr>
            <p:cNvSpPr txBox="1"/>
            <p:nvPr/>
          </p:nvSpPr>
          <p:spPr>
            <a:xfrm>
              <a:off x="6333448" y="3138219"/>
              <a:ext cx="3257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t</a:t>
              </a:r>
              <a:r>
                <a:rPr lang="en-US" altLang="zh-TW" baseline="-25000" dirty="0"/>
                <a:t>1</a:t>
              </a:r>
              <a:endParaRPr lang="zh-TW" altLang="en-US" baseline="-25000" dirty="0"/>
            </a:p>
          </p:txBody>
        </p:sp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C19F283F-B68F-467B-8E9C-A41B44DEAB61}"/>
                </a:ext>
              </a:extLst>
            </p:cNvPr>
            <p:cNvSpPr txBox="1"/>
            <p:nvPr/>
          </p:nvSpPr>
          <p:spPr>
            <a:xfrm>
              <a:off x="5415997" y="3131001"/>
              <a:ext cx="3257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t</a:t>
              </a:r>
              <a:r>
                <a:rPr lang="en-US" altLang="zh-TW" baseline="-25000" dirty="0"/>
                <a:t>0</a:t>
              </a:r>
              <a:endParaRPr lang="zh-TW" altLang="en-US" baseline="-25000" dirty="0"/>
            </a:p>
          </p:txBody>
        </p:sp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18504A9E-38A2-480E-8DA7-9111D18402BE}"/>
                </a:ext>
              </a:extLst>
            </p:cNvPr>
            <p:cNvSpPr txBox="1"/>
            <p:nvPr/>
          </p:nvSpPr>
          <p:spPr>
            <a:xfrm>
              <a:off x="8826981" y="3141617"/>
              <a:ext cx="3257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t</a:t>
              </a:r>
              <a:r>
                <a:rPr lang="en-US" altLang="zh-TW" baseline="-25000" dirty="0"/>
                <a:t>3</a:t>
              </a:r>
              <a:endParaRPr lang="zh-TW" altLang="en-US" baseline="-25000" dirty="0"/>
            </a:p>
          </p:txBody>
        </p:sp>
      </p:grpSp>
      <p:sp>
        <p:nvSpPr>
          <p:cNvPr id="24" name="橢圓 23">
            <a:extLst>
              <a:ext uri="{FF2B5EF4-FFF2-40B4-BE49-F238E27FC236}">
                <a16:creationId xmlns:a16="http://schemas.microsoft.com/office/drawing/2014/main" id="{5D000CCE-8406-4C62-8590-D922B7C1BDD6}"/>
              </a:ext>
            </a:extLst>
          </p:cNvPr>
          <p:cNvSpPr/>
          <p:nvPr/>
        </p:nvSpPr>
        <p:spPr>
          <a:xfrm>
            <a:off x="162959" y="2637394"/>
            <a:ext cx="108147" cy="720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A3EE3486-A1F0-4391-B42E-7767BBBC6123}"/>
              </a:ext>
            </a:extLst>
          </p:cNvPr>
          <p:cNvSpPr/>
          <p:nvPr/>
        </p:nvSpPr>
        <p:spPr>
          <a:xfrm>
            <a:off x="1104221" y="2163317"/>
            <a:ext cx="108147" cy="720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5A217684-6D5A-4D2D-B694-FCEF72D43848}"/>
              </a:ext>
            </a:extLst>
          </p:cNvPr>
          <p:cNvSpPr/>
          <p:nvPr/>
        </p:nvSpPr>
        <p:spPr>
          <a:xfrm>
            <a:off x="2393913" y="2392598"/>
            <a:ext cx="108147" cy="720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橢圓 29">
            <a:extLst>
              <a:ext uri="{FF2B5EF4-FFF2-40B4-BE49-F238E27FC236}">
                <a16:creationId xmlns:a16="http://schemas.microsoft.com/office/drawing/2014/main" id="{6C04AEC4-1B92-40C1-A6D2-5F4B86F9C0EC}"/>
              </a:ext>
            </a:extLst>
          </p:cNvPr>
          <p:cNvSpPr/>
          <p:nvPr/>
        </p:nvSpPr>
        <p:spPr>
          <a:xfrm>
            <a:off x="3632291" y="2556470"/>
            <a:ext cx="108147" cy="720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星形: 五角 30">
            <a:extLst>
              <a:ext uri="{FF2B5EF4-FFF2-40B4-BE49-F238E27FC236}">
                <a16:creationId xmlns:a16="http://schemas.microsoft.com/office/drawing/2014/main" id="{3BE6525C-B284-45B5-A069-63EC3DCBEF24}"/>
              </a:ext>
            </a:extLst>
          </p:cNvPr>
          <p:cNvSpPr/>
          <p:nvPr/>
        </p:nvSpPr>
        <p:spPr>
          <a:xfrm>
            <a:off x="92999" y="2464606"/>
            <a:ext cx="123724" cy="100765"/>
          </a:xfrm>
          <a:prstGeom prst="star5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星形: 五角 32">
            <a:extLst>
              <a:ext uri="{FF2B5EF4-FFF2-40B4-BE49-F238E27FC236}">
                <a16:creationId xmlns:a16="http://schemas.microsoft.com/office/drawing/2014/main" id="{F2E045DC-7685-48D2-BA63-69954447DB44}"/>
              </a:ext>
            </a:extLst>
          </p:cNvPr>
          <p:cNvSpPr/>
          <p:nvPr/>
        </p:nvSpPr>
        <p:spPr>
          <a:xfrm>
            <a:off x="3651606" y="2367295"/>
            <a:ext cx="123724" cy="100765"/>
          </a:xfrm>
          <a:prstGeom prst="star5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63393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2D</a:t>
            </a:r>
            <a:r>
              <a:rPr lang="zh-TW" altLang="en-US" dirty="0"/>
              <a:t> </a:t>
            </a:r>
            <a:r>
              <a:rPr lang="en-US" altLang="zh-TW" dirty="0"/>
              <a:t>interpolation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468606" cy="4525963"/>
          </a:xfrm>
        </p:spPr>
        <p:txBody>
          <a:bodyPr>
            <a:normAutofit fontScale="77500" lnSpcReduction="20000"/>
          </a:bodyPr>
          <a:lstStyle/>
          <a:p>
            <a:r>
              <a:rPr lang="en-US" altLang="zh-TW" dirty="0"/>
              <a:t>Problem: Given the coordinates and function values of the 4 corners of a rectangle</a:t>
            </a:r>
            <a:r>
              <a:rPr lang="zh-TW" altLang="en-US" dirty="0"/>
              <a:t> </a:t>
            </a:r>
            <a:r>
              <a:rPr lang="en-US" altLang="zh-TW" dirty="0"/>
              <a:t>(2x2 grid cell), compute the function value </a:t>
            </a:r>
            <a:r>
              <a:rPr lang="en-US" altLang="zh-TW" i="1" dirty="0">
                <a:solidFill>
                  <a:srgbClr val="0070C0"/>
                </a:solidFill>
              </a:rPr>
              <a:t>f(s, t)</a:t>
            </a:r>
            <a:r>
              <a:rPr lang="en-US" altLang="zh-TW" dirty="0">
                <a:solidFill>
                  <a:srgbClr val="0070C0"/>
                </a:solidFill>
              </a:rPr>
              <a:t>.</a:t>
            </a:r>
          </a:p>
          <a:p>
            <a:pPr lvl="1"/>
            <a:r>
              <a:rPr lang="en-US" altLang="zh-TW" dirty="0"/>
              <a:t>Assume </a:t>
            </a:r>
            <a:r>
              <a:rPr lang="en-US" altLang="zh-TW" b="1" dirty="0">
                <a:solidFill>
                  <a:srgbClr val="0070C0"/>
                </a:solidFill>
              </a:rPr>
              <a:t>P</a:t>
            </a:r>
            <a:r>
              <a:rPr lang="en-US" altLang="zh-TW" b="1" baseline="-25000" dirty="0">
                <a:solidFill>
                  <a:srgbClr val="0070C0"/>
                </a:solidFill>
              </a:rPr>
              <a:t>0</a:t>
            </a:r>
            <a:r>
              <a:rPr lang="en-US" altLang="zh-TW" b="1" dirty="0">
                <a:solidFill>
                  <a:srgbClr val="0070C0"/>
                </a:solidFill>
              </a:rPr>
              <a:t> = (x</a:t>
            </a:r>
            <a:r>
              <a:rPr lang="en-US" altLang="zh-TW" b="1" baseline="-25000" dirty="0">
                <a:solidFill>
                  <a:srgbClr val="0070C0"/>
                </a:solidFill>
              </a:rPr>
              <a:t>0</a:t>
            </a:r>
            <a:r>
              <a:rPr lang="en-US" altLang="zh-TW" b="1" dirty="0">
                <a:solidFill>
                  <a:srgbClr val="0070C0"/>
                </a:solidFill>
              </a:rPr>
              <a:t>, y</a:t>
            </a:r>
            <a:r>
              <a:rPr lang="en-US" altLang="zh-TW" b="1" baseline="-25000" dirty="0">
                <a:solidFill>
                  <a:srgbClr val="0070C0"/>
                </a:solidFill>
              </a:rPr>
              <a:t>0</a:t>
            </a:r>
            <a:r>
              <a:rPr lang="en-US" altLang="zh-TW" b="1" dirty="0">
                <a:solidFill>
                  <a:srgbClr val="0070C0"/>
                </a:solidFill>
              </a:rPr>
              <a:t>)</a:t>
            </a:r>
            <a:r>
              <a:rPr lang="en-US" altLang="zh-TW" dirty="0">
                <a:solidFill>
                  <a:srgbClr val="0070C0"/>
                </a:solidFill>
              </a:rPr>
              <a:t>.</a:t>
            </a:r>
          </a:p>
          <a:p>
            <a:pPr lvl="1"/>
            <a:r>
              <a:rPr lang="en-US" altLang="zh-TW" dirty="0"/>
              <a:t>use </a:t>
            </a:r>
            <a:r>
              <a:rPr lang="en-US" altLang="zh-TW" b="1" dirty="0"/>
              <a:t>16 nearest neighbor points </a:t>
            </a:r>
            <a:r>
              <a:rPr lang="en-US" altLang="zh-TW" dirty="0"/>
              <a:t>for bicubic interpolation (a 4x4 grid cell)</a:t>
            </a:r>
            <a:endParaRPr lang="en-US" altLang="zh-TW" dirty="0">
              <a:solidFill>
                <a:srgbClr val="0070C0"/>
              </a:solidFill>
            </a:endParaRPr>
          </a:p>
          <a:p>
            <a:pPr lvl="2"/>
            <a:endParaRPr lang="en-US" altLang="zh-TW" dirty="0">
              <a:solidFill>
                <a:srgbClr val="0070C0"/>
              </a:solidFill>
            </a:endParaRPr>
          </a:p>
          <a:p>
            <a:r>
              <a:rPr lang="en-US" altLang="zh-TW" dirty="0"/>
              <a:t>The Method</a:t>
            </a:r>
          </a:p>
          <a:p>
            <a:pPr lvl="1"/>
            <a:r>
              <a:rPr lang="en-US" altLang="zh-TW" dirty="0"/>
              <a:t>Interpolate each column along the Y-axis first, then interpolate each row along the X-axis</a:t>
            </a:r>
          </a:p>
          <a:p>
            <a:pPr lvl="1"/>
            <a:r>
              <a:rPr lang="en-US" altLang="zh-TW" dirty="0"/>
              <a:t>The order of which axis interpolate first doesn’t affect the results</a:t>
            </a:r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5880097" y="2133578"/>
            <a:ext cx="2448272" cy="172819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橢圓 5"/>
          <p:cNvSpPr/>
          <p:nvPr/>
        </p:nvSpPr>
        <p:spPr>
          <a:xfrm>
            <a:off x="5772085" y="3744977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/>
          <p:cNvSpPr/>
          <p:nvPr/>
        </p:nvSpPr>
        <p:spPr>
          <a:xfrm>
            <a:off x="5816473" y="2025566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8220357" y="2025566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>
            <a:off x="8220357" y="3785520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1" name="直線接點 10"/>
          <p:cNvCxnSpPr>
            <a:stCxn id="5" idx="1"/>
            <a:endCxn id="5" idx="3"/>
          </p:cNvCxnSpPr>
          <p:nvPr/>
        </p:nvCxnSpPr>
        <p:spPr>
          <a:xfrm>
            <a:off x="5880097" y="2997674"/>
            <a:ext cx="2448272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6600177" y="2133578"/>
            <a:ext cx="0" cy="1728192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6536528" y="2925666"/>
            <a:ext cx="144016" cy="14401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/>
          <p:cNvSpPr txBox="1"/>
          <p:nvPr/>
        </p:nvSpPr>
        <p:spPr>
          <a:xfrm>
            <a:off x="5566053" y="1647825"/>
            <a:ext cx="716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0070C0"/>
                </a:solidFill>
              </a:rPr>
              <a:t>P</a:t>
            </a:r>
            <a:r>
              <a:rPr lang="en-US" altLang="zh-TW" baseline="-25000" dirty="0">
                <a:solidFill>
                  <a:srgbClr val="0070C0"/>
                </a:solidFill>
              </a:rPr>
              <a:t>3</a:t>
            </a:r>
            <a:r>
              <a:rPr lang="en-US" altLang="zh-TW" dirty="0">
                <a:solidFill>
                  <a:srgbClr val="0070C0"/>
                </a:solidFill>
              </a:rPr>
              <a:t>, f</a:t>
            </a:r>
            <a:r>
              <a:rPr lang="en-US" altLang="zh-TW" baseline="-25000" dirty="0">
                <a:solidFill>
                  <a:srgbClr val="0070C0"/>
                </a:solidFill>
              </a:rPr>
              <a:t>3</a:t>
            </a:r>
            <a:r>
              <a:rPr lang="en-US" altLang="zh-TW" dirty="0">
                <a:solidFill>
                  <a:srgbClr val="0070C0"/>
                </a:solidFill>
              </a:rPr>
              <a:t> </a:t>
            </a:r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7969936" y="1647825"/>
            <a:ext cx="716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0070C0"/>
                </a:solidFill>
              </a:rPr>
              <a:t>P</a:t>
            </a:r>
            <a:r>
              <a:rPr lang="en-US" altLang="zh-TW" baseline="-25000" dirty="0">
                <a:solidFill>
                  <a:srgbClr val="0070C0"/>
                </a:solidFill>
              </a:rPr>
              <a:t>2</a:t>
            </a:r>
            <a:r>
              <a:rPr lang="en-US" altLang="zh-TW" dirty="0">
                <a:solidFill>
                  <a:srgbClr val="0070C0"/>
                </a:solidFill>
              </a:rPr>
              <a:t>, f</a:t>
            </a:r>
            <a:r>
              <a:rPr lang="en-US" altLang="zh-TW" baseline="-25000" dirty="0">
                <a:solidFill>
                  <a:srgbClr val="0070C0"/>
                </a:solidFill>
              </a:rPr>
              <a:t>2</a:t>
            </a:r>
            <a:r>
              <a:rPr lang="en-US" altLang="zh-TW" dirty="0">
                <a:solidFill>
                  <a:srgbClr val="0070C0"/>
                </a:solidFill>
              </a:rPr>
              <a:t> </a:t>
            </a:r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7969937" y="4015876"/>
            <a:ext cx="716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0070C0"/>
                </a:solidFill>
              </a:rPr>
              <a:t>P</a:t>
            </a:r>
            <a:r>
              <a:rPr lang="en-US" altLang="zh-TW" baseline="-25000" dirty="0">
                <a:solidFill>
                  <a:srgbClr val="0070C0"/>
                </a:solidFill>
              </a:rPr>
              <a:t>1</a:t>
            </a:r>
            <a:r>
              <a:rPr lang="en-US" altLang="zh-TW" dirty="0">
                <a:solidFill>
                  <a:srgbClr val="0070C0"/>
                </a:solidFill>
              </a:rPr>
              <a:t>, f</a:t>
            </a:r>
            <a:r>
              <a:rPr lang="en-US" altLang="zh-TW" baseline="-25000" dirty="0">
                <a:solidFill>
                  <a:srgbClr val="0070C0"/>
                </a:solidFill>
              </a:rPr>
              <a:t>1</a:t>
            </a:r>
            <a:r>
              <a:rPr lang="en-US" altLang="zh-TW" dirty="0">
                <a:solidFill>
                  <a:srgbClr val="0070C0"/>
                </a:solidFill>
              </a:rPr>
              <a:t> </a:t>
            </a:r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5391180" y="3891429"/>
            <a:ext cx="716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0070C0"/>
                </a:solidFill>
              </a:rPr>
              <a:t>P</a:t>
            </a:r>
            <a:r>
              <a:rPr lang="en-US" altLang="zh-TW" baseline="-25000" dirty="0">
                <a:solidFill>
                  <a:srgbClr val="0070C0"/>
                </a:solidFill>
              </a:rPr>
              <a:t>0</a:t>
            </a:r>
            <a:r>
              <a:rPr lang="en-US" altLang="zh-TW" dirty="0">
                <a:solidFill>
                  <a:srgbClr val="0070C0"/>
                </a:solidFill>
              </a:rPr>
              <a:t>, f</a:t>
            </a:r>
            <a:r>
              <a:rPr lang="en-US" altLang="zh-TW" baseline="-25000" dirty="0">
                <a:solidFill>
                  <a:srgbClr val="0070C0"/>
                </a:solidFill>
              </a:rPr>
              <a:t>0</a:t>
            </a:r>
            <a:r>
              <a:rPr lang="en-US" altLang="zh-TW" dirty="0">
                <a:solidFill>
                  <a:srgbClr val="0070C0"/>
                </a:solidFill>
              </a:rPr>
              <a:t> </a:t>
            </a:r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19" name="左大括弧 18"/>
          <p:cNvSpPr/>
          <p:nvPr/>
        </p:nvSpPr>
        <p:spPr>
          <a:xfrm>
            <a:off x="5629677" y="2997674"/>
            <a:ext cx="142408" cy="74730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文字方塊 19"/>
          <p:cNvSpPr txBox="1"/>
          <p:nvPr/>
        </p:nvSpPr>
        <p:spPr>
          <a:xfrm>
            <a:off x="5329595" y="318665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k</a:t>
            </a:r>
            <a:endParaRPr lang="zh-TW" altLang="en-US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6132874" y="393457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h</a:t>
            </a:r>
            <a:endParaRPr lang="zh-TW" altLang="en-US" dirty="0"/>
          </a:p>
        </p:txBody>
      </p:sp>
      <p:sp>
        <p:nvSpPr>
          <p:cNvPr id="22" name="右大括弧 21"/>
          <p:cNvSpPr/>
          <p:nvPr/>
        </p:nvSpPr>
        <p:spPr>
          <a:xfrm>
            <a:off x="6215087" y="3744977"/>
            <a:ext cx="107499" cy="534678"/>
          </a:xfrm>
          <a:prstGeom prst="rightBrace">
            <a:avLst/>
          </a:prstGeom>
          <a:scene3d>
            <a:camera prst="orthographicFront">
              <a:rot lat="0" lon="0" rev="1620000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頁尾版面配置區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Interpolation methods</a:t>
            </a:r>
            <a:endParaRPr lang="zh-TW" altLang="en-US"/>
          </a:p>
        </p:txBody>
      </p:sp>
      <p:sp>
        <p:nvSpPr>
          <p:cNvPr id="12" name="投影片編號版面配置區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13</a:t>
            </a:fld>
            <a:endParaRPr lang="zh-TW" altLang="en-US"/>
          </a:p>
        </p:txBody>
      </p:sp>
      <p:sp>
        <p:nvSpPr>
          <p:cNvPr id="23" name="文字方塊 22"/>
          <p:cNvSpPr txBox="1"/>
          <p:nvPr/>
        </p:nvSpPr>
        <p:spPr>
          <a:xfrm>
            <a:off x="6696865" y="2578435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(s, t)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93D82-DD8E-4041-BF60-1DD3D0195567}" type="datetime1">
              <a:rPr lang="zh-TW" altLang="en-US" smtClean="0"/>
              <a:t>2025/12/8</a:t>
            </a:fld>
            <a:endParaRPr lang="zh-TW" altLang="en-US"/>
          </a:p>
        </p:txBody>
      </p:sp>
      <p:cxnSp>
        <p:nvCxnSpPr>
          <p:cNvPr id="26" name="Straight Arrow Connector 25"/>
          <p:cNvCxnSpPr/>
          <p:nvPr/>
        </p:nvCxnSpPr>
        <p:spPr>
          <a:xfrm flipV="1">
            <a:off x="5329595" y="2133578"/>
            <a:ext cx="0" cy="2376264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5329595" y="4509842"/>
            <a:ext cx="264034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字方塊 19"/>
          <p:cNvSpPr txBox="1"/>
          <p:nvPr/>
        </p:nvSpPr>
        <p:spPr>
          <a:xfrm>
            <a:off x="5178165" y="1834696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Y</a:t>
            </a:r>
            <a:endParaRPr lang="zh-TW" altLang="en-US" dirty="0"/>
          </a:p>
        </p:txBody>
      </p:sp>
      <p:sp>
        <p:nvSpPr>
          <p:cNvPr id="30" name="文字方塊 19"/>
          <p:cNvSpPr txBox="1"/>
          <p:nvPr/>
        </p:nvSpPr>
        <p:spPr>
          <a:xfrm>
            <a:off x="7920275" y="4356534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X</a:t>
            </a:r>
            <a:endParaRPr lang="zh-TW" altLang="en-US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C7519825-408A-4F40-BED7-8B0DDD8BBB26}"/>
              </a:ext>
            </a:extLst>
          </p:cNvPr>
          <p:cNvSpPr txBox="1"/>
          <p:nvPr/>
        </p:nvSpPr>
        <p:spPr>
          <a:xfrm>
            <a:off x="8249367" y="2696955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6EDE50D3-F8C9-4CAE-A306-40F1866479FA}"/>
              </a:ext>
            </a:extLst>
          </p:cNvPr>
          <p:cNvSpPr txBox="1"/>
          <p:nvPr/>
        </p:nvSpPr>
        <p:spPr>
          <a:xfrm>
            <a:off x="5573064" y="2702233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endParaRPr lang="zh-TW" alt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54D3998-2B1D-40AB-96B0-5A9862D7303E}"/>
              </a:ext>
            </a:extLst>
          </p:cNvPr>
          <p:cNvSpPr/>
          <p:nvPr/>
        </p:nvSpPr>
        <p:spPr>
          <a:xfrm>
            <a:off x="5816473" y="2925666"/>
            <a:ext cx="124290" cy="1080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C369F297-6F84-4C5F-B7D9-095B48F85EDD}"/>
              </a:ext>
            </a:extLst>
          </p:cNvPr>
          <p:cNvSpPr/>
          <p:nvPr/>
        </p:nvSpPr>
        <p:spPr>
          <a:xfrm>
            <a:off x="8274549" y="2965440"/>
            <a:ext cx="124290" cy="1080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67014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2D</a:t>
            </a:r>
            <a:r>
              <a:rPr lang="zh-TW" altLang="en-US" dirty="0"/>
              <a:t> </a:t>
            </a:r>
            <a:r>
              <a:rPr lang="en-US" altLang="zh-TW" dirty="0"/>
              <a:t>interpolation</a:t>
            </a:r>
            <a:endParaRPr lang="zh-TW" altLang="en-US" dirty="0"/>
          </a:p>
        </p:txBody>
      </p:sp>
      <p:sp>
        <p:nvSpPr>
          <p:cNvPr id="19" name="投影片編號版面配置區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14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FCD7EE98-3E72-4884-BA62-E1E391AD8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945" y="1907974"/>
            <a:ext cx="6610669" cy="3958040"/>
          </a:xfrm>
          <a:prstGeom prst="rect">
            <a:avLst/>
          </a:prstGeom>
        </p:spPr>
      </p:pic>
      <p:cxnSp>
        <p:nvCxnSpPr>
          <p:cNvPr id="20" name="Straight Arrow Connector 27">
            <a:extLst>
              <a:ext uri="{FF2B5EF4-FFF2-40B4-BE49-F238E27FC236}">
                <a16:creationId xmlns:a16="http://schemas.microsoft.com/office/drawing/2014/main" id="{729BD074-88F9-49EB-B5D6-451DB033AF79}"/>
              </a:ext>
            </a:extLst>
          </p:cNvPr>
          <p:cNvCxnSpPr/>
          <p:nvPr/>
        </p:nvCxnSpPr>
        <p:spPr>
          <a:xfrm>
            <a:off x="5744742" y="5383602"/>
            <a:ext cx="264034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字方塊 19">
            <a:extLst>
              <a:ext uri="{FF2B5EF4-FFF2-40B4-BE49-F238E27FC236}">
                <a16:creationId xmlns:a16="http://schemas.microsoft.com/office/drawing/2014/main" id="{D888D206-665B-4A51-8DA0-777CDF9CEF6E}"/>
              </a:ext>
            </a:extLst>
          </p:cNvPr>
          <p:cNvSpPr txBox="1"/>
          <p:nvPr/>
        </p:nvSpPr>
        <p:spPr>
          <a:xfrm>
            <a:off x="8335422" y="5230294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X</a:t>
            </a:r>
            <a:endParaRPr lang="zh-TW" altLang="en-US" dirty="0"/>
          </a:p>
        </p:txBody>
      </p:sp>
      <p:cxnSp>
        <p:nvCxnSpPr>
          <p:cNvPr id="22" name="Straight Arrow Connector 25">
            <a:extLst>
              <a:ext uri="{FF2B5EF4-FFF2-40B4-BE49-F238E27FC236}">
                <a16:creationId xmlns:a16="http://schemas.microsoft.com/office/drawing/2014/main" id="{2A56CB46-D0BE-4131-B01B-13220ED6DCDA}"/>
              </a:ext>
            </a:extLst>
          </p:cNvPr>
          <p:cNvCxnSpPr>
            <a:cxnSpLocks/>
          </p:cNvCxnSpPr>
          <p:nvPr/>
        </p:nvCxnSpPr>
        <p:spPr>
          <a:xfrm flipH="1" flipV="1">
            <a:off x="4836160" y="4439920"/>
            <a:ext cx="941506" cy="94368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字方塊 19">
            <a:extLst>
              <a:ext uri="{FF2B5EF4-FFF2-40B4-BE49-F238E27FC236}">
                <a16:creationId xmlns:a16="http://schemas.microsoft.com/office/drawing/2014/main" id="{9BA670E6-4303-47E2-94D0-1DA87CECF2FD}"/>
              </a:ext>
            </a:extLst>
          </p:cNvPr>
          <p:cNvSpPr txBox="1"/>
          <p:nvPr/>
        </p:nvSpPr>
        <p:spPr>
          <a:xfrm>
            <a:off x="4660471" y="4038460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Y</a:t>
            </a:r>
            <a:endParaRPr lang="zh-TW" altLang="en-US" dirty="0"/>
          </a:p>
        </p:txBody>
      </p:sp>
      <p:cxnSp>
        <p:nvCxnSpPr>
          <p:cNvPr id="27" name="Straight Arrow Connector 27">
            <a:extLst>
              <a:ext uri="{FF2B5EF4-FFF2-40B4-BE49-F238E27FC236}">
                <a16:creationId xmlns:a16="http://schemas.microsoft.com/office/drawing/2014/main" id="{33068EBA-F9CB-4E04-A1F2-8B0AA1A5E4C7}"/>
              </a:ext>
            </a:extLst>
          </p:cNvPr>
          <p:cNvCxnSpPr>
            <a:cxnSpLocks/>
          </p:cNvCxnSpPr>
          <p:nvPr/>
        </p:nvCxnSpPr>
        <p:spPr>
          <a:xfrm>
            <a:off x="1696720" y="3139300"/>
            <a:ext cx="61766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字方塊 19">
            <a:extLst>
              <a:ext uri="{FF2B5EF4-FFF2-40B4-BE49-F238E27FC236}">
                <a16:creationId xmlns:a16="http://schemas.microsoft.com/office/drawing/2014/main" id="{356304E2-59ED-4C84-BFF8-56F74C1A373A}"/>
              </a:ext>
            </a:extLst>
          </p:cNvPr>
          <p:cNvSpPr txBox="1"/>
          <p:nvPr/>
        </p:nvSpPr>
        <p:spPr>
          <a:xfrm>
            <a:off x="7823709" y="2985992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X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932054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Lagrange interpolation 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668520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altLang="zh-TW" dirty="0">
                    <a:solidFill>
                      <a:srgbClr val="C00000"/>
                    </a:solidFill>
                  </a:rPr>
                  <a:t>Given a table consisting of n+1 (</a:t>
                </a:r>
                <a:r>
                  <a:rPr lang="en-US" altLang="zh-TW" i="1" dirty="0">
                    <a:solidFill>
                      <a:srgbClr val="C00000"/>
                    </a:solidFill>
                  </a:rPr>
                  <a:t>x</a:t>
                </a:r>
                <a:r>
                  <a:rPr lang="en-US" altLang="zh-TW" i="1" baseline="-25000" dirty="0">
                    <a:solidFill>
                      <a:srgbClr val="C00000"/>
                    </a:solidFill>
                  </a:rPr>
                  <a:t>i</a:t>
                </a:r>
                <a:r>
                  <a:rPr lang="en-US" altLang="zh-TW" i="1" dirty="0">
                    <a:solidFill>
                      <a:srgbClr val="C00000"/>
                    </a:solidFill>
                  </a:rPr>
                  <a:t>, </a:t>
                </a:r>
                <a:r>
                  <a:rPr lang="en-US" altLang="zh-TW" i="1" dirty="0" err="1">
                    <a:solidFill>
                      <a:srgbClr val="C00000"/>
                    </a:solidFill>
                  </a:rPr>
                  <a:t>y</a:t>
                </a:r>
                <a:r>
                  <a:rPr lang="en-US" altLang="zh-TW" i="1" baseline="-25000" dirty="0" err="1">
                    <a:solidFill>
                      <a:srgbClr val="C00000"/>
                    </a:solidFill>
                  </a:rPr>
                  <a:t>i</a:t>
                </a:r>
                <a:r>
                  <a:rPr lang="en-US" altLang="zh-TW" dirty="0">
                    <a:solidFill>
                      <a:srgbClr val="C00000"/>
                    </a:solidFill>
                  </a:rPr>
                  <a:t>) pairs, compute </a:t>
                </a:r>
                <a:r>
                  <a:rPr lang="en-US" altLang="zh-TW" i="1" dirty="0">
                    <a:solidFill>
                      <a:srgbClr val="C00000"/>
                    </a:solidFill>
                  </a:rPr>
                  <a:t>y(x*),</a:t>
                </a:r>
                <a:endParaRPr lang="en-US" altLang="zh-TW" dirty="0"/>
              </a:p>
              <a:p>
                <a:r>
                  <a:rPr lang="en-US" altLang="zh-TW" dirty="0"/>
                  <a:t>General Lagrange polynomial</a:t>
                </a:r>
              </a:p>
              <a:p>
                <a:pPr marL="457200" lvl="1" indent="0">
                  <a:buNone/>
                </a:pPr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solidFill>
                          <a:srgbClr val="C00000"/>
                        </a:solidFill>
                        <a:latin typeface="Cambria Math"/>
                      </a:rPr>
                      <m:t>𝑝</m:t>
                    </m:r>
                    <m:d>
                      <m:dPr>
                        <m:ctrlP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altLang="zh-TW" b="0" i="1" smtClean="0">
                        <a:solidFill>
                          <a:srgbClr val="C00000"/>
                        </a:solidFill>
                        <a:latin typeface="Cambria Math"/>
                        <a:ea typeface="Cambria Math"/>
                      </a:rPr>
                      <m:t>≡</m:t>
                    </m:r>
                    <m:sSub>
                      <m:sSubPr>
                        <m:ctrlP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𝑦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𝑙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</m:d>
                    <m:r>
                      <a:rPr lang="en-US" altLang="zh-TW" b="0" i="1" smtClean="0">
                        <a:solidFill>
                          <a:srgbClr val="C00000"/>
                        </a:solidFill>
                        <a:latin typeface="Cambria Math"/>
                        <a:ea typeface="Cambria Math"/>
                      </a:rPr>
                      <m:t>+</m:t>
                    </m:r>
                    <m:sSub>
                      <m:sSubPr>
                        <m:ctrlPr>
                          <a:rPr lang="en-US" altLang="zh-TW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𝑦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𝑙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TW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TW" i="1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</m:d>
                    <m:r>
                      <a:rPr lang="en-US" altLang="zh-TW" i="1">
                        <a:solidFill>
                          <a:srgbClr val="C00000"/>
                        </a:solidFill>
                        <a:latin typeface="Cambria Math"/>
                        <a:ea typeface="Cambria Math"/>
                      </a:rPr>
                      <m:t>+</m:t>
                    </m:r>
                    <m:sSub>
                      <m:sSubPr>
                        <m:ctrlPr>
                          <a:rPr lang="en-US" altLang="zh-TW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𝑦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𝑙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zh-TW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TW" i="1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</m:d>
                    <m:r>
                      <a:rPr lang="en-US" altLang="zh-TW" i="1">
                        <a:solidFill>
                          <a:srgbClr val="C00000"/>
                        </a:solidFill>
                        <a:latin typeface="Cambria Math"/>
                        <a:ea typeface="Cambria Math"/>
                      </a:rPr>
                      <m:t>+</m:t>
                    </m:r>
                    <m:r>
                      <a:rPr lang="en-US" altLang="zh-TW" b="0" i="1" smtClean="0">
                        <a:solidFill>
                          <a:srgbClr val="C00000"/>
                        </a:solidFill>
                        <a:latin typeface="Cambria Math"/>
                        <a:ea typeface="Cambria Math"/>
                      </a:rPr>
                      <m:t>…+</m:t>
                    </m:r>
                    <m:sSub>
                      <m:sSubPr>
                        <m:ctrlPr>
                          <a:rPr lang="en-US" altLang="zh-TW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𝑦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𝑙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altLang="zh-TW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TW" i="1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TW" dirty="0">
                    <a:solidFill>
                      <a:srgbClr val="C00000"/>
                    </a:solidFill>
                  </a:rPr>
                  <a:t>. </a:t>
                </a:r>
                <a:r>
                  <a:rPr lang="en-US" altLang="zh-TW" dirty="0">
                    <a:solidFill>
                      <a:srgbClr val="00B0F0"/>
                    </a:solidFill>
                  </a:rPr>
                  <a:t>//Why?</a:t>
                </a:r>
                <a:endParaRPr lang="en-US" altLang="zh-TW" dirty="0">
                  <a:solidFill>
                    <a:srgbClr val="C00000"/>
                  </a:solidFill>
                </a:endParaRP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</a:rPr>
                      <m:t>𝑝</m:t>
                    </m:r>
                    <m:r>
                      <a:rPr lang="en-US" altLang="zh-TW" b="0" i="1" smtClean="0">
                        <a:latin typeface="Cambria Math"/>
                      </a:rPr>
                      <m:t>(</m:t>
                    </m:r>
                    <m:r>
                      <a:rPr lang="en-US" altLang="zh-TW" b="0" i="1" smtClean="0">
                        <a:latin typeface="Cambria Math"/>
                      </a:rPr>
                      <m:t>𝑥</m:t>
                    </m:r>
                    <m:r>
                      <a:rPr lang="en-US" altLang="zh-TW" b="0" i="1" smtClean="0">
                        <a:latin typeface="Cambria Math"/>
                      </a:rPr>
                      <m:t>)≡</m:t>
                    </m:r>
                    <m:nary>
                      <m:naryPr>
                        <m:chr m:val="∑"/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b="0" i="1" smtClean="0">
                            <a:latin typeface="Cambria Math"/>
                            <a:ea typeface="Cambria Math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/>
                            <a:ea typeface="Cambria Math"/>
                          </a:rPr>
                          <m:t>=0</m:t>
                        </m:r>
                      </m:sub>
                      <m:sup>
                        <m:r>
                          <a:rPr lang="en-US" altLang="zh-TW" b="0" i="1" smtClean="0">
                            <a:latin typeface="Cambria Math"/>
                            <a:ea typeface="Cambria Math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  <a:ea typeface="Cambria Math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  <a:ea typeface="Cambria Math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  <a:ea typeface="Cambria Math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  <a:ea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/>
                            <a:ea typeface="Cambria Math"/>
                          </a:rPr>
                          <m:t>(</m:t>
                        </m:r>
                        <m:r>
                          <a:rPr lang="en-US" altLang="zh-TW" b="0" i="1" smtClean="0">
                            <a:latin typeface="Cambria Math"/>
                            <a:ea typeface="Cambria Math"/>
                          </a:rPr>
                          <m:t>𝑥</m:t>
                        </m:r>
                        <m:r>
                          <a:rPr lang="en-US" altLang="zh-TW" b="0" i="1" smtClean="0">
                            <a:latin typeface="Cambria Math"/>
                            <a:ea typeface="Cambria Math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altLang="zh-TW" dirty="0"/>
                  <a:t>.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𝑙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TW" b="0" i="1" smtClean="0">
                        <a:latin typeface="Cambria Math"/>
                      </a:rPr>
                      <m:t>=…=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𝑙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−1</m:t>
                        </m:r>
                      </m:sub>
                    </m:sSub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TW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𝑙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+1</m:t>
                        </m:r>
                      </m:sub>
                    </m:sSub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TW" b="0" i="0" smtClean="0">
                        <a:latin typeface="Cambria Math"/>
                      </a:rPr>
                      <m:t>=…=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𝑙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TW" b="0" i="1" smtClean="0">
                        <a:latin typeface="Cambria Math"/>
                      </a:rPr>
                      <m:t>=0</m:t>
                    </m:r>
                  </m:oMath>
                </a14:m>
                <a:r>
                  <a:rPr lang="en-US" altLang="zh-TW" dirty="0"/>
                  <a:t>, </a:t>
                </a:r>
              </a:p>
              <a:p>
                <a:pPr marL="457200" lvl="1" indent="0">
                  <a:buNone/>
                </a:pPr>
                <a:r>
                  <a:rPr lang="en-US" altLang="zh-TW" dirty="0"/>
                  <a:t>but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𝑙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/>
                      </a:rPr>
                      <m:t>=1.</m:t>
                    </m:r>
                  </m:oMath>
                </a14:m>
                <a:endParaRPr lang="en-US" altLang="zh-TW" b="0" dirty="0">
                  <a:solidFill>
                    <a:srgbClr val="FF0000"/>
                  </a:solidFill>
                </a:endParaRPr>
              </a:p>
              <a:p>
                <a:r>
                  <a:rPr lang="en-US" altLang="zh-TW" dirty="0"/>
                  <a:t>Select  </a:t>
                </a:r>
                <a:endParaRPr lang="en-US" altLang="zh-TW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𝑙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altLang="zh-TW" b="0" i="0" smtClean="0">
                        <a:solidFill>
                          <a:srgbClr val="C00000"/>
                        </a:solidFill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TW" b="0" i="0" smtClean="0">
                        <a:solidFill>
                          <a:srgbClr val="C00000"/>
                        </a:solidFill>
                        <a:latin typeface="Cambria Math"/>
                      </a:rPr>
                      <m:t>c</m:t>
                    </m:r>
                    <m:d>
                      <m:dPr>
                        <m:ctrlP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𝑥</m:t>
                        </m:r>
                        <m:r>
                          <a:rPr lang="en-US" altLang="zh-TW" b="0" i="0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TW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TW" b="0" i="1" smtClean="0">
                        <a:solidFill>
                          <a:srgbClr val="C00000"/>
                        </a:solidFill>
                        <a:latin typeface="Cambria Math"/>
                      </a:rPr>
                      <m:t>…</m:t>
                    </m:r>
                    <m:d>
                      <m:dPr>
                        <m:ctrlP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𝑥</m:t>
                        </m:r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TW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𝑖</m:t>
                            </m:r>
                            <m:r>
                              <a:rPr lang="en-US" altLang="zh-TW" b="0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−1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𝑥</m:t>
                        </m:r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TW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𝑖</m:t>
                            </m:r>
                            <m:r>
                              <a:rPr lang="en-US" altLang="zh-TW" b="0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en-US" altLang="zh-TW" b="0" i="1" smtClean="0">
                        <a:solidFill>
                          <a:srgbClr val="C00000"/>
                        </a:solidFill>
                        <a:latin typeface="Cambria Math"/>
                      </a:rPr>
                      <m:t>…(</m:t>
                    </m:r>
                    <m:r>
                      <a:rPr lang="en-US" altLang="zh-TW" b="0" i="1" smtClean="0">
                        <a:solidFill>
                          <a:srgbClr val="C00000"/>
                        </a:solidFill>
                        <a:latin typeface="Cambria Math"/>
                      </a:rPr>
                      <m:t>𝑥</m:t>
                    </m:r>
                    <m:r>
                      <a:rPr lang="en-US" altLang="zh-TW" b="0" i="1" smtClean="0">
                        <a:solidFill>
                          <a:srgbClr val="C00000"/>
                        </a:solidFill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altLang="zh-TW" b="0" i="1" smtClean="0">
                        <a:solidFill>
                          <a:srgbClr val="C0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altLang="zh-TW" dirty="0">
                    <a:solidFill>
                      <a:srgbClr val="C00000"/>
                    </a:solidFill>
                  </a:rPr>
                  <a:t>, 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𝑙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altLang="zh-TW" b="0" i="1" smtClean="0">
                        <a:latin typeface="Cambria Math"/>
                      </a:rPr>
                      <m:t>=0.0, </m:t>
                    </m:r>
                    <m:r>
                      <a:rPr lang="en-US" altLang="zh-TW" b="0" i="1" smtClean="0">
                        <a:latin typeface="Cambria Math"/>
                      </a:rPr>
                      <m:t>𝑖</m:t>
                    </m:r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≠</m:t>
                    </m:r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𝑗</m:t>
                    </m:r>
                  </m:oMath>
                </a14:m>
                <a:r>
                  <a:rPr lang="en-US" altLang="zh-TW" dirty="0">
                    <a:solidFill>
                      <a:srgbClr val="FF0000"/>
                    </a:solidFill>
                  </a:rPr>
                  <a:t> </a:t>
                </a:r>
              </a:p>
              <a:p>
                <a:r>
                  <a:rPr lang="en-US" altLang="zh-TW" dirty="0"/>
                  <a:t>Substitute </a:t>
                </a:r>
                <a:r>
                  <a:rPr lang="en-US" altLang="zh-TW" i="1" dirty="0"/>
                  <a:t>x</a:t>
                </a:r>
                <a:r>
                  <a:rPr lang="en-US" altLang="zh-TW" i="1" baseline="-25000" dirty="0"/>
                  <a:t>i</a:t>
                </a:r>
                <a:r>
                  <a:rPr lang="en-US" altLang="zh-TW" dirty="0"/>
                  <a:t> into </a:t>
                </a:r>
                <a:r>
                  <a:rPr lang="en-US" altLang="zh-TW" i="1" dirty="0"/>
                  <a:t>l</a:t>
                </a:r>
                <a:r>
                  <a:rPr lang="en-US" altLang="zh-TW" i="1" baseline="-25000" dirty="0"/>
                  <a:t>i</a:t>
                </a:r>
                <a:r>
                  <a:rPr lang="en-US" altLang="zh-TW" i="1" dirty="0"/>
                  <a:t>(x)</a:t>
                </a:r>
                <a:r>
                  <a:rPr lang="en-US" altLang="zh-TW" dirty="0"/>
                  <a:t> and force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</a:rPr>
                      <m:t>1=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𝑙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TW" b="0" i="1" smtClean="0">
                        <a:latin typeface="Cambria Math"/>
                      </a:rPr>
                      <m:t>=</m:t>
                    </m:r>
                    <m:r>
                      <a:rPr lang="en-US" altLang="zh-TW" b="0" i="1" smtClean="0">
                        <a:latin typeface="Cambria Math"/>
                      </a:rPr>
                      <m:t>𝑐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TW" b="0" i="1" smtClean="0">
                        <a:latin typeface="Cambria Math"/>
                      </a:rPr>
                      <m:t>…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i="1"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𝑖</m:t>
                            </m:r>
                            <m:r>
                              <a:rPr lang="en-US" altLang="zh-TW" b="0" i="1" smtClean="0">
                                <a:latin typeface="Cambria Math"/>
                              </a:rPr>
                              <m:t>−1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i="1"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𝑖</m:t>
                            </m:r>
                            <m:r>
                              <a:rPr lang="en-US" altLang="zh-TW" b="0" i="1" smtClean="0">
                                <a:latin typeface="Cambria Math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en-US" altLang="zh-TW" b="0" i="1" smtClean="0">
                        <a:latin typeface="Cambria Math"/>
                      </a:rPr>
                      <m:t>…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i="1"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dirty="0"/>
                  <a:t>. </a:t>
                </a:r>
                <a:endParaRPr lang="en-US" altLang="zh-TW" sz="2600" dirty="0">
                  <a:solidFill>
                    <a:srgbClr val="00B0F0"/>
                  </a:solidFill>
                </a:endParaRPr>
              </a:p>
              <a:p>
                <a:pPr marL="57150" indent="0">
                  <a:buNone/>
                </a:pPr>
                <a:r>
                  <a:rPr lang="en-US" altLang="zh-TW" dirty="0"/>
                  <a:t>    We have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rgbClr val="C00000"/>
                          </a:solidFill>
                          <a:latin typeface="Cambria Math"/>
                        </a:rPr>
                        <m:t>𝑐</m:t>
                      </m:r>
                      <m:r>
                        <a:rPr lang="en-US" altLang="zh-TW" b="0" i="1" smtClean="0">
                          <a:solidFill>
                            <a:srgbClr val="C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TW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ctrlPr>
                                <a:rPr lang="en-US" altLang="zh-TW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solidFill>
                                        <a:srgbClr val="C00000"/>
                                      </a:solidFill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solidFill>
                                        <a:srgbClr val="C00000"/>
                                      </a:solidFill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TW" i="1">
                                  <a:solidFill>
                                    <a:srgbClr val="C0000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TW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solidFill>
                                        <a:srgbClr val="C00000"/>
                                      </a:solidFill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solidFill>
                                        <a:srgbClr val="C00000"/>
                                      </a:solidFill>
                                      <a:latin typeface="Cambria Math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…</m:t>
                          </m:r>
                          <m:d>
                            <m:dPr>
                              <m:ctrlPr>
                                <a:rPr lang="en-US" altLang="zh-TW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solidFill>
                                        <a:srgbClr val="C00000"/>
                                      </a:solidFill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solidFill>
                                        <a:srgbClr val="C00000"/>
                                      </a:solidFill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TW" i="1">
                                  <a:solidFill>
                                    <a:srgbClr val="C0000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TW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solidFill>
                                        <a:srgbClr val="C00000"/>
                                      </a:solidFill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solidFill>
                                        <a:srgbClr val="C00000"/>
                                      </a:solidFill>
                                      <a:latin typeface="Cambria Math"/>
                                    </a:rPr>
                                    <m:t>𝑖</m:t>
                                  </m:r>
                                  <m:r>
                                    <a:rPr lang="en-US" altLang="zh-TW" i="1">
                                      <a:solidFill>
                                        <a:srgbClr val="C00000"/>
                                      </a:solidFill>
                                      <a:latin typeface="Cambria Math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en-US" altLang="zh-TW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solidFill>
                                        <a:srgbClr val="C00000"/>
                                      </a:solidFill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solidFill>
                                        <a:srgbClr val="C00000"/>
                                      </a:solidFill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TW" i="1">
                                  <a:solidFill>
                                    <a:srgbClr val="C0000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TW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solidFill>
                                        <a:srgbClr val="C00000"/>
                                      </a:solidFill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solidFill>
                                        <a:srgbClr val="C00000"/>
                                      </a:solidFill>
                                      <a:latin typeface="Cambria Math"/>
                                    </a:rPr>
                                    <m:t>𝑖</m:t>
                                  </m:r>
                                  <m:r>
                                    <a:rPr lang="en-US" altLang="zh-TW" i="1">
                                      <a:solidFill>
                                        <a:srgbClr val="C00000"/>
                                      </a:solidFill>
                                      <a:latin typeface="Cambria Math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…</m:t>
                          </m:r>
                          <m:d>
                            <m:dPr>
                              <m:ctrlPr>
                                <a:rPr lang="en-US" altLang="zh-TW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solidFill>
                                        <a:srgbClr val="C00000"/>
                                      </a:solidFill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solidFill>
                                        <a:srgbClr val="C00000"/>
                                      </a:solidFill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TW" i="1">
                                  <a:solidFill>
                                    <a:srgbClr val="C0000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TW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solidFill>
                                        <a:srgbClr val="C00000"/>
                                      </a:solidFill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solidFill>
                                        <a:srgbClr val="C00000"/>
                                      </a:solidFill>
                                      <a:latin typeface="Cambria Math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altLang="zh-TW" b="0" i="1" smtClean="0">
                          <a:solidFill>
                            <a:srgbClr val="C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TW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nary>
                            <m:naryPr>
                              <m:chr m:val="∏"/>
                              <m:ctrlPr>
                                <a:rPr lang="en-US" altLang="zh-TW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TW" b="0" i="1" smtClean="0">
                                  <a:solidFill>
                                    <a:srgbClr val="C00000"/>
                                  </a:solidFill>
                                  <a:latin typeface="Cambria Math"/>
                                </a:rPr>
                                <m:t>𝑗</m:t>
                              </m:r>
                              <m:r>
                                <a:rPr lang="en-US" altLang="zh-TW" b="0" i="1" smtClean="0">
                                  <a:solidFill>
                                    <a:srgbClr val="C00000"/>
                                  </a:solidFill>
                                  <a:latin typeface="Cambria Math"/>
                                </a:rPr>
                                <m:t>=0,</m:t>
                              </m:r>
                              <m:r>
                                <a:rPr lang="en-US" altLang="zh-TW" b="0" i="1" smtClean="0">
                                  <a:solidFill>
                                    <a:srgbClr val="C00000"/>
                                  </a:solidFill>
                                  <a:latin typeface="Cambria Math"/>
                                </a:rPr>
                                <m:t>𝑗</m:t>
                              </m:r>
                              <m:r>
                                <a:rPr lang="en-US" altLang="zh-TW" b="0" i="1" smtClean="0">
                                  <a:solidFill>
                                    <a:srgbClr val="C00000"/>
                                  </a:solidFill>
                                  <a:latin typeface="Cambria Math"/>
                                  <a:ea typeface="Cambria Math"/>
                                </a:rPr>
                                <m:t>≠</m:t>
                              </m:r>
                              <m:r>
                                <a:rPr lang="en-US" altLang="zh-TW" b="0" i="1" smtClean="0">
                                  <a:solidFill>
                                    <a:srgbClr val="C00000"/>
                                  </a:solidFill>
                                  <a:latin typeface="Cambria Math"/>
                                  <a:ea typeface="Cambria Math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TW" b="0" i="1" smtClean="0">
                                  <a:solidFill>
                                    <a:srgbClr val="C00000"/>
                                  </a:solidFill>
                                  <a:latin typeface="Cambria Math"/>
                                </a:rPr>
                                <m:t>𝑗</m:t>
                              </m:r>
                              <m:r>
                                <a:rPr lang="en-US" altLang="zh-TW" b="0" i="1" smtClean="0">
                                  <a:solidFill>
                                    <a:srgbClr val="C00000"/>
                                  </a:solidFill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altLang="zh-TW" b="0" i="1" smtClean="0">
                                  <a:solidFill>
                                    <a:srgbClr val="C00000"/>
                                  </a:solidFill>
                                  <a:latin typeface="Cambria Math"/>
                                </a:rPr>
                                <m:t>𝑛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altLang="zh-TW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i="1">
                                          <a:solidFill>
                                            <a:srgbClr val="C00000"/>
                                          </a:solidFill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TW" i="1">
                                          <a:solidFill>
                                            <a:srgbClr val="C00000"/>
                                          </a:solidFill>
                                          <a:latin typeface="Cambria Math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TW" i="1">
                                      <a:solidFill>
                                        <a:srgbClr val="C00000"/>
                                      </a:solidFill>
                                      <a:latin typeface="Cambria Math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TW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i="1">
                                          <a:solidFill>
                                            <a:srgbClr val="C00000"/>
                                          </a:solidFill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TW" i="1">
                                          <a:solidFill>
                                            <a:srgbClr val="C00000"/>
                                          </a:solidFill>
                                          <a:latin typeface="Cambria Math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den>
                      </m:f>
                    </m:oMath>
                  </m:oMathPara>
                </a14:m>
                <a:endParaRPr lang="en-US" altLang="zh-TW" sz="2200" dirty="0"/>
              </a:p>
              <a:p>
                <a:pPr lvl="1"/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668520"/>
              </a:xfrm>
              <a:blipFill>
                <a:blip r:embed="rId2"/>
                <a:stretch>
                  <a:fillRect l="-815" t="-235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Lagrange polynomial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34394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Lagrange interpolation 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343400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altLang="zh-TW" dirty="0"/>
                  <a:t>The Lagrange polynomial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solidFill>
                          <a:srgbClr val="C00000"/>
                        </a:solidFill>
                        <a:latin typeface="Cambria Math"/>
                      </a:rPr>
                      <m:t>𝑝</m:t>
                    </m:r>
                    <m:d>
                      <m:dPr>
                        <m:ctrlP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altLang="zh-TW" b="0" i="1" smtClean="0">
                        <a:solidFill>
                          <a:srgbClr val="C00000"/>
                        </a:solidFill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=0</m:t>
                        </m:r>
                      </m:sub>
                      <m:sup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=</m:t>
                        </m:r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zh-TW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b="0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TW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zh-TW" b="0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(</m:t>
                        </m:r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𝑥</m:t>
                        </m:r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)</m:t>
                        </m:r>
                      </m:e>
                    </m:nary>
                    <m:r>
                      <a:rPr lang="en-US" altLang="zh-TW" b="0" i="1" smtClean="0">
                        <a:solidFill>
                          <a:srgbClr val="C00000"/>
                        </a:solidFill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=0</m:t>
                        </m:r>
                      </m:sub>
                      <m:sup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=</m:t>
                        </m:r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zh-TW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b="0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altLang="zh-TW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TW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nary>
                                  <m:naryPr>
                                    <m:chr m:val="∏"/>
                                    <m:ctrlPr>
                                      <a:rPr lang="en-US" altLang="zh-TW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zh-TW" i="1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𝑗</m:t>
                                    </m:r>
                                    <m:r>
                                      <a:rPr lang="en-US" altLang="zh-TW" i="1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=0,</m:t>
                                    </m:r>
                                    <m:r>
                                      <a:rPr lang="en-US" altLang="zh-TW" i="1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𝑗</m:t>
                                    </m:r>
                                    <m:r>
                                      <a:rPr lang="en-US" altLang="zh-TW" i="1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  <a:ea typeface="Cambria Math"/>
                                      </a:rPr>
                                      <m:t>≠</m:t>
                                    </m:r>
                                    <m:r>
                                      <a:rPr lang="en-US" altLang="zh-TW" i="1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  <a:ea typeface="Cambria Math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altLang="zh-TW" i="1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𝑗</m:t>
                                    </m:r>
                                    <m:r>
                                      <a:rPr lang="en-US" altLang="zh-TW" i="1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=</m:t>
                                    </m:r>
                                    <m:r>
                                      <a:rPr lang="en-US" altLang="zh-TW" i="1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𝑛</m:t>
                                    </m:r>
                                  </m:sup>
                                  <m:e>
                                    <m:r>
                                      <a:rPr lang="en-US" altLang="zh-TW" i="1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(</m:t>
                                    </m:r>
                                    <m:r>
                                      <a:rPr lang="en-US" altLang="zh-TW" i="1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  <m:r>
                                      <a:rPr lang="en-US" altLang="zh-TW" i="1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TW" i="1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solidFill>
                                              <a:srgbClr val="C00000"/>
                                            </a:solidFill>
                                            <a:latin typeface="Cambria Math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TW" i="1">
                                            <a:solidFill>
                                              <a:srgbClr val="C00000"/>
                                            </a:solidFill>
                                            <a:latin typeface="Cambria Math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r>
                                      <a:rPr lang="en-US" altLang="zh-TW" i="1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)</m:t>
                                    </m:r>
                                  </m:e>
                                </m:nary>
                              </m:num>
                              <m:den>
                                <m:nary>
                                  <m:naryPr>
                                    <m:chr m:val="∏"/>
                                    <m:ctrlPr>
                                      <a:rPr lang="en-US" altLang="zh-TW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zh-TW" i="1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𝑗</m:t>
                                    </m:r>
                                    <m:r>
                                      <a:rPr lang="en-US" altLang="zh-TW" i="1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=0,</m:t>
                                    </m:r>
                                    <m:r>
                                      <a:rPr lang="en-US" altLang="zh-TW" i="1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𝑗</m:t>
                                    </m:r>
                                    <m:r>
                                      <a:rPr lang="en-US" altLang="zh-TW" i="1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  <a:ea typeface="Cambria Math"/>
                                      </a:rPr>
                                      <m:t>≠</m:t>
                                    </m:r>
                                    <m:r>
                                      <a:rPr lang="en-US" altLang="zh-TW" i="1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  <a:ea typeface="Cambria Math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altLang="zh-TW" i="1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𝑗</m:t>
                                    </m:r>
                                    <m:r>
                                      <a:rPr lang="en-US" altLang="zh-TW" i="1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=</m:t>
                                    </m:r>
                                    <m:r>
                                      <a:rPr lang="en-US" altLang="zh-TW" i="1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𝑛</m:t>
                                    </m:r>
                                  </m:sup>
                                  <m:e>
                                    <m:r>
                                      <a:rPr lang="en-US" altLang="zh-TW" i="1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US" altLang="zh-TW" i="1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solidFill>
                                              <a:srgbClr val="C00000"/>
                                            </a:solidFill>
                                            <a:latin typeface="Cambria Math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TW" i="1">
                                            <a:solidFill>
                                              <a:srgbClr val="C00000"/>
                                            </a:solidFill>
                                            <a:latin typeface="Cambria Math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altLang="zh-TW" i="1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TW" i="1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solidFill>
                                              <a:srgbClr val="C00000"/>
                                            </a:solidFill>
                                            <a:latin typeface="Cambria Math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TW" i="1">
                                            <a:solidFill>
                                              <a:srgbClr val="C00000"/>
                                            </a:solidFill>
                                            <a:latin typeface="Cambria Math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r>
                                      <a:rPr lang="en-US" altLang="zh-TW" i="1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)</m:t>
                                    </m:r>
                                  </m:e>
                                </m:nary>
                              </m:den>
                            </m:f>
                          </m:e>
                        </m:d>
                      </m:e>
                    </m:nary>
                    <m:r>
                      <a:rPr lang="en-US" altLang="zh-TW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zh-TW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nary>
                          <m:naryPr>
                            <m:chr m:val="∏"/>
                            <m:ctrlPr>
                              <a:rPr lang="en-US" altLang="zh-TW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TW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TW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=0,</m:t>
                            </m:r>
                            <m:r>
                              <a:rPr lang="en-US" altLang="zh-TW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TW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en-US" altLang="zh-TW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TW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f>
                              <m:fPr>
                                <m:ctrlPr>
                                  <a:rPr lang="en-US" altLang="zh-TW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TW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TW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den>
                            </m:f>
                          </m:e>
                        </m:nary>
                      </m:e>
                    </m:nary>
                  </m:oMath>
                </a14:m>
                <a:r>
                  <a:rPr lang="en-US" altLang="zh-TW" dirty="0">
                    <a:solidFill>
                      <a:srgbClr val="C00000"/>
                    </a:solidFill>
                  </a:rPr>
                  <a:t>  </a:t>
                </a:r>
              </a:p>
              <a:p>
                <a:pPr marL="457200" lvl="1" indent="0">
                  <a:buNone/>
                </a:pPr>
                <a:endParaRPr lang="en-US" altLang="zh-TW" dirty="0">
                  <a:solidFill>
                    <a:srgbClr val="C00000"/>
                  </a:solidFill>
                </a:endParaRPr>
              </a:p>
              <a:p>
                <a:r>
                  <a:rPr lang="en-US" altLang="zh-TW" dirty="0">
                    <a:solidFill>
                      <a:srgbClr val="C00000"/>
                    </a:solidFill>
                  </a:rPr>
                  <a:t>Theorem: The polynomial </a:t>
                </a:r>
                <a:r>
                  <a:rPr lang="en-US" altLang="zh-TW" i="1" dirty="0">
                    <a:solidFill>
                      <a:srgbClr val="C00000"/>
                    </a:solidFill>
                  </a:rPr>
                  <a:t>p(x)</a:t>
                </a:r>
                <a:r>
                  <a:rPr lang="en-US" altLang="zh-TW" dirty="0">
                    <a:solidFill>
                      <a:srgbClr val="C00000"/>
                    </a:solidFill>
                  </a:rPr>
                  <a:t>, which interpolates </a:t>
                </a:r>
                <a:r>
                  <a:rPr lang="en-US" altLang="zh-TW" i="1" dirty="0">
                    <a:solidFill>
                      <a:srgbClr val="C00000"/>
                    </a:solidFill>
                  </a:rPr>
                  <a:t>f(x)</a:t>
                </a:r>
                <a:r>
                  <a:rPr lang="en-US" altLang="zh-TW" dirty="0">
                    <a:solidFill>
                      <a:srgbClr val="C00000"/>
                    </a:solidFill>
                  </a:rPr>
                  <a:t> at n+1 points and is of degree </a:t>
                </a:r>
                <a:r>
                  <a:rPr lang="en-US" altLang="zh-TW" dirty="0">
                    <a:solidFill>
                      <a:srgbClr val="C00000"/>
                    </a:solidFill>
                    <a:latin typeface="Times New Roman"/>
                    <a:cs typeface="Times New Roman"/>
                  </a:rPr>
                  <a:t>≤ n, is unique</a:t>
                </a:r>
              </a:p>
              <a:p>
                <a:r>
                  <a:rPr lang="en-US" altLang="zh-TW" dirty="0">
                    <a:latin typeface="Times New Roman"/>
                    <a:cs typeface="Times New Roman"/>
                  </a:rPr>
                  <a:t>We can use </a:t>
                </a:r>
                <a:r>
                  <a:rPr lang="en-US" altLang="zh-TW" dirty="0" err="1">
                    <a:latin typeface="Times New Roman"/>
                    <a:cs typeface="Times New Roman"/>
                  </a:rPr>
                  <a:t>lagrange</a:t>
                </a:r>
                <a:r>
                  <a:rPr lang="en-US" altLang="zh-TW" dirty="0">
                    <a:latin typeface="Times New Roman"/>
                    <a:cs typeface="Times New Roman"/>
                  </a:rPr>
                  <a:t> interpolation to super-sample a image under different circumstances</a:t>
                </a:r>
              </a:p>
              <a:p>
                <a:pPr lvl="1"/>
                <a:r>
                  <a:rPr lang="en-US" altLang="zh-TW" dirty="0"/>
                  <a:t>Divide row/column into blocks , a block contains K pixels </a:t>
                </a:r>
                <a:r>
                  <a:rPr lang="en-US" altLang="zh-TW" dirty="0">
                    <a:solidFill>
                      <a:srgbClr val="00B0F0"/>
                    </a:solidFill>
                  </a:rPr>
                  <a:t>// ex: K = 4 </a:t>
                </a:r>
              </a:p>
              <a:p>
                <a:pPr lvl="1"/>
                <a:r>
                  <a:rPr lang="en-US" altLang="zh-TW" dirty="0"/>
                  <a:t>Each block can shares a pixel with its previous and next neighboring blocks</a:t>
                </a:r>
                <a:r>
                  <a:rPr lang="en-US" altLang="zh-TW" dirty="0">
                    <a:solidFill>
                      <a:srgbClr val="00B0F0"/>
                    </a:solidFill>
                  </a:rPr>
                  <a:t> // 1 + K + 1 </a:t>
                </a:r>
                <a:endParaRPr lang="en-US" altLang="zh-TW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343400"/>
              </a:xfrm>
              <a:blipFill>
                <a:blip r:embed="rId2"/>
                <a:stretch>
                  <a:fillRect l="-815" t="-2528" r="-9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Lagrange polynomial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38716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內容版面配置區 15"/>
          <p:cNvSpPr/>
          <p:nvPr/>
        </p:nvSpPr>
        <p:spPr>
          <a:xfrm>
            <a:off x="457172" y="1599482"/>
            <a:ext cx="8056997" cy="182951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638" tIns="40819" rIns="81638" bIns="40819" numCol="1" spcCol="0" anchor="t">
            <a:normAutofit/>
          </a:bodyPr>
          <a:lstStyle/>
          <a:p>
            <a:pPr marL="311208" indent="-311208" defTabSz="414726">
              <a:spcBef>
                <a:spcPts val="581"/>
              </a:spcBef>
              <a:buClr>
                <a:srgbClr val="000000"/>
              </a:buClr>
              <a:buFont typeface="Arial"/>
              <a:buChar char="•"/>
            </a:pPr>
            <a:endParaRPr lang="en-US" sz="2903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標題 15"/>
          <p:cNvSpPr/>
          <p:nvPr/>
        </p:nvSpPr>
        <p:spPr>
          <a:xfrm>
            <a:off x="457172" y="274663"/>
            <a:ext cx="8228437" cy="114260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638" tIns="40819" rIns="81638" bIns="40819" numCol="1" spcCol="0" anchor="ctr">
            <a:noAutofit/>
          </a:bodyPr>
          <a:lstStyle/>
          <a:p>
            <a:pPr algn="ctr" defTabSz="829452">
              <a:tabLst>
                <a:tab pos="0" algn="l"/>
              </a:tabLst>
            </a:pPr>
            <a:r>
              <a:rPr lang="en-US" sz="3991" spc="-1">
                <a:solidFill>
                  <a:srgbClr val="000000"/>
                </a:solidFill>
                <a:latin typeface="Times New Roman"/>
                <a:ea typeface="DFKai-SB"/>
              </a:rPr>
              <a:t>PSNR</a:t>
            </a:r>
            <a:endParaRPr lang="en-US" sz="3991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4" name="圖片 153"/>
          <p:cNvPicPr/>
          <p:nvPr/>
        </p:nvPicPr>
        <p:blipFill>
          <a:blip r:embed="rId3"/>
          <a:stretch/>
        </p:blipFill>
        <p:spPr>
          <a:xfrm>
            <a:off x="103517" y="2614076"/>
            <a:ext cx="9039916" cy="978347"/>
          </a:xfrm>
          <a:prstGeom prst="rect">
            <a:avLst/>
          </a:prstGeom>
          <a:ln w="0"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文字方塊 154"/>
              <p:cNvSpPr txBox="1"/>
              <p:nvPr/>
            </p:nvSpPr>
            <p:spPr>
              <a:xfrm>
                <a:off x="584042" y="3785784"/>
                <a:ext cx="8101567" cy="2176132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81638" tIns="40819" rIns="81638" bIns="40819" anchor="t">
                <a:noAutofit/>
              </a:bodyPr>
              <a:lstStyle/>
              <a:p>
                <a:pPr marL="414726" indent="-414726">
                  <a:buFont typeface="Arial" panose="020B0604020202020204" pitchFamily="34" charset="0"/>
                  <a:buChar char="•"/>
                </a:pPr>
                <a:r>
                  <a:rPr lang="en-US" altLang="zh-TW" sz="2540" spc="-1" dirty="0">
                    <a:solidFill>
                      <a:schemeClr val="dk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I</a:t>
                </a:r>
                <a:r>
                  <a:rPr lang="zh-TW" altLang="en-US" sz="2540" spc="-1" dirty="0">
                    <a:solidFill>
                      <a:schemeClr val="dk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和</a:t>
                </a:r>
                <a:r>
                  <a:rPr lang="en-US" altLang="zh-TW" sz="2540" spc="-1" dirty="0">
                    <a:solidFill>
                      <a:schemeClr val="dk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K</a:t>
                </a:r>
                <a:r>
                  <a:rPr lang="zh-TW" altLang="en-US" sz="2540" spc="-1" dirty="0">
                    <a:solidFill>
                      <a:schemeClr val="dk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為</a:t>
                </a:r>
                <a:r>
                  <a:rPr lang="en-US" altLang="zh-TW" sz="2540" spc="-1" dirty="0">
                    <a:solidFill>
                      <a:schemeClr val="dk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M*N</a:t>
                </a:r>
                <a:r>
                  <a:rPr lang="zh-TW" altLang="zh-TW" sz="2540" spc="-1" dirty="0">
                    <a:solidFill>
                      <a:schemeClr val="dk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的</a:t>
                </a:r>
                <a:r>
                  <a:rPr lang="en-US" altLang="zh-TW" sz="2540" spc="-1" dirty="0">
                    <a:solidFill>
                      <a:schemeClr val="dk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RGB</a:t>
                </a:r>
                <a:r>
                  <a:rPr lang="zh-TW" altLang="zh-TW" sz="2540" spc="-1" dirty="0">
                    <a:solidFill>
                      <a:schemeClr val="dk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圖片</a:t>
                </a:r>
                <a:endParaRPr lang="en-US" altLang="zh-TW" sz="2540" spc="-1" dirty="0">
                  <a:solidFill>
                    <a:schemeClr val="dk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414726" indent="-414726">
                  <a:buFont typeface="Arial" panose="020B0604020202020204" pitchFamily="34" charset="0"/>
                  <a:buChar char="•"/>
                </a:pPr>
                <a:r>
                  <a:rPr lang="en-US" altLang="zh-TW" sz="2540" spc="-1" dirty="0">
                    <a:solidFill>
                      <a:schemeClr val="dk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I</a:t>
                </a:r>
                <a:r>
                  <a:rPr lang="zh-TW" altLang="en-US" sz="2540" spc="-1" dirty="0">
                    <a:solidFill>
                      <a:schemeClr val="dk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原始圖像</a:t>
                </a:r>
                <a:endParaRPr lang="en-US" altLang="zh-TW" sz="2540" spc="-1" dirty="0">
                  <a:solidFill>
                    <a:schemeClr val="dk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414726" indent="-414726">
                  <a:buFont typeface="Arial" panose="020B0604020202020204" pitchFamily="34" charset="0"/>
                  <a:buChar char="•"/>
                </a:pPr>
                <a:r>
                  <a:rPr lang="en-US" altLang="zh-TW" sz="2540" spc="-1" dirty="0">
                    <a:solidFill>
                      <a:schemeClr val="dk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K</a:t>
                </a:r>
                <a:r>
                  <a:rPr lang="zh-TW" altLang="en-US" sz="2540" spc="-1" dirty="0">
                    <a:solidFill>
                      <a:schemeClr val="dk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經過處理後的圖像</a:t>
                </a:r>
                <a:endParaRPr lang="en-US" altLang="zh-TW" sz="2540" spc="-1" dirty="0">
                  <a:solidFill>
                    <a:srgbClr val="0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414726" indent="-414726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540" i="1" spc="-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40" i="1" spc="-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𝑀𝐴𝑋</m:t>
                        </m:r>
                      </m:e>
                      <m:sub>
                        <m:r>
                          <a:rPr lang="en-US" altLang="zh-TW" sz="2540" i="1" spc="-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</m:oMath>
                </a14:m>
                <a:r>
                  <a:rPr lang="en-US" sz="2540" spc="-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zh-TW" altLang="en-US" sz="2540" spc="-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是圖像點顏色的最大數值</a:t>
                </a:r>
                <a:r>
                  <a:rPr lang="en-US" altLang="zh-TW" sz="2540" spc="-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		</a:t>
                </a:r>
                <a:r>
                  <a:rPr lang="zh-TW" altLang="en-US" sz="2540" spc="-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               </a:t>
                </a:r>
                <a:r>
                  <a:rPr lang="en-US" altLang="zh-TW" sz="2540" spc="-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ex:8bit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540" i="1" spc="-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40" i="1" spc="-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𝑀𝐴𝑋</m:t>
                        </m:r>
                      </m:e>
                      <m:sub>
                        <m:r>
                          <a:rPr lang="en-US" altLang="zh-TW" sz="2540" i="1" spc="-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</m:oMath>
                </a14:m>
                <a:r>
                  <a:rPr lang="en-US" altLang="zh-TW" sz="2540" spc="-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=255</a:t>
                </a:r>
              </a:p>
            </p:txBody>
          </p:sp>
        </mc:Choice>
        <mc:Fallback xmlns="">
          <p:sp>
            <p:nvSpPr>
              <p:cNvPr id="155" name="文字方塊 1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042" y="3785784"/>
                <a:ext cx="8101567" cy="2176132"/>
              </a:xfrm>
              <a:prstGeom prst="rect">
                <a:avLst/>
              </a:prstGeom>
              <a:blipFill>
                <a:blip r:embed="rId4"/>
                <a:stretch>
                  <a:fillRect l="-1279" t="-3081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7F1FA585-BD37-4F70-9B78-EE450DFCDC7C}" type="slidenum">
              <a:t>17</a:t>
            </a:fld>
            <a:endParaRPr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0A34A6D-AEF9-455F-90DD-5DAA54CAF3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2839" y="1635729"/>
            <a:ext cx="3477102" cy="978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988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標題 1"/>
          <p:cNvSpPr/>
          <p:nvPr/>
        </p:nvSpPr>
        <p:spPr>
          <a:xfrm>
            <a:off x="457172" y="274663"/>
            <a:ext cx="8228437" cy="114260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638" tIns="40819" rIns="81638" bIns="40819" numCol="1" spcCol="0" anchor="ctr">
            <a:noAutofit/>
          </a:bodyPr>
          <a:lstStyle/>
          <a:p>
            <a:pPr algn="ctr" defTabSz="829452">
              <a:tabLst>
                <a:tab pos="0" algn="l"/>
              </a:tabLst>
            </a:pPr>
            <a:r>
              <a:rPr lang="en-US" sz="3991" spc="-1" dirty="0">
                <a:solidFill>
                  <a:srgbClr val="000000"/>
                </a:solidFill>
                <a:latin typeface="Times New Roman"/>
                <a:ea typeface="DFKai-SB"/>
              </a:rPr>
              <a:t>SSIM</a:t>
            </a:r>
            <a:endParaRPr lang="en-US" sz="3991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123EA004-DFCD-4A54-BBD2-414F3D08C7EE}" type="slidenum">
              <a:t>18</a:t>
            </a:fld>
            <a:endParaRPr/>
          </a:p>
        </p:txBody>
      </p:sp>
      <p:pic>
        <p:nvPicPr>
          <p:cNvPr id="7" name="圖形 6">
            <a:extLst>
              <a:ext uri="{FF2B5EF4-FFF2-40B4-BE49-F238E27FC236}">
                <a16:creationId xmlns:a16="http://schemas.microsoft.com/office/drawing/2014/main" id="{B5F5CBC4-38B2-4B1A-8826-417341F301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7223" y="1616034"/>
            <a:ext cx="6728335" cy="513406"/>
          </a:xfrm>
          <a:prstGeom prst="rect">
            <a:avLst/>
          </a:prstGeom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03DBDFF2-F779-4A90-8A08-BE58B0041C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97" y="5129641"/>
            <a:ext cx="3998605" cy="891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89C4DAB0-3EE3-47C7-B190-34D3BCAFC4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399"/>
          <a:stretch/>
        </p:blipFill>
        <p:spPr bwMode="auto">
          <a:xfrm>
            <a:off x="457172" y="2317236"/>
            <a:ext cx="1722314" cy="828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0DC6E348-7074-4628-A1E3-DA24D76B6F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346"/>
          <a:stretch/>
        </p:blipFill>
        <p:spPr bwMode="auto">
          <a:xfrm>
            <a:off x="457172" y="3070164"/>
            <a:ext cx="1378185" cy="854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0DB1A2BC-0968-4953-897E-84F7E04CA8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65861"/>
          <a:stretch/>
        </p:blipFill>
        <p:spPr bwMode="auto">
          <a:xfrm>
            <a:off x="447697" y="3885867"/>
            <a:ext cx="1546489" cy="873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內容版面配置區 2">
                <a:extLst>
                  <a:ext uri="{FF2B5EF4-FFF2-40B4-BE49-F238E27FC236}">
                    <a16:creationId xmlns:a16="http://schemas.microsoft.com/office/drawing/2014/main" id="{7AF6A3E4-A6A7-4AC6-8460-2137F7CF89E0}"/>
                  </a:ext>
                </a:extLst>
              </p:cNvPr>
              <p:cNvSpPr/>
              <p:nvPr/>
            </p:nvSpPr>
            <p:spPr>
              <a:xfrm>
                <a:off x="5157453" y="2598919"/>
                <a:ext cx="3356717" cy="2431277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81638" tIns="40819" rIns="81638" bIns="40819" numCol="1" spcCol="0" anchor="t">
                <a:normAutofit fontScale="92500" lnSpcReduction="10000"/>
              </a:bodyPr>
              <a:lstStyle/>
              <a:p>
                <a:pPr marL="311208" indent="-311208" defTabSz="414726">
                  <a:spcBef>
                    <a:spcPts val="581"/>
                  </a:spcBef>
                  <a:buClr>
                    <a:srgbClr val="000000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177" i="1" spc="-1" dirty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α</m:t>
                    </m:r>
                    <m:r>
                      <a:rPr lang="el-GR" sz="2177" i="1" spc="-1" dirty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𝛽𝛾</m:t>
                    </m:r>
                  </m:oMath>
                </a14:m>
                <a:r>
                  <a:rPr lang="zh-TW" altLang="en-US" sz="2177" spc="-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為重要性，在實作上通常為</a:t>
                </a:r>
                <a:r>
                  <a:rPr lang="en-US" altLang="zh-TW" sz="2177" spc="-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1</a:t>
                </a:r>
              </a:p>
              <a:p>
                <a:pPr marL="311208" indent="-311208" defTabSz="414726">
                  <a:spcBef>
                    <a:spcPts val="581"/>
                  </a:spcBef>
                  <a:buClr>
                    <a:srgbClr val="000000"/>
                  </a:buClr>
                  <a:buFont typeface="Arial"/>
                  <a:buChar char="•"/>
                </a:pPr>
                <a:r>
                  <a:rPr lang="en-US" sz="2177" spc="-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C </a:t>
                </a:r>
                <a:r>
                  <a:rPr lang="zh-TW" altLang="en-US" sz="2177" spc="-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用於維持穩定的常數</a:t>
                </a:r>
                <a:endParaRPr lang="en-US" altLang="zh-TW" sz="2177" spc="-1" dirty="0">
                  <a:solidFill>
                    <a:srgbClr val="0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311208" indent="-311208" defTabSz="414726">
                  <a:spcBef>
                    <a:spcPts val="581"/>
                  </a:spcBef>
                  <a:buClr>
                    <a:srgbClr val="000000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zh-TW" altLang="en-US" sz="2177" i="1" spc="-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zh-TW" altLang="en-US" sz="2177" spc="-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177" spc="-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Mean</a:t>
                </a:r>
              </a:p>
              <a:p>
                <a:pPr marL="311208" indent="-311208" defTabSz="414726">
                  <a:spcBef>
                    <a:spcPts val="581"/>
                  </a:spcBef>
                  <a:buClr>
                    <a:srgbClr val="000000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zh-TW" altLang="en-US" sz="2177" i="1" spc="-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zh-TW" altLang="en-US" sz="2177" spc="-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177" spc="-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standard deviation</a:t>
                </a:r>
              </a:p>
              <a:p>
                <a:pPr marL="311208" indent="-311208" defTabSz="414726">
                  <a:spcBef>
                    <a:spcPts val="581"/>
                  </a:spcBef>
                  <a:buClr>
                    <a:srgbClr val="000000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177" i="1" spc="-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zh-TW" altLang="en-US" sz="2177" i="1" spc="-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TW" sz="2177" i="1" spc="-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TW" altLang="en-US" sz="2177" spc="-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177" spc="-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Variance</a:t>
                </a:r>
              </a:p>
              <a:p>
                <a:pPr marL="311208" indent="-311208" defTabSz="414726">
                  <a:spcBef>
                    <a:spcPts val="581"/>
                  </a:spcBef>
                  <a:buClr>
                    <a:srgbClr val="000000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177" i="1" spc="-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TW" altLang="en-US" sz="2177" i="1" spc="-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TW" sz="2177" i="1" spc="-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𝑥𝑦</m:t>
                        </m:r>
                      </m:sub>
                    </m:sSub>
                  </m:oMath>
                </a14:m>
                <a:r>
                  <a:rPr lang="en-US" altLang="zh-TW" sz="2177" spc="-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covariance</a:t>
                </a:r>
                <a:endParaRPr lang="en-US" sz="2903" spc="-1" dirty="0">
                  <a:solidFill>
                    <a:srgbClr val="0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defTabSz="414726">
                  <a:spcBef>
                    <a:spcPts val="581"/>
                  </a:spcBef>
                </a:pPr>
                <a:endParaRPr lang="en-US" sz="2903" spc="-1" dirty="0">
                  <a:solidFill>
                    <a:srgbClr val="0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內容版面配置區 2">
                <a:extLst>
                  <a:ext uri="{FF2B5EF4-FFF2-40B4-BE49-F238E27FC236}">
                    <a16:creationId xmlns:a16="http://schemas.microsoft.com/office/drawing/2014/main" id="{7AF6A3E4-A6A7-4AC6-8460-2137F7CF89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7453" y="2598919"/>
                <a:ext cx="3356717" cy="2431277"/>
              </a:xfrm>
              <a:prstGeom prst="rect">
                <a:avLst/>
              </a:prstGeom>
              <a:blipFill>
                <a:blip r:embed="rId9"/>
                <a:stretch>
                  <a:fillRect l="-1996" t="-2757" b="-3008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圖形 14">
            <a:extLst>
              <a:ext uri="{FF2B5EF4-FFF2-40B4-BE49-F238E27FC236}">
                <a16:creationId xmlns:a16="http://schemas.microsoft.com/office/drawing/2014/main" id="{4ABD8893-26D8-437C-91F3-447BC4020CC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94186" y="3929641"/>
            <a:ext cx="2511044" cy="771108"/>
          </a:xfrm>
          <a:prstGeom prst="rect">
            <a:avLst/>
          </a:prstGeom>
        </p:spPr>
      </p:pic>
      <p:pic>
        <p:nvPicPr>
          <p:cNvPr id="17" name="圖形 16">
            <a:extLst>
              <a:ext uri="{FF2B5EF4-FFF2-40B4-BE49-F238E27FC236}">
                <a16:creationId xmlns:a16="http://schemas.microsoft.com/office/drawing/2014/main" id="{D8B943CE-5FE8-4057-B02D-28E4EDEFE16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829632" y="3102830"/>
            <a:ext cx="2786769" cy="779516"/>
          </a:xfrm>
          <a:prstGeom prst="rect">
            <a:avLst/>
          </a:prstGeom>
        </p:spPr>
      </p:pic>
      <p:pic>
        <p:nvPicPr>
          <p:cNvPr id="19" name="圖形 18">
            <a:extLst>
              <a:ext uri="{FF2B5EF4-FFF2-40B4-BE49-F238E27FC236}">
                <a16:creationId xmlns:a16="http://schemas.microsoft.com/office/drawing/2014/main" id="{DCAE4ADA-1BBC-4EC5-A0BB-BD0A51FA931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302278" y="2391236"/>
            <a:ext cx="2511045" cy="707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6667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eaLnBrk="1" hangingPunct="1"/>
            <a:r>
              <a:rPr lang="en-US" altLang="zh-TW" dirty="0">
                <a:solidFill>
                  <a:prstClr val="black"/>
                </a:solidFill>
              </a:rPr>
              <a:t>Original RGB image</a:t>
            </a:r>
          </a:p>
        </p:txBody>
      </p:sp>
      <p:sp>
        <p:nvSpPr>
          <p:cNvPr id="4099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en-US" altLang="zh-TW" dirty="0">
              <a:solidFill>
                <a:prstClr val="black"/>
              </a:solidFill>
            </a:endParaRPr>
          </a:p>
          <a:p>
            <a:pPr eaLnBrk="1" hangingPunct="1"/>
            <a:endParaRPr lang="en-US" altLang="zh-TW" dirty="0">
              <a:solidFill>
                <a:prstClr val="black"/>
              </a:solidFill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2D0C637-8079-4FB5-8D98-23DD4EE4EB61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/>
                <a:ea typeface="DFKai-SB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DFKai-SB"/>
              <a:cs typeface="+mn-cs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90E3302-9F1A-4905-94AC-060D9EF76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9420BCC-28BD-4E56-AEE3-50400597A9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840" y="2443459"/>
            <a:ext cx="3682703" cy="3682703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4D97E883-40DB-43AC-BC48-87E586F07B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6980" y="2443460"/>
            <a:ext cx="3639820" cy="3639820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D479D599-6FBB-408A-98F0-ADBDEE90506B}"/>
              </a:ext>
            </a:extLst>
          </p:cNvPr>
          <p:cNvSpPr txBox="1"/>
          <p:nvPr/>
        </p:nvSpPr>
        <p:spPr>
          <a:xfrm>
            <a:off x="1526069" y="2013217"/>
            <a:ext cx="21342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/>
              <a:t>Resolution:64x64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C81CE121-068D-4048-8E74-A3272397304F}"/>
              </a:ext>
            </a:extLst>
          </p:cNvPr>
          <p:cNvSpPr txBox="1"/>
          <p:nvPr/>
        </p:nvSpPr>
        <p:spPr>
          <a:xfrm>
            <a:off x="5570694" y="2043349"/>
            <a:ext cx="2592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/>
              <a:t>Resolution:512x512</a:t>
            </a:r>
          </a:p>
        </p:txBody>
      </p:sp>
    </p:spTree>
    <p:extLst>
      <p:ext uri="{BB962C8B-B14F-4D97-AF65-F5344CB8AC3E}">
        <p14:creationId xmlns:p14="http://schemas.microsoft.com/office/powerpoint/2010/main" val="23284974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F27B93-B0C3-45CB-89AD-53220B75F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Result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3B8D88-961D-4FFA-A5E7-D6382718EE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088" y="1295718"/>
            <a:ext cx="8229600" cy="4525963"/>
          </a:xfrm>
        </p:spPr>
        <p:txBody>
          <a:bodyPr/>
          <a:lstStyle/>
          <a:p>
            <a:r>
              <a:rPr lang="en-US" altLang="zh-TW" dirty="0"/>
              <a:t>Lagrange interpolation with block size = 4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B525FE4-8886-4A1B-93AE-6AFC12DDA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01BFFA-6C78-45F8-99E1-16FF11D16BE4}" type="slidenum">
              <a:rPr lang="zh-TW" altLang="en-US" smtClean="0"/>
              <a:pPr>
                <a:defRPr/>
              </a:pPr>
              <a:t>20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B86A02E-A91B-4FBE-9FFA-5C6F47D161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042" y="2182524"/>
            <a:ext cx="3650966" cy="3643821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8A62F584-0A0B-492D-A74D-2CC64D297C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0594" y="2182524"/>
            <a:ext cx="3636677" cy="3629531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BB6FEA2C-59F1-4DFA-A44E-87E2B28929E3}"/>
              </a:ext>
            </a:extLst>
          </p:cNvPr>
          <p:cNvSpPr txBox="1"/>
          <p:nvPr/>
        </p:nvSpPr>
        <p:spPr>
          <a:xfrm>
            <a:off x="1564620" y="1799907"/>
            <a:ext cx="21342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dirty="0"/>
              <a:t>K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2BA2A0D2-C7FB-4179-A536-86574D2D7B52}"/>
              </a:ext>
            </a:extLst>
          </p:cNvPr>
          <p:cNvSpPr txBox="1"/>
          <p:nvPr/>
        </p:nvSpPr>
        <p:spPr>
          <a:xfrm>
            <a:off x="5587677" y="1805276"/>
            <a:ext cx="21342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dirty="0"/>
              <a:t>1 + K + 1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5D5FE09F-E296-4EF1-BE16-0D5DA6B77F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9760" y="5876756"/>
            <a:ext cx="1819529" cy="714475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A4383A1D-F122-4F2D-A591-8898039FF0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9997" y="5909099"/>
            <a:ext cx="1810003" cy="68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8399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F27B93-B0C3-45CB-89AD-53220B75F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Result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3B8D88-961D-4FFA-A5E7-D6382718EE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088" y="1295718"/>
            <a:ext cx="8229600" cy="4525963"/>
          </a:xfrm>
        </p:spPr>
        <p:txBody>
          <a:bodyPr/>
          <a:lstStyle/>
          <a:p>
            <a:r>
              <a:rPr lang="en-US" altLang="zh-TW" dirty="0"/>
              <a:t>Lagrange interpolation with block size = 8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B525FE4-8886-4A1B-93AE-6AFC12DDA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01BFFA-6C78-45F8-99E1-16FF11D16BE4}" type="slidenum">
              <a:rPr lang="zh-TW" altLang="en-US" smtClean="0"/>
              <a:pPr>
                <a:defRPr/>
              </a:pPr>
              <a:t>21</a:t>
            </a:fld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B6FEA2C-59F1-4DFA-A44E-87E2B28929E3}"/>
              </a:ext>
            </a:extLst>
          </p:cNvPr>
          <p:cNvSpPr txBox="1"/>
          <p:nvPr/>
        </p:nvSpPr>
        <p:spPr>
          <a:xfrm>
            <a:off x="1564620" y="1799907"/>
            <a:ext cx="21342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dirty="0"/>
              <a:t>K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2BA2A0D2-C7FB-4179-A536-86574D2D7B52}"/>
              </a:ext>
            </a:extLst>
          </p:cNvPr>
          <p:cNvSpPr txBox="1"/>
          <p:nvPr/>
        </p:nvSpPr>
        <p:spPr>
          <a:xfrm>
            <a:off x="5587677" y="1805276"/>
            <a:ext cx="21342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dirty="0"/>
              <a:t>1</a:t>
            </a:r>
            <a:r>
              <a:rPr lang="zh-TW" altLang="en-US" sz="2000" dirty="0"/>
              <a:t> </a:t>
            </a:r>
            <a:r>
              <a:rPr lang="en-US" altLang="zh-TW" sz="2000" dirty="0"/>
              <a:t>+</a:t>
            </a:r>
            <a:r>
              <a:rPr lang="zh-TW" altLang="en-US" sz="2000" dirty="0"/>
              <a:t> </a:t>
            </a:r>
            <a:r>
              <a:rPr lang="en-US" altLang="zh-TW" sz="2000" dirty="0"/>
              <a:t>K</a:t>
            </a:r>
            <a:r>
              <a:rPr lang="zh-TW" altLang="en-US" sz="2000" dirty="0"/>
              <a:t> </a:t>
            </a:r>
            <a:r>
              <a:rPr lang="en-US" altLang="zh-TW" sz="2000" dirty="0"/>
              <a:t>+</a:t>
            </a:r>
            <a:r>
              <a:rPr lang="zh-TW" altLang="en-US" sz="2000" dirty="0"/>
              <a:t> </a:t>
            </a:r>
            <a:r>
              <a:rPr lang="en-US" altLang="zh-TW" sz="2000" dirty="0"/>
              <a:t>1</a:t>
            </a: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4C5237D6-5025-4F95-985E-42608D7E010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54681" y="2182524"/>
            <a:ext cx="3650965" cy="3629531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D290AEF1-C451-4C8C-BD0F-A102003712F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931393" y="2200017"/>
            <a:ext cx="3636677" cy="3582602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8D7D8835-3CB6-4D4F-B1DC-4BAB0A372A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0398" y="5861250"/>
            <a:ext cx="1819529" cy="666843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8EDDD323-2789-4808-9448-96AFCEDD6C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4561" y="5821681"/>
            <a:ext cx="1800476" cy="676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6489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F27B93-B0C3-45CB-89AD-53220B75F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Result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3B8D88-961D-4FFA-A5E7-D6382718EE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088" y="1295718"/>
            <a:ext cx="8229600" cy="4525963"/>
          </a:xfrm>
        </p:spPr>
        <p:txBody>
          <a:bodyPr/>
          <a:lstStyle/>
          <a:p>
            <a:r>
              <a:rPr lang="en-US" altLang="zh-TW" dirty="0"/>
              <a:t>Lagrange interpolation with block size = 16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B525FE4-8886-4A1B-93AE-6AFC12DDA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01BFFA-6C78-45F8-99E1-16FF11D16BE4}" type="slidenum">
              <a:rPr lang="zh-TW" altLang="en-US" smtClean="0"/>
              <a:pPr>
                <a:defRPr/>
              </a:pPr>
              <a:t>22</a:t>
            </a:fld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B6FEA2C-59F1-4DFA-A44E-87E2B28929E3}"/>
              </a:ext>
            </a:extLst>
          </p:cNvPr>
          <p:cNvSpPr txBox="1"/>
          <p:nvPr/>
        </p:nvSpPr>
        <p:spPr>
          <a:xfrm>
            <a:off x="1564620" y="1799907"/>
            <a:ext cx="21342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dirty="0"/>
              <a:t>K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2BA2A0D2-C7FB-4179-A536-86574D2D7B52}"/>
              </a:ext>
            </a:extLst>
          </p:cNvPr>
          <p:cNvSpPr txBox="1"/>
          <p:nvPr/>
        </p:nvSpPr>
        <p:spPr>
          <a:xfrm>
            <a:off x="5587677" y="1805276"/>
            <a:ext cx="21342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dirty="0"/>
              <a:t>1</a:t>
            </a:r>
            <a:r>
              <a:rPr lang="zh-TW" altLang="en-US" sz="2000" dirty="0"/>
              <a:t> </a:t>
            </a:r>
            <a:r>
              <a:rPr lang="en-US" altLang="zh-TW" sz="2000" dirty="0"/>
              <a:t>+</a:t>
            </a:r>
            <a:r>
              <a:rPr lang="zh-TW" altLang="en-US" sz="2000" dirty="0"/>
              <a:t> </a:t>
            </a:r>
            <a:r>
              <a:rPr lang="en-US" altLang="zh-TW" sz="2000" dirty="0"/>
              <a:t>K</a:t>
            </a:r>
            <a:r>
              <a:rPr lang="zh-TW" altLang="en-US" sz="2000" dirty="0"/>
              <a:t> </a:t>
            </a:r>
            <a:r>
              <a:rPr lang="en-US" altLang="zh-TW" sz="2000" dirty="0"/>
              <a:t>+</a:t>
            </a:r>
            <a:r>
              <a:rPr lang="zh-TW" altLang="en-US" sz="2000" dirty="0"/>
              <a:t> </a:t>
            </a:r>
            <a:r>
              <a:rPr lang="en-US" altLang="zh-TW" sz="2000" dirty="0"/>
              <a:t>1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0B3BF533-F934-4C6A-896F-89F8FE430B6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75000" y="2200017"/>
            <a:ext cx="3650965" cy="3612038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7E3FEE7F-4C02-47FB-A4B6-7FB63338510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951713" y="2212876"/>
            <a:ext cx="3636676" cy="3569743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8CD105EE-36C9-4D75-A9FA-B6CB689B4B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378" y="5867935"/>
            <a:ext cx="1752845" cy="657317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27CA46D7-DB75-435F-85AC-9526B2C2C1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0497" y="5831841"/>
            <a:ext cx="1781424" cy="66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0435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F27B93-B0C3-45CB-89AD-53220B75F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Result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3B8D88-961D-4FFA-A5E7-D6382718EE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088" y="1295718"/>
            <a:ext cx="8229600" cy="4525963"/>
          </a:xfrm>
        </p:spPr>
        <p:txBody>
          <a:bodyPr/>
          <a:lstStyle/>
          <a:p>
            <a:r>
              <a:rPr lang="en-US" altLang="zh-TW" dirty="0"/>
              <a:t>Lagrange interpolation with block size = 2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B525FE4-8886-4A1B-93AE-6AFC12DDA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01BFFA-6C78-45F8-99E1-16FF11D16BE4}" type="slidenum">
              <a:rPr lang="zh-TW" altLang="en-US" smtClean="0"/>
              <a:pPr>
                <a:defRPr/>
              </a:pPr>
              <a:t>23</a:t>
            </a:fld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B6FEA2C-59F1-4DFA-A44E-87E2B28929E3}"/>
              </a:ext>
            </a:extLst>
          </p:cNvPr>
          <p:cNvSpPr txBox="1"/>
          <p:nvPr/>
        </p:nvSpPr>
        <p:spPr>
          <a:xfrm>
            <a:off x="1564620" y="1799907"/>
            <a:ext cx="21342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dirty="0"/>
              <a:t>K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2BA2A0D2-C7FB-4179-A536-86574D2D7B52}"/>
              </a:ext>
            </a:extLst>
          </p:cNvPr>
          <p:cNvSpPr txBox="1"/>
          <p:nvPr/>
        </p:nvSpPr>
        <p:spPr>
          <a:xfrm>
            <a:off x="5587677" y="1805276"/>
            <a:ext cx="21342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dirty="0"/>
              <a:t>1</a:t>
            </a:r>
            <a:r>
              <a:rPr lang="zh-TW" altLang="en-US" sz="2000" dirty="0"/>
              <a:t> </a:t>
            </a:r>
            <a:r>
              <a:rPr lang="en-US" altLang="zh-TW" sz="2000" dirty="0"/>
              <a:t>+</a:t>
            </a:r>
            <a:r>
              <a:rPr lang="zh-TW" altLang="en-US" sz="2000" dirty="0"/>
              <a:t> </a:t>
            </a:r>
            <a:r>
              <a:rPr lang="en-US" altLang="zh-TW" sz="2000" dirty="0"/>
              <a:t>K</a:t>
            </a:r>
            <a:r>
              <a:rPr lang="zh-TW" altLang="en-US" sz="2000" dirty="0"/>
              <a:t> </a:t>
            </a:r>
            <a:r>
              <a:rPr lang="en-US" altLang="zh-TW" sz="2000" dirty="0"/>
              <a:t>+</a:t>
            </a:r>
            <a:r>
              <a:rPr lang="zh-TW" altLang="en-US" sz="2000" dirty="0"/>
              <a:t> </a:t>
            </a:r>
            <a:r>
              <a:rPr lang="en-US" altLang="zh-TW" sz="2000" dirty="0"/>
              <a:t>1</a:t>
            </a: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9B936176-79C0-48B1-BDC0-75BE3969CD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000" y="2192556"/>
            <a:ext cx="3650965" cy="3650965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839035C0-518D-44F1-A2EB-0C3EBA4B5C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033" y="2202716"/>
            <a:ext cx="3636676" cy="3636676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0CD81692-BC0E-4703-8E58-AED2612731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1030" y="5887943"/>
            <a:ext cx="1781424" cy="676369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81A1E4D5-9117-4571-BB7A-F0323AE5B6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3975" y="5886691"/>
            <a:ext cx="1800476" cy="68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1233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eaLnBrk="1" hangingPunct="1"/>
            <a:r>
              <a:rPr lang="en-US" altLang="zh-TW" dirty="0">
                <a:solidFill>
                  <a:prstClr val="black"/>
                </a:solidFill>
              </a:rPr>
              <a:t>Analysis</a:t>
            </a:r>
          </a:p>
        </p:txBody>
      </p:sp>
      <p:sp>
        <p:nvSpPr>
          <p:cNvPr id="4099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dirty="0">
                <a:solidFill>
                  <a:prstClr val="black"/>
                </a:solidFill>
              </a:rPr>
              <a:t>Lagrange interpolation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2D0C637-8079-4FB5-8D98-23DD4EE4EB61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/>
                <a:ea typeface="DFKai-SB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DFKai-SB"/>
              <a:cs typeface="+mn-cs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90E3302-9F1A-4905-94AC-060D9EF76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8" name="表格 8">
            <a:extLst>
              <a:ext uri="{FF2B5EF4-FFF2-40B4-BE49-F238E27FC236}">
                <a16:creationId xmlns:a16="http://schemas.microsoft.com/office/drawing/2014/main" id="{8A697D90-5DF7-4BCD-8887-100B8F4B7C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7207404"/>
              </p:ext>
            </p:extLst>
          </p:nvPr>
        </p:nvGraphicFramePr>
        <p:xfrm>
          <a:off x="1524000" y="2661880"/>
          <a:ext cx="6289040" cy="1259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808">
                  <a:extLst>
                    <a:ext uri="{9D8B030D-6E8A-4147-A177-3AD203B41FA5}">
                      <a16:colId xmlns:a16="http://schemas.microsoft.com/office/drawing/2014/main" val="1159889631"/>
                    </a:ext>
                  </a:extLst>
                </a:gridCol>
                <a:gridCol w="1257808">
                  <a:extLst>
                    <a:ext uri="{9D8B030D-6E8A-4147-A177-3AD203B41FA5}">
                      <a16:colId xmlns:a16="http://schemas.microsoft.com/office/drawing/2014/main" val="202428839"/>
                    </a:ext>
                  </a:extLst>
                </a:gridCol>
                <a:gridCol w="1257808">
                  <a:extLst>
                    <a:ext uri="{9D8B030D-6E8A-4147-A177-3AD203B41FA5}">
                      <a16:colId xmlns:a16="http://schemas.microsoft.com/office/drawing/2014/main" val="3323883523"/>
                    </a:ext>
                  </a:extLst>
                </a:gridCol>
                <a:gridCol w="1257808">
                  <a:extLst>
                    <a:ext uri="{9D8B030D-6E8A-4147-A177-3AD203B41FA5}">
                      <a16:colId xmlns:a16="http://schemas.microsoft.com/office/drawing/2014/main" val="2610922496"/>
                    </a:ext>
                  </a:extLst>
                </a:gridCol>
                <a:gridCol w="1257808">
                  <a:extLst>
                    <a:ext uri="{9D8B030D-6E8A-4147-A177-3AD203B41FA5}">
                      <a16:colId xmlns:a16="http://schemas.microsoft.com/office/drawing/2014/main" val="34335010"/>
                    </a:ext>
                  </a:extLst>
                </a:gridCol>
              </a:tblGrid>
              <a:tr h="41996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K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8995503"/>
                  </a:ext>
                </a:extLst>
              </a:tr>
              <a:tr h="41996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PSNR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25.60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25.37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22.78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11.50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023817"/>
                  </a:ext>
                </a:extLst>
              </a:tr>
              <a:tr h="41996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SSIM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0.924995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00B050"/>
                          </a:solidFill>
                        </a:rPr>
                        <a:t>0.923335</a:t>
                      </a:r>
                      <a:endParaRPr lang="zh-TW" alt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0.874765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0.402125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3389258"/>
                  </a:ext>
                </a:extLst>
              </a:tr>
            </a:tbl>
          </a:graphicData>
        </a:graphic>
      </p:graphicFrame>
      <p:graphicFrame>
        <p:nvGraphicFramePr>
          <p:cNvPr id="19" name="表格 8">
            <a:extLst>
              <a:ext uri="{FF2B5EF4-FFF2-40B4-BE49-F238E27FC236}">
                <a16:creationId xmlns:a16="http://schemas.microsoft.com/office/drawing/2014/main" id="{1364ADBC-90AE-4352-A7DB-A9609B9F56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2148582"/>
              </p:ext>
            </p:extLst>
          </p:nvPr>
        </p:nvGraphicFramePr>
        <p:xfrm>
          <a:off x="1524000" y="4279740"/>
          <a:ext cx="6289040" cy="1259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808">
                  <a:extLst>
                    <a:ext uri="{9D8B030D-6E8A-4147-A177-3AD203B41FA5}">
                      <a16:colId xmlns:a16="http://schemas.microsoft.com/office/drawing/2014/main" val="1159889631"/>
                    </a:ext>
                  </a:extLst>
                </a:gridCol>
                <a:gridCol w="1257808">
                  <a:extLst>
                    <a:ext uri="{9D8B030D-6E8A-4147-A177-3AD203B41FA5}">
                      <a16:colId xmlns:a16="http://schemas.microsoft.com/office/drawing/2014/main" val="202428839"/>
                    </a:ext>
                  </a:extLst>
                </a:gridCol>
                <a:gridCol w="1257808">
                  <a:extLst>
                    <a:ext uri="{9D8B030D-6E8A-4147-A177-3AD203B41FA5}">
                      <a16:colId xmlns:a16="http://schemas.microsoft.com/office/drawing/2014/main" val="3323883523"/>
                    </a:ext>
                  </a:extLst>
                </a:gridCol>
                <a:gridCol w="1257808">
                  <a:extLst>
                    <a:ext uri="{9D8B030D-6E8A-4147-A177-3AD203B41FA5}">
                      <a16:colId xmlns:a16="http://schemas.microsoft.com/office/drawing/2014/main" val="2610922496"/>
                    </a:ext>
                  </a:extLst>
                </a:gridCol>
                <a:gridCol w="1257808">
                  <a:extLst>
                    <a:ext uri="{9D8B030D-6E8A-4147-A177-3AD203B41FA5}">
                      <a16:colId xmlns:a16="http://schemas.microsoft.com/office/drawing/2014/main" val="34335010"/>
                    </a:ext>
                  </a:extLst>
                </a:gridCol>
              </a:tblGrid>
              <a:tr h="41996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1+K+1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8995503"/>
                  </a:ext>
                </a:extLst>
              </a:tr>
              <a:tr h="41996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PSNR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25.46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25.46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23.93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13.24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023817"/>
                  </a:ext>
                </a:extLst>
              </a:tr>
              <a:tr h="41996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SSIM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00B050"/>
                          </a:solidFill>
                        </a:rPr>
                        <a:t>0.923615</a:t>
                      </a:r>
                      <a:endParaRPr lang="zh-TW" alt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0.924440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0.901377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0.501433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3389258"/>
                  </a:ext>
                </a:extLst>
              </a:tr>
            </a:tbl>
          </a:graphicData>
        </a:graphic>
      </p:graphicFrame>
      <p:pic>
        <p:nvPicPr>
          <p:cNvPr id="2051" name="圖片 21">
            <a:extLst>
              <a:ext uri="{FF2B5EF4-FFF2-40B4-BE49-F238E27FC236}">
                <a16:creationId xmlns:a16="http://schemas.microsoft.com/office/drawing/2014/main" id="{44426FDA-9BAD-4179-AF4F-68CB50797E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27138" cy="563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圖片 22">
            <a:extLst>
              <a:ext uri="{FF2B5EF4-FFF2-40B4-BE49-F238E27FC236}">
                <a16:creationId xmlns:a16="http://schemas.microsoft.com/office/drawing/2014/main" id="{092C0982-C561-4949-9CD8-C8CBA25B17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49363" cy="54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9" name="圖片 23">
            <a:extLst>
              <a:ext uri="{FF2B5EF4-FFF2-40B4-BE49-F238E27FC236}">
                <a16:creationId xmlns:a16="http://schemas.microsoft.com/office/drawing/2014/main" id="{46088F03-573B-4E98-B5CA-5EEA817F7B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65238" cy="517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76822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F27B93-B0C3-45CB-89AD-53220B75F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Result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3B8D88-961D-4FFA-A5E7-D6382718EE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088" y="1295718"/>
            <a:ext cx="8229600" cy="4525963"/>
          </a:xfrm>
        </p:spPr>
        <p:txBody>
          <a:bodyPr/>
          <a:lstStyle/>
          <a:p>
            <a:r>
              <a:rPr lang="en-US" altLang="zh-TW" dirty="0"/>
              <a:t>Bilinear interpolation(2by2)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B525FE4-8886-4A1B-93AE-6AFC12DDA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01BFFA-6C78-45F8-99E1-16FF11D16BE4}" type="slidenum">
              <a:rPr lang="zh-TW" altLang="en-US" smtClean="0"/>
              <a:pPr>
                <a:defRPr/>
              </a:pPr>
              <a:t>25</a:t>
            </a:fld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B6FEA2C-59F1-4DFA-A44E-87E2B28929E3}"/>
              </a:ext>
            </a:extLst>
          </p:cNvPr>
          <p:cNvSpPr txBox="1"/>
          <p:nvPr/>
        </p:nvSpPr>
        <p:spPr>
          <a:xfrm>
            <a:off x="1564620" y="1799907"/>
            <a:ext cx="21342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dirty="0"/>
              <a:t>Origin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2BA2A0D2-C7FB-4179-A536-86574D2D7B52}"/>
              </a:ext>
            </a:extLst>
          </p:cNvPr>
          <p:cNvSpPr txBox="1"/>
          <p:nvPr/>
        </p:nvSpPr>
        <p:spPr>
          <a:xfrm>
            <a:off x="5587677" y="1805276"/>
            <a:ext cx="21342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dirty="0"/>
              <a:t>Linear</a:t>
            </a: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5D97DDE3-3E0D-4A3D-BE49-B09E00D1B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250" y="2200017"/>
            <a:ext cx="3657098" cy="3639820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C34E7191-A4DD-4CA0-A02F-941F91E5BA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193" y="2200017"/>
            <a:ext cx="3657098" cy="3657098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7A3DC495-40A3-4716-BAFA-40E7D1D49B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9797" y="5905919"/>
            <a:ext cx="1810003" cy="65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1836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F27B93-B0C3-45CB-89AD-53220B75F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Result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3B8D88-961D-4FFA-A5E7-D6382718EE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088" y="1295718"/>
            <a:ext cx="8229600" cy="4525963"/>
          </a:xfrm>
        </p:spPr>
        <p:txBody>
          <a:bodyPr/>
          <a:lstStyle/>
          <a:p>
            <a:r>
              <a:rPr lang="en-US" altLang="zh-TW" dirty="0"/>
              <a:t>Bicubic spline interpolation(4by4)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B525FE4-8886-4A1B-93AE-6AFC12DDA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01BFFA-6C78-45F8-99E1-16FF11D16BE4}" type="slidenum">
              <a:rPr lang="zh-TW" altLang="en-US" smtClean="0"/>
              <a:pPr>
                <a:defRPr/>
              </a:pPr>
              <a:t>26</a:t>
            </a:fld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B6FEA2C-59F1-4DFA-A44E-87E2B28929E3}"/>
              </a:ext>
            </a:extLst>
          </p:cNvPr>
          <p:cNvSpPr txBox="1"/>
          <p:nvPr/>
        </p:nvSpPr>
        <p:spPr>
          <a:xfrm>
            <a:off x="1564620" y="1799907"/>
            <a:ext cx="21342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dirty="0"/>
              <a:t>Origin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2BA2A0D2-C7FB-4179-A536-86574D2D7B52}"/>
              </a:ext>
            </a:extLst>
          </p:cNvPr>
          <p:cNvSpPr txBox="1"/>
          <p:nvPr/>
        </p:nvSpPr>
        <p:spPr>
          <a:xfrm>
            <a:off x="5587677" y="1805276"/>
            <a:ext cx="21342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dirty="0"/>
              <a:t>Cubic spline</a:t>
            </a: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C34E7191-A4DD-4CA0-A02F-941F91E5BA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193" y="2200017"/>
            <a:ext cx="3657098" cy="3657098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8E332B03-E1F8-4C61-8800-3962DDAD50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251" y="2206294"/>
            <a:ext cx="3667930" cy="3633543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6A4BB281-FAF7-4F20-ACD4-6C51F7D8FB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4087" y="5900648"/>
            <a:ext cx="1781424" cy="63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0133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F27B93-B0C3-45CB-89AD-53220B75F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Result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3B8D88-961D-4FFA-A5E7-D6382718EE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088" y="1295718"/>
            <a:ext cx="8395952" cy="4525963"/>
          </a:xfrm>
        </p:spPr>
        <p:txBody>
          <a:bodyPr/>
          <a:lstStyle/>
          <a:p>
            <a:r>
              <a:rPr lang="en-US" altLang="zh-TW" dirty="0"/>
              <a:t>Bicubic spline interpolation(whole row/column)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B525FE4-8886-4A1B-93AE-6AFC12DDA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01BFFA-6C78-45F8-99E1-16FF11D16BE4}" type="slidenum">
              <a:rPr lang="zh-TW" altLang="en-US" smtClean="0"/>
              <a:pPr>
                <a:defRPr/>
              </a:pPr>
              <a:t>27</a:t>
            </a:fld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B6FEA2C-59F1-4DFA-A44E-87E2B28929E3}"/>
              </a:ext>
            </a:extLst>
          </p:cNvPr>
          <p:cNvSpPr txBox="1"/>
          <p:nvPr/>
        </p:nvSpPr>
        <p:spPr>
          <a:xfrm>
            <a:off x="1564620" y="1799907"/>
            <a:ext cx="21342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dirty="0"/>
              <a:t>Origin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2BA2A0D2-C7FB-4179-A536-86574D2D7B52}"/>
              </a:ext>
            </a:extLst>
          </p:cNvPr>
          <p:cNvSpPr txBox="1"/>
          <p:nvPr/>
        </p:nvSpPr>
        <p:spPr>
          <a:xfrm>
            <a:off x="5587677" y="1805276"/>
            <a:ext cx="21342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dirty="0"/>
              <a:t>Cubic spline</a:t>
            </a: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C34E7191-A4DD-4CA0-A02F-941F91E5BA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193" y="2200017"/>
            <a:ext cx="3657098" cy="3657098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7BEE146F-0E7A-41C4-B959-1134A9D389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8376" y="5896393"/>
            <a:ext cx="1752845" cy="676369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B4416608-EA16-425D-8A2F-B7D4A50F16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571" y="2210017"/>
            <a:ext cx="3657098" cy="3611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9800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eaLnBrk="1" hangingPunct="1"/>
            <a:r>
              <a:rPr lang="en-US" altLang="zh-TW" dirty="0">
                <a:solidFill>
                  <a:prstClr val="black"/>
                </a:solidFill>
              </a:rPr>
              <a:t>Analysis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2D0C637-8079-4FB5-8D98-23DD4EE4EB61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/>
                <a:ea typeface="DFKai-SB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DFKai-SB"/>
              <a:cs typeface="+mn-cs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90E3302-9F1A-4905-94AC-060D9EF76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8" name="表格 8">
            <a:extLst>
              <a:ext uri="{FF2B5EF4-FFF2-40B4-BE49-F238E27FC236}">
                <a16:creationId xmlns:a16="http://schemas.microsoft.com/office/drawing/2014/main" id="{8A697D90-5DF7-4BCD-8887-100B8F4B7C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5790306"/>
              </p:ext>
            </p:extLst>
          </p:nvPr>
        </p:nvGraphicFramePr>
        <p:xfrm>
          <a:off x="1031240" y="1417638"/>
          <a:ext cx="7081520" cy="1106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3840">
                  <a:extLst>
                    <a:ext uri="{9D8B030D-6E8A-4147-A177-3AD203B41FA5}">
                      <a16:colId xmlns:a16="http://schemas.microsoft.com/office/drawing/2014/main" val="1159889631"/>
                    </a:ext>
                  </a:extLst>
                </a:gridCol>
                <a:gridCol w="2026920">
                  <a:extLst>
                    <a:ext uri="{9D8B030D-6E8A-4147-A177-3AD203B41FA5}">
                      <a16:colId xmlns:a16="http://schemas.microsoft.com/office/drawing/2014/main" val="202428839"/>
                    </a:ext>
                  </a:extLst>
                </a:gridCol>
                <a:gridCol w="1770380">
                  <a:extLst>
                    <a:ext uri="{9D8B030D-6E8A-4147-A177-3AD203B41FA5}">
                      <a16:colId xmlns:a16="http://schemas.microsoft.com/office/drawing/2014/main" val="3323883523"/>
                    </a:ext>
                  </a:extLst>
                </a:gridCol>
                <a:gridCol w="1770380">
                  <a:extLst>
                    <a:ext uri="{9D8B030D-6E8A-4147-A177-3AD203B41FA5}">
                      <a16:colId xmlns:a16="http://schemas.microsoft.com/office/drawing/2014/main" val="2610922496"/>
                    </a:ext>
                  </a:extLst>
                </a:gridCol>
              </a:tblGrid>
              <a:tr h="3747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K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Bilinear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Bicubic(4)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Bicubic(all line)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8995503"/>
                  </a:ext>
                </a:extLst>
              </a:tr>
              <a:tr h="27728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PSNR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25.79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25.29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24.67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023817"/>
                  </a:ext>
                </a:extLst>
              </a:tr>
              <a:tr h="27728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SSIM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0.929455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0.923665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0.907625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3389258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2DD8C26A-61AF-47DD-B526-F90AA1BAB7E8}"/>
              </a:ext>
            </a:extLst>
          </p:cNvPr>
          <p:cNvSpPr txBox="1"/>
          <p:nvPr/>
        </p:nvSpPr>
        <p:spPr>
          <a:xfrm>
            <a:off x="1676329" y="2425990"/>
            <a:ext cx="21342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dirty="0"/>
              <a:t>Linear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F3B7A18B-C434-4C1D-8C24-492167DC5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902" y="2820731"/>
            <a:ext cx="3657098" cy="3639820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7C8F1243-FF0C-4EC3-9988-1E4FFDFD65B9}"/>
              </a:ext>
            </a:extLst>
          </p:cNvPr>
          <p:cNvSpPr txBox="1"/>
          <p:nvPr/>
        </p:nvSpPr>
        <p:spPr>
          <a:xfrm>
            <a:off x="5430196" y="2419713"/>
            <a:ext cx="21342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dirty="0"/>
              <a:t>Cubic spline</a:t>
            </a: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DD1BF7AB-4ED9-4613-9884-F41C4C2B7E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8770" y="2820731"/>
            <a:ext cx="3667930" cy="3633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1345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84CFDB3-BD05-42D4-ADAA-0255BEA19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C2F31-27C9-41C4-8F1B-E500A9243DD8}" type="slidenum">
              <a:rPr lang="zh-TW" altLang="en-US" smtClean="0"/>
              <a:t>29</a:t>
            </a:fld>
            <a:endParaRPr lang="zh-TW" altLang="en-US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CF6AEB61-BCAD-4A87-964E-A48921CF1F21}"/>
              </a:ext>
            </a:extLst>
          </p:cNvPr>
          <p:cNvSpPr txBox="1">
            <a:spLocks/>
          </p:cNvSpPr>
          <p:nvPr/>
        </p:nvSpPr>
        <p:spPr bwMode="auto">
          <a:xfrm>
            <a:off x="457200" y="431006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ea typeface="DFKai-SB"/>
                <a:cs typeface="+mj-cs"/>
              </a:rPr>
              <a:t>Outline</a:t>
            </a:r>
            <a:endParaRPr kumimoji="0" lang="zh-TW" altLang="en-US" sz="4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ea typeface="DFKai-SB"/>
              <a:cs typeface="+mj-cs"/>
            </a:endParaRP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CDFDDA2C-3636-4FDD-8EF4-430E985185EE}"/>
              </a:ext>
            </a:extLst>
          </p:cNvPr>
          <p:cNvSpPr txBox="1">
            <a:spLocks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altLang="zh-TW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ea typeface="DFKai-SB"/>
                <a:cs typeface="+mn-cs"/>
              </a:rPr>
              <a:t>Introduction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lang="en-US" altLang="zh-TW" dirty="0">
                <a:solidFill>
                  <a:sysClr val="windowText" lastClr="000000"/>
                </a:solidFill>
                <a:latin typeface="Times New Roman"/>
                <a:ea typeface="DFKai-SB"/>
              </a:rPr>
              <a:t>Interpolation</a:t>
            </a:r>
          </a:p>
          <a:p>
            <a:pPr marL="914400" lvl="1" indent="-514350" defTabSz="914400" eaLnBrk="1" hangingPunct="1">
              <a:defRPr/>
            </a:pPr>
            <a:r>
              <a:rPr lang="en-US" altLang="zh-TW" dirty="0">
                <a:solidFill>
                  <a:sysClr val="windowText" lastClr="000000"/>
                </a:solidFill>
                <a:latin typeface="Times New Roman"/>
                <a:ea typeface="DFKai-SB"/>
              </a:rPr>
              <a:t>Linear</a:t>
            </a:r>
          </a:p>
          <a:p>
            <a:pPr marL="914400" lvl="1" indent="-514350" defTabSz="914400" eaLnBrk="1" hangingPunct="1">
              <a:defRPr/>
            </a:pPr>
            <a:r>
              <a:rPr lang="en-US" altLang="zh-TW" dirty="0">
                <a:solidFill>
                  <a:sysClr val="windowText" lastClr="000000"/>
                </a:solidFill>
                <a:latin typeface="Times New Roman"/>
                <a:ea typeface="DFKai-SB"/>
              </a:rPr>
              <a:t>Cubic  </a:t>
            </a:r>
          </a:p>
          <a:p>
            <a:pPr marL="914400" lvl="1" indent="-514350" defTabSz="914400" eaLnBrk="1" hangingPunct="1">
              <a:defRPr/>
            </a:pPr>
            <a:r>
              <a:rPr lang="en-US" altLang="zh-TW" dirty="0">
                <a:solidFill>
                  <a:sysClr val="windowText" lastClr="000000"/>
                </a:solidFill>
                <a:latin typeface="Times New Roman"/>
                <a:ea typeface="DFKai-SB"/>
              </a:rPr>
              <a:t>Lagrange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altLang="zh-TW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ea typeface="DFKai-SB"/>
                <a:cs typeface="+mn-cs"/>
              </a:rPr>
              <a:t>Result and analysis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lang="en-US" altLang="zh-TW" sz="3200" b="0" strike="noStrike" spc="-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EDSR</a:t>
            </a:r>
            <a:endParaRPr kumimoji="0" lang="zh-TW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/>
              <a:ea typeface="DFKai-SB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44734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內容版面配置區 13"/>
          <p:cNvSpPr/>
          <p:nvPr/>
        </p:nvSpPr>
        <p:spPr>
          <a:xfrm>
            <a:off x="457172" y="1599482"/>
            <a:ext cx="8056997" cy="452534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638" tIns="40819" rIns="81638" bIns="40819" numCol="1" spcCol="0" anchor="t">
            <a:normAutofit/>
          </a:bodyPr>
          <a:lstStyle/>
          <a:p>
            <a:pPr marL="311208" indent="-311208" defTabSz="414726">
              <a:spcBef>
                <a:spcPts val="58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903" spc="-1" dirty="0">
                <a:solidFill>
                  <a:schemeClr val="dk1"/>
                </a:solidFill>
                <a:latin typeface="Times New Roman" panose="02020603050405020304" pitchFamily="18" charset="0"/>
                <a:ea typeface="DFKai-SB"/>
                <a:cs typeface="Times New Roman" panose="02020603050405020304" pitchFamily="18" charset="0"/>
              </a:rPr>
              <a:t>Convolutional Neural Networks(CNN)</a:t>
            </a:r>
            <a:endParaRPr lang="en-US" sz="2903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87801" lvl="2" indent="-195934" defTabSz="414726">
              <a:spcBef>
                <a:spcPts val="5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altLang="en-US" sz="2540" spc="-1" dirty="0">
                <a:solidFill>
                  <a:schemeClr val="dk1"/>
                </a:solidFill>
                <a:latin typeface="Times New Roman" panose="02020603050405020304" pitchFamily="18" charset="0"/>
                <a:ea typeface="DFKai-SB"/>
                <a:cs typeface="Times New Roman" panose="02020603050405020304" pitchFamily="18" charset="0"/>
              </a:rPr>
              <a:t>是最早被用於</a:t>
            </a:r>
            <a:r>
              <a:rPr lang="en-US" sz="2540" spc="-1" dirty="0">
                <a:solidFill>
                  <a:schemeClr val="dk1"/>
                </a:solidFill>
                <a:latin typeface="Times New Roman" panose="02020603050405020304" pitchFamily="18" charset="0"/>
                <a:ea typeface="DFKai-SB"/>
                <a:cs typeface="Times New Roman" panose="02020603050405020304" pitchFamily="18" charset="0"/>
              </a:rPr>
              <a:t>Super Resolution</a:t>
            </a:r>
            <a:r>
              <a:rPr lang="zh-TW" altLang="en-US" sz="2540" spc="-1" dirty="0">
                <a:solidFill>
                  <a:schemeClr val="dk1"/>
                </a:solidFill>
                <a:latin typeface="Times New Roman" panose="02020603050405020304" pitchFamily="18" charset="0"/>
                <a:ea typeface="DFKai-SB"/>
                <a:cs typeface="Times New Roman" panose="02020603050405020304" pitchFamily="18" charset="0"/>
              </a:rPr>
              <a:t>的</a:t>
            </a:r>
            <a:r>
              <a:rPr lang="en-US" sz="2540" spc="-1" dirty="0">
                <a:solidFill>
                  <a:schemeClr val="dk1"/>
                </a:solidFill>
                <a:latin typeface="Times New Roman" panose="02020603050405020304" pitchFamily="18" charset="0"/>
                <a:ea typeface="DFKai-SB"/>
                <a:cs typeface="Times New Roman" panose="02020603050405020304" pitchFamily="18" charset="0"/>
              </a:rPr>
              <a:t>AI</a:t>
            </a:r>
            <a:r>
              <a:rPr lang="zh-TW" altLang="en-US" sz="2540" spc="-1" dirty="0">
                <a:solidFill>
                  <a:schemeClr val="dk1"/>
                </a:solidFill>
                <a:latin typeface="Times New Roman" panose="02020603050405020304" pitchFamily="18" charset="0"/>
                <a:ea typeface="DFKai-SB"/>
                <a:cs typeface="Times New Roman" panose="02020603050405020304" pitchFamily="18" charset="0"/>
              </a:rPr>
              <a:t>方法之一</a:t>
            </a:r>
            <a:endParaRPr lang="en-US" sz="254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87801" lvl="2" indent="-195934" defTabSz="414726">
              <a:spcBef>
                <a:spcPts val="5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altLang="en-US" sz="2540" spc="-1" dirty="0">
                <a:solidFill>
                  <a:schemeClr val="dk1"/>
                </a:solidFill>
                <a:latin typeface="Times New Roman" panose="02020603050405020304" pitchFamily="18" charset="0"/>
                <a:ea typeface="DFKai-SB"/>
                <a:cs typeface="Times New Roman" panose="02020603050405020304" pitchFamily="18" charset="0"/>
              </a:rPr>
              <a:t>利用捲積學習圖像特徵，學習用低解析度圖片重建高解析度圖片</a:t>
            </a:r>
            <a:endParaRPr lang="en-US" sz="254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標題 13"/>
          <p:cNvSpPr/>
          <p:nvPr/>
        </p:nvSpPr>
        <p:spPr>
          <a:xfrm>
            <a:off x="457172" y="274663"/>
            <a:ext cx="8228437" cy="114260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638" tIns="40819" rIns="81638" bIns="40819" numCol="1" spcCol="0" anchor="ctr">
            <a:noAutofit/>
          </a:bodyPr>
          <a:lstStyle/>
          <a:p>
            <a:pPr algn="ctr" defTabSz="414726">
              <a:spcBef>
                <a:spcPts val="581"/>
              </a:spcBef>
            </a:pPr>
            <a:r>
              <a:rPr lang="en-US" sz="3991" spc="-1" dirty="0">
                <a:solidFill>
                  <a:schemeClr val="dk1"/>
                </a:solidFill>
                <a:latin typeface="Times New Roman"/>
                <a:ea typeface="DFKai-SB"/>
              </a:rPr>
              <a:t>AI approaches</a:t>
            </a:r>
            <a:endParaRPr lang="en-US" sz="3991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2" name="圖片 141"/>
          <p:cNvPicPr/>
          <p:nvPr/>
        </p:nvPicPr>
        <p:blipFill>
          <a:blip r:embed="rId3"/>
          <a:stretch/>
        </p:blipFill>
        <p:spPr>
          <a:xfrm>
            <a:off x="769209" y="3697545"/>
            <a:ext cx="7273601" cy="2250716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F9665FD2-FA4E-461C-BE4B-6A64BC182AC6}" type="slidenum">
              <a:t>30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內容版面配置區 14"/>
          <p:cNvSpPr/>
          <p:nvPr/>
        </p:nvSpPr>
        <p:spPr>
          <a:xfrm>
            <a:off x="457172" y="1599482"/>
            <a:ext cx="8056997" cy="452534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638" tIns="40819" rIns="81638" bIns="40819" numCol="1" spcCol="0" anchor="t">
            <a:normAutofit/>
          </a:bodyPr>
          <a:lstStyle/>
          <a:p>
            <a:pPr marL="311208" indent="-311208" defTabSz="414726">
              <a:spcBef>
                <a:spcPts val="58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903" spc="-1" dirty="0">
                <a:solidFill>
                  <a:schemeClr val="dk1"/>
                </a:solidFill>
                <a:latin typeface="Times New Roman" panose="02020603050405020304" pitchFamily="18" charset="0"/>
                <a:ea typeface="DFKai-SB"/>
                <a:cs typeface="Times New Roman" panose="02020603050405020304" pitchFamily="18" charset="0"/>
              </a:rPr>
              <a:t>Convolutional Neural Networks(CNN)</a:t>
            </a:r>
            <a:endParaRPr lang="en-US" sz="2903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87801" lvl="2" indent="-195934" defTabSz="414726">
              <a:spcBef>
                <a:spcPts val="5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77" spc="-1" dirty="0">
                <a:solidFill>
                  <a:schemeClr val="dk1"/>
                </a:solidFill>
                <a:latin typeface="Times New Roman" panose="02020603050405020304" pitchFamily="18" charset="0"/>
                <a:ea typeface="DFKai-SB"/>
                <a:cs typeface="Times New Roman" panose="02020603050405020304" pitchFamily="18" charset="0"/>
              </a:rPr>
              <a:t>Convolution Layer</a:t>
            </a:r>
            <a:endParaRPr lang="en-US" sz="2177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87801" lvl="2" indent="-195934" defTabSz="414726">
              <a:spcBef>
                <a:spcPts val="5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1633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4" name="標題 14"/>
          <p:cNvSpPr/>
          <p:nvPr/>
        </p:nvSpPr>
        <p:spPr>
          <a:xfrm>
            <a:off x="457172" y="274663"/>
            <a:ext cx="8228437" cy="114260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638" tIns="40819" rIns="81638" bIns="40819" numCol="1" spcCol="0" anchor="ctr">
            <a:noAutofit/>
          </a:bodyPr>
          <a:lstStyle/>
          <a:p>
            <a:pPr algn="ctr" defTabSz="414726">
              <a:spcBef>
                <a:spcPts val="581"/>
              </a:spcBef>
            </a:pPr>
            <a:r>
              <a:rPr lang="en-US" sz="3991" spc="-1" dirty="0">
                <a:solidFill>
                  <a:schemeClr val="dk1"/>
                </a:solidFill>
                <a:latin typeface="Times New Roman"/>
                <a:ea typeface="DFKai-SB"/>
              </a:rPr>
              <a:t>AI approaches</a:t>
            </a:r>
            <a:endParaRPr lang="en-US" sz="3991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5" name="圖片 144"/>
          <p:cNvPicPr/>
          <p:nvPr/>
        </p:nvPicPr>
        <p:blipFill>
          <a:blip r:embed="rId3"/>
          <a:stretch/>
        </p:blipFill>
        <p:spPr>
          <a:xfrm>
            <a:off x="359860" y="3183908"/>
            <a:ext cx="4443708" cy="2575509"/>
          </a:xfrm>
          <a:prstGeom prst="rect">
            <a:avLst/>
          </a:prstGeom>
          <a:ln w="0">
            <a:noFill/>
          </a:ln>
        </p:spPr>
      </p:pic>
      <p:pic>
        <p:nvPicPr>
          <p:cNvPr id="147" name="圖片 146"/>
          <p:cNvPicPr/>
          <p:nvPr/>
        </p:nvPicPr>
        <p:blipFill>
          <a:blip r:embed="rId4"/>
          <a:stretch/>
        </p:blipFill>
        <p:spPr>
          <a:xfrm>
            <a:off x="4859409" y="3179010"/>
            <a:ext cx="3853630" cy="2340392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B3131E62-164B-4459-A745-8E8810CF9BDD}" type="slidenum">
              <a:t>31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內容版面配置區 4"/>
          <p:cNvSpPr/>
          <p:nvPr/>
        </p:nvSpPr>
        <p:spPr>
          <a:xfrm>
            <a:off x="457172" y="1599482"/>
            <a:ext cx="8056997" cy="452534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638" tIns="40819" rIns="81638" bIns="40819" numCol="1" spcCol="0" anchor="t">
            <a:normAutofit/>
          </a:bodyPr>
          <a:lstStyle/>
          <a:p>
            <a:pPr marL="311208" indent="-311208" defTabSz="414726">
              <a:spcBef>
                <a:spcPts val="514"/>
              </a:spcBef>
              <a:buClr>
                <a:srgbClr val="000000"/>
              </a:buClr>
              <a:buFont typeface="Arial"/>
              <a:buChar char="•"/>
            </a:pPr>
            <a:r>
              <a:rPr lang="en-US" sz="2903" spc="-1" dirty="0">
                <a:solidFill>
                  <a:schemeClr val="dk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Enhanced Deep Residual Networks for Single Image Super-Resolution</a:t>
            </a:r>
            <a:endParaRPr lang="en-US" sz="2903" spc="-1" dirty="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783734" lvl="3" indent="-195934" defTabSz="414726">
              <a:spcBef>
                <a:spcPts val="5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altLang="en-US" sz="2540" spc="-1" dirty="0">
                <a:solidFill>
                  <a:schemeClr val="dk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利用</a:t>
            </a:r>
            <a:r>
              <a:rPr lang="en-US" sz="2540" spc="-1" dirty="0" err="1">
                <a:solidFill>
                  <a:schemeClr val="dk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cnn</a:t>
            </a:r>
            <a:r>
              <a:rPr lang="zh-TW" altLang="en-US" sz="2540" spc="-1" dirty="0">
                <a:solidFill>
                  <a:schemeClr val="dk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加上最佳化過的殘差網路來做</a:t>
            </a:r>
            <a:r>
              <a:rPr lang="en-US" sz="2540" spc="-1" dirty="0">
                <a:solidFill>
                  <a:schemeClr val="dk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super resolution</a:t>
            </a:r>
            <a:endParaRPr lang="en-US" sz="2540" spc="-1" dirty="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783734" lvl="3" indent="-195934" defTabSz="414726">
              <a:spcBef>
                <a:spcPts val="5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altLang="en-US" sz="2540" spc="-1" dirty="0">
                <a:solidFill>
                  <a:schemeClr val="dk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提供了兩個模型，一個單尺度的</a:t>
            </a:r>
            <a:r>
              <a:rPr lang="en-US" sz="2540" spc="-1" dirty="0">
                <a:solidFill>
                  <a:schemeClr val="dk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EDSR</a:t>
            </a:r>
            <a:r>
              <a:rPr lang="zh-TW" altLang="en-US" sz="2540" spc="-1" dirty="0">
                <a:solidFill>
                  <a:schemeClr val="dk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和一個多尺度的</a:t>
            </a:r>
            <a:r>
              <a:rPr lang="en-US" sz="2540" spc="-1" dirty="0">
                <a:solidFill>
                  <a:schemeClr val="dk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MDSR</a:t>
            </a:r>
            <a:endParaRPr lang="en-US" sz="2540" spc="-1" dirty="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783734" lvl="3" indent="-195934" defTabSz="414726">
              <a:spcBef>
                <a:spcPts val="5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altLang="en-US" sz="2540" spc="-1" dirty="0">
                <a:solidFill>
                  <a:schemeClr val="dk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主要貢獻是對於</a:t>
            </a:r>
            <a:r>
              <a:rPr lang="en-US" sz="2540" spc="-1" dirty="0" err="1">
                <a:solidFill>
                  <a:schemeClr val="dk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ResNet</a:t>
            </a:r>
            <a:r>
              <a:rPr lang="en-US" sz="2540" spc="-1" dirty="0">
                <a:solidFill>
                  <a:schemeClr val="dk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540" spc="-1" dirty="0">
                <a:solidFill>
                  <a:schemeClr val="dk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架構的更改使其更適合</a:t>
            </a:r>
            <a:r>
              <a:rPr lang="en-US" sz="2540" spc="-1" dirty="0">
                <a:solidFill>
                  <a:schemeClr val="dk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super resolution</a:t>
            </a:r>
            <a:endParaRPr lang="en-US" sz="2540" spc="-1" dirty="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defTabSz="414726">
              <a:spcBef>
                <a:spcPts val="514"/>
              </a:spcBef>
            </a:pPr>
            <a:endParaRPr lang="en-US" sz="2903" spc="-1" dirty="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defTabSz="414726">
              <a:spcBef>
                <a:spcPts val="514"/>
              </a:spcBef>
            </a:pPr>
            <a:endParaRPr lang="en-US" sz="2903" spc="-1" dirty="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defTabSz="414726">
              <a:spcBef>
                <a:spcPts val="514"/>
              </a:spcBef>
            </a:pPr>
            <a:endParaRPr lang="en-US" sz="2903" spc="-1" dirty="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57" name="標題 4"/>
          <p:cNvSpPr/>
          <p:nvPr/>
        </p:nvSpPr>
        <p:spPr>
          <a:xfrm>
            <a:off x="179930" y="274663"/>
            <a:ext cx="8963503" cy="114260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638" tIns="40819" rIns="81638" bIns="40819" numCol="1" spcCol="0" anchor="ctr">
            <a:noAutofit/>
          </a:bodyPr>
          <a:lstStyle/>
          <a:p>
            <a:pPr algn="ctr" defTabSz="414726">
              <a:spcBef>
                <a:spcPts val="581"/>
              </a:spcBef>
            </a:pPr>
            <a:r>
              <a:rPr lang="en-US" sz="3266" spc="-1" dirty="0">
                <a:solidFill>
                  <a:schemeClr val="dk1"/>
                </a:solidFill>
                <a:latin typeface="Times New Roman"/>
                <a:ea typeface="DFKai-SB"/>
              </a:rPr>
              <a:t>AI </a:t>
            </a:r>
            <a:r>
              <a:rPr lang="en-US" sz="3991" spc="-1" dirty="0">
                <a:solidFill>
                  <a:schemeClr val="dk1"/>
                </a:solidFill>
                <a:latin typeface="Times New Roman"/>
                <a:ea typeface="DFKai-SB"/>
              </a:rPr>
              <a:t>approach paper</a:t>
            </a:r>
            <a:r>
              <a:rPr lang="en-US" sz="3266" spc="-1" dirty="0">
                <a:solidFill>
                  <a:schemeClr val="dk1"/>
                </a:solidFill>
                <a:latin typeface="Times New Roman"/>
                <a:ea typeface="DFKai-SB"/>
              </a:rPr>
              <a:t> </a:t>
            </a:r>
            <a:endParaRPr lang="en-US" sz="3266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A1161700-405A-45D2-A896-7E68AE853434}" type="slidenum">
              <a:t>32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內容版面配置區 7"/>
          <p:cNvSpPr/>
          <p:nvPr/>
        </p:nvSpPr>
        <p:spPr>
          <a:xfrm>
            <a:off x="457172" y="1599482"/>
            <a:ext cx="8056997" cy="452534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638" tIns="40819" rIns="81638" bIns="40819" numCol="1" spcCol="0" anchor="t">
            <a:normAutofit/>
          </a:bodyPr>
          <a:lstStyle/>
          <a:p>
            <a:pPr marL="311208" indent="-311208" defTabSz="414726">
              <a:spcBef>
                <a:spcPts val="581"/>
              </a:spcBef>
              <a:buClr>
                <a:srgbClr val="000000"/>
              </a:buClr>
              <a:buFont typeface="Arial"/>
              <a:buChar char="•"/>
            </a:pPr>
            <a:r>
              <a:rPr lang="zh-TW" altLang="en-US" sz="2540" spc="-1" dirty="0">
                <a:solidFill>
                  <a:schemeClr val="dk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淺層特徵提取</a:t>
            </a:r>
            <a:endParaRPr lang="en-US" sz="2540" spc="-1" dirty="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11208" indent="-311208" defTabSz="414726">
              <a:spcBef>
                <a:spcPts val="58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540" spc="-1" dirty="0" err="1">
                <a:solidFill>
                  <a:schemeClr val="dk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ResBlock</a:t>
            </a:r>
            <a:endParaRPr lang="en-US" sz="2540" spc="-1" dirty="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11208" indent="-311208" defTabSz="414726">
              <a:spcBef>
                <a:spcPts val="581"/>
              </a:spcBef>
              <a:buClr>
                <a:srgbClr val="000000"/>
              </a:buClr>
              <a:buFont typeface="Arial"/>
              <a:buChar char="•"/>
            </a:pPr>
            <a:r>
              <a:rPr lang="zh-TW" altLang="en-US" sz="2540" spc="-1" dirty="0">
                <a:solidFill>
                  <a:schemeClr val="dk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上採樣模組</a:t>
            </a:r>
            <a:endParaRPr lang="en-US" sz="2540" spc="-1" dirty="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674012" lvl="1" indent="-259285" defTabSz="414726">
              <a:spcBef>
                <a:spcPts val="50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540" spc="-1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Sub-pixel Convolution</a:t>
            </a:r>
          </a:p>
          <a:p>
            <a:pPr marL="311208" indent="-311208" defTabSz="414726">
              <a:spcBef>
                <a:spcPts val="581"/>
              </a:spcBef>
              <a:buClr>
                <a:srgbClr val="000000"/>
              </a:buClr>
              <a:buFont typeface="Arial"/>
              <a:buChar char="•"/>
            </a:pPr>
            <a:r>
              <a:rPr lang="zh-TW" altLang="en-US" sz="2540" spc="-1" dirty="0">
                <a:solidFill>
                  <a:schemeClr val="dk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利用</a:t>
            </a:r>
            <a:r>
              <a:rPr lang="en-US" sz="2540" spc="-1" dirty="0">
                <a:solidFill>
                  <a:schemeClr val="dk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L1 loss function</a:t>
            </a:r>
            <a:endParaRPr lang="en-US" sz="2540" spc="-1" dirty="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87801" lvl="2" indent="-195934" defTabSz="414726">
              <a:spcBef>
                <a:spcPts val="5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540" spc="-1" dirty="0">
                <a:solidFill>
                  <a:schemeClr val="dk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Mean Absolute Error</a:t>
            </a:r>
            <a:endParaRPr lang="en-US" sz="2540" spc="-1" dirty="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59" name="標題 7"/>
          <p:cNvSpPr/>
          <p:nvPr/>
        </p:nvSpPr>
        <p:spPr>
          <a:xfrm>
            <a:off x="457172" y="274663"/>
            <a:ext cx="8228437" cy="114260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638" tIns="40819" rIns="81638" bIns="40819" numCol="1" spcCol="0" anchor="ctr">
            <a:noAutofit/>
          </a:bodyPr>
          <a:lstStyle/>
          <a:p>
            <a:pPr algn="ctr" defTabSz="829452">
              <a:tabLst>
                <a:tab pos="0" algn="l"/>
              </a:tabLst>
            </a:pPr>
            <a:r>
              <a:rPr lang="en-US" sz="3991" spc="-1">
                <a:solidFill>
                  <a:srgbClr val="000000"/>
                </a:solidFill>
                <a:latin typeface="Times New Roman"/>
                <a:ea typeface="DFKai-SB"/>
              </a:rPr>
              <a:t>EDSR</a:t>
            </a:r>
            <a:endParaRPr lang="en-US" sz="3991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0" name="圖片 159"/>
          <p:cNvPicPr/>
          <p:nvPr/>
        </p:nvPicPr>
        <p:blipFill>
          <a:blip r:embed="rId3"/>
          <a:stretch/>
        </p:blipFill>
        <p:spPr>
          <a:xfrm>
            <a:off x="4464859" y="1919828"/>
            <a:ext cx="4199851" cy="3895436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F0E3208-D414-49AD-B2D3-4492A49A4C5A}" type="slidenum">
              <a:t>33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內容版面配置區 5"/>
          <p:cNvSpPr/>
          <p:nvPr/>
        </p:nvSpPr>
        <p:spPr>
          <a:xfrm>
            <a:off x="457172" y="1599482"/>
            <a:ext cx="8056997" cy="452534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638" tIns="40819" rIns="81638" bIns="40819" numCol="1" spcCol="0" anchor="t">
            <a:normAutofit/>
          </a:bodyPr>
          <a:lstStyle/>
          <a:p>
            <a:pPr marL="311208" indent="-311208" defTabSz="414726">
              <a:spcBef>
                <a:spcPts val="514"/>
              </a:spcBef>
              <a:spcAft>
                <a:spcPts val="514"/>
              </a:spcAft>
              <a:buClr>
                <a:srgbClr val="000000"/>
              </a:buClr>
              <a:buFont typeface="Arial"/>
              <a:buChar char="•"/>
            </a:pPr>
            <a:r>
              <a:rPr lang="zh-TW" altLang="en-US" sz="2903" spc="-1" dirty="0">
                <a:solidFill>
                  <a:schemeClr val="dk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目的</a:t>
            </a:r>
            <a:endParaRPr lang="en-US" sz="2903" spc="-1" dirty="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87801" lvl="2" indent="-195934" defTabSz="414726">
              <a:spcBef>
                <a:spcPts val="514"/>
              </a:spcBef>
              <a:spcAft>
                <a:spcPts val="5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altLang="en-US" sz="2540" spc="-1" dirty="0">
                <a:solidFill>
                  <a:schemeClr val="dk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減輕深層網路訓練的難度</a:t>
            </a:r>
            <a:endParaRPr lang="en-US" sz="2540" spc="-1" dirty="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87801" lvl="2" indent="-195934" defTabSz="414726">
              <a:spcBef>
                <a:spcPts val="514"/>
              </a:spcBef>
              <a:spcAft>
                <a:spcPts val="5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altLang="en-US" sz="2540" spc="-1" dirty="0">
                <a:solidFill>
                  <a:schemeClr val="dk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解決梯度消失和梯度爆炸</a:t>
            </a:r>
            <a:endParaRPr lang="en-US" sz="2540" spc="-1" dirty="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11208" indent="-311208" defTabSz="414726">
              <a:spcBef>
                <a:spcPts val="514"/>
              </a:spcBef>
              <a:spcAft>
                <a:spcPts val="514"/>
              </a:spcAft>
              <a:buClr>
                <a:srgbClr val="000000"/>
              </a:buClr>
              <a:buFont typeface="Arial"/>
              <a:buChar char="•"/>
            </a:pPr>
            <a:r>
              <a:rPr lang="en-US" sz="2903" spc="-1" dirty="0">
                <a:solidFill>
                  <a:schemeClr val="dk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Residual Block</a:t>
            </a:r>
            <a:endParaRPr lang="en-US" sz="2903" spc="-1" dirty="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91867" lvl="1" indent="-195934" defTabSz="414726">
              <a:spcBef>
                <a:spcPts val="514"/>
              </a:spcBef>
              <a:spcAft>
                <a:spcPts val="5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altLang="en-US" sz="2540" spc="-1" dirty="0">
                <a:solidFill>
                  <a:schemeClr val="dk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利用</a:t>
            </a:r>
            <a:r>
              <a:rPr lang="en-US" sz="2540" spc="-1" dirty="0">
                <a:solidFill>
                  <a:schemeClr val="dk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Shortcut Connection</a:t>
            </a:r>
            <a:r>
              <a:rPr lang="zh-TW" altLang="en-US" sz="2540" spc="-1" dirty="0">
                <a:solidFill>
                  <a:schemeClr val="dk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把原始輸入和輸出相加</a:t>
            </a:r>
            <a:endParaRPr lang="en-US" sz="2540" spc="-1" dirty="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91867" lvl="1" indent="-195934" defTabSz="414726">
              <a:spcBef>
                <a:spcPts val="514"/>
              </a:spcBef>
              <a:spcAft>
                <a:spcPts val="5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altLang="en-US" sz="2540" spc="-1" dirty="0">
                <a:solidFill>
                  <a:schemeClr val="dk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學習輸入和輸出之間的殘差映射，而不是直接學習輸出</a:t>
            </a:r>
            <a:endParaRPr lang="en-US" sz="2540" spc="-1" dirty="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62" name="標題 5"/>
          <p:cNvSpPr/>
          <p:nvPr/>
        </p:nvSpPr>
        <p:spPr>
          <a:xfrm>
            <a:off x="457172" y="274663"/>
            <a:ext cx="8228437" cy="114260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638" tIns="40819" rIns="81638" bIns="40819" numCol="1" spcCol="0" anchor="ctr">
            <a:noAutofit/>
          </a:bodyPr>
          <a:lstStyle/>
          <a:p>
            <a:pPr algn="ctr" defTabSz="829452">
              <a:tabLst>
                <a:tab pos="0" algn="l"/>
              </a:tabLst>
            </a:pPr>
            <a:r>
              <a:rPr lang="en-US" sz="3991" spc="-1">
                <a:solidFill>
                  <a:srgbClr val="000000"/>
                </a:solidFill>
                <a:latin typeface="Times New Roman"/>
                <a:ea typeface="DFKai-SB"/>
              </a:rPr>
              <a:t>Residual Neural Network(ResNet)</a:t>
            </a:r>
            <a:endParaRPr lang="en-US" sz="3991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3" name="圖片 162"/>
          <p:cNvPicPr/>
          <p:nvPr/>
        </p:nvPicPr>
        <p:blipFill>
          <a:blip r:embed="rId3"/>
          <a:stretch/>
        </p:blipFill>
        <p:spPr>
          <a:xfrm>
            <a:off x="6138752" y="1658588"/>
            <a:ext cx="2159810" cy="1485481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72BB20FC-4D14-4DCE-AB3C-C23E3A17FD88}" type="slidenum">
              <a:t>34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內容版面配置區 6"/>
          <p:cNvSpPr/>
          <p:nvPr/>
        </p:nvSpPr>
        <p:spPr>
          <a:xfrm>
            <a:off x="457172" y="1599482"/>
            <a:ext cx="8056997" cy="452534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638" tIns="40819" rIns="81638" bIns="40819" numCol="1" spcCol="0" anchor="t">
            <a:normAutofit/>
          </a:bodyPr>
          <a:lstStyle/>
          <a:p>
            <a:pPr marL="311208" indent="-311208" defTabSz="414726">
              <a:spcBef>
                <a:spcPts val="58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903" spc="-1" dirty="0">
                <a:solidFill>
                  <a:schemeClr val="dk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EDSR</a:t>
            </a:r>
            <a:r>
              <a:rPr lang="zh-TW" altLang="en-US" sz="2903" spc="-1" dirty="0">
                <a:solidFill>
                  <a:schemeClr val="dk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做出的改進</a:t>
            </a:r>
            <a:endParaRPr lang="en-US" sz="2903" spc="-1" dirty="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674012" lvl="1" indent="-259285" defTabSz="414726">
              <a:spcBef>
                <a:spcPts val="509"/>
              </a:spcBef>
              <a:buClr>
                <a:srgbClr val="000000"/>
              </a:buClr>
              <a:buFont typeface="Arial"/>
              <a:buChar char="–"/>
            </a:pPr>
            <a:r>
              <a:rPr lang="zh-TW" altLang="en-US" sz="2540" spc="-1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刪除</a:t>
            </a:r>
            <a:r>
              <a:rPr lang="en-US" sz="2540" spc="-1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Batch Normalization</a:t>
            </a:r>
          </a:p>
          <a:p>
            <a:pPr marL="783734" lvl="3" indent="-195934" defTabSz="414726">
              <a:spcBef>
                <a:spcPts val="50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540" spc="-1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BN</a:t>
            </a:r>
            <a:r>
              <a:rPr lang="zh-TW" altLang="en-US" sz="2540" spc="-1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會限制特徵值的範圍，在</a:t>
            </a:r>
            <a:endParaRPr lang="en-US" sz="2540" spc="-1" dirty="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783734" lvl="3" indent="-195934" defTabSz="414726">
              <a:spcBef>
                <a:spcPts val="50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540" spc="-1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super </a:t>
            </a:r>
            <a:r>
              <a:rPr lang="en-US" sz="2540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resolutrion</a:t>
            </a:r>
            <a:r>
              <a:rPr lang="zh-TW" altLang="en-US" sz="2540" spc="-1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的工作中可能會</a:t>
            </a:r>
            <a:endParaRPr lang="en-US" sz="2540" spc="-1" dirty="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783734" lvl="3" indent="-195934" defTabSz="414726">
              <a:spcBef>
                <a:spcPts val="50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altLang="en-US" sz="2540" spc="-1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限制模型的表現</a:t>
            </a:r>
            <a:endParaRPr lang="en-US" sz="2540" spc="-1" dirty="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674012" lvl="1" indent="-259285" defTabSz="414726">
              <a:spcBef>
                <a:spcPts val="509"/>
              </a:spcBef>
              <a:buClr>
                <a:srgbClr val="000000"/>
              </a:buClr>
              <a:buFont typeface="Arial"/>
              <a:buChar char="–"/>
            </a:pPr>
            <a:r>
              <a:rPr lang="zh-TW" altLang="en-US" sz="2540" spc="-1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加上</a:t>
            </a:r>
            <a:r>
              <a:rPr lang="en-US" sz="2540" spc="-1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residual scaling</a:t>
            </a:r>
          </a:p>
        </p:txBody>
      </p:sp>
      <p:sp>
        <p:nvSpPr>
          <p:cNvPr id="165" name="標題 6"/>
          <p:cNvSpPr/>
          <p:nvPr/>
        </p:nvSpPr>
        <p:spPr>
          <a:xfrm>
            <a:off x="457172" y="274663"/>
            <a:ext cx="8228437" cy="114260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638" tIns="40819" rIns="81638" bIns="40819" numCol="1" spcCol="0" anchor="ctr">
            <a:noAutofit/>
          </a:bodyPr>
          <a:lstStyle/>
          <a:p>
            <a:pPr algn="ctr" defTabSz="829452">
              <a:tabLst>
                <a:tab pos="0" algn="l"/>
              </a:tabLst>
            </a:pPr>
            <a:r>
              <a:rPr lang="en-US" sz="3991" spc="-1">
                <a:solidFill>
                  <a:srgbClr val="000000"/>
                </a:solidFill>
                <a:latin typeface="Times New Roman"/>
                <a:ea typeface="DFKai-SB"/>
              </a:rPr>
              <a:t>Residual Neural Network(ResNet)</a:t>
            </a:r>
            <a:endParaRPr lang="en-US" sz="3991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6" name="圖片 165"/>
          <p:cNvPicPr/>
          <p:nvPr/>
        </p:nvPicPr>
        <p:blipFill>
          <a:blip r:embed="rId3"/>
          <a:stretch/>
        </p:blipFill>
        <p:spPr>
          <a:xfrm>
            <a:off x="5427608" y="2125555"/>
            <a:ext cx="3086562" cy="3154158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CFE7FD2C-71E9-424C-8B80-4F680EB84936}" type="slidenum">
              <a:t>35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內容版面配置區 9"/>
          <p:cNvSpPr/>
          <p:nvPr/>
        </p:nvSpPr>
        <p:spPr>
          <a:xfrm>
            <a:off x="457172" y="1599482"/>
            <a:ext cx="8056997" cy="452534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638" tIns="40819" rIns="81638" bIns="40819" numCol="1" spcCol="0" anchor="t">
            <a:normAutofit/>
          </a:bodyPr>
          <a:lstStyle/>
          <a:p>
            <a:pPr marL="311208" indent="-311208" defTabSz="414726">
              <a:spcBef>
                <a:spcPts val="58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903" spc="-1" dirty="0">
                <a:solidFill>
                  <a:schemeClr val="dk1"/>
                </a:solidFill>
                <a:latin typeface="Times New Roman"/>
              </a:rPr>
              <a:t>sub-pixel convolution</a:t>
            </a:r>
            <a:endParaRPr lang="en-US" sz="2903" spc="-1" dirty="0">
              <a:solidFill>
                <a:srgbClr val="000000"/>
              </a:solidFill>
              <a:latin typeface="Arial"/>
            </a:endParaRPr>
          </a:p>
          <a:p>
            <a:pPr marL="674012" lvl="1" indent="-259285" defTabSz="414726">
              <a:spcBef>
                <a:spcPts val="509"/>
              </a:spcBef>
              <a:buClr>
                <a:srgbClr val="000000"/>
              </a:buClr>
              <a:buFont typeface="Arial"/>
              <a:buChar char="–"/>
            </a:pPr>
            <a:r>
              <a:rPr lang="zh-TW" altLang="en-US" sz="2540" spc="-1" dirty="0">
                <a:solidFill>
                  <a:srgbClr val="000000"/>
                </a:solidFill>
                <a:latin typeface="Times New Roman"/>
                <a:ea typeface="DFKai-SB"/>
              </a:rPr>
              <a:t>透過重新排列</a:t>
            </a:r>
            <a:r>
              <a:rPr lang="en-US" sz="2540" spc="-1" dirty="0">
                <a:solidFill>
                  <a:srgbClr val="000000"/>
                </a:solidFill>
                <a:latin typeface="Times New Roman"/>
                <a:ea typeface="DFKai-SB"/>
              </a:rPr>
              <a:t>pixel</a:t>
            </a:r>
            <a:r>
              <a:rPr lang="zh-TW" altLang="en-US" sz="2540" spc="-1" dirty="0">
                <a:solidFill>
                  <a:srgbClr val="000000"/>
                </a:solidFill>
                <a:latin typeface="Times New Roman"/>
                <a:ea typeface="DFKai-SB"/>
              </a:rPr>
              <a:t>來獲得高解析度圖片</a:t>
            </a:r>
            <a:endParaRPr lang="en-US" sz="254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標題 9"/>
          <p:cNvSpPr/>
          <p:nvPr/>
        </p:nvSpPr>
        <p:spPr>
          <a:xfrm>
            <a:off x="457172" y="274663"/>
            <a:ext cx="8228437" cy="114260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638" tIns="40819" rIns="81638" bIns="40819" numCol="1" spcCol="0" anchor="ctr">
            <a:noAutofit/>
          </a:bodyPr>
          <a:lstStyle/>
          <a:p>
            <a:pPr algn="ctr" defTabSz="829452">
              <a:tabLst>
                <a:tab pos="0" algn="l"/>
              </a:tabLst>
            </a:pPr>
            <a:r>
              <a:rPr lang="en-US" sz="3991" spc="-1">
                <a:solidFill>
                  <a:srgbClr val="000000"/>
                </a:solidFill>
                <a:latin typeface="Times New Roman"/>
                <a:ea typeface="DFKai-SB"/>
              </a:rPr>
              <a:t>Upsample</a:t>
            </a:r>
            <a:endParaRPr lang="en-US" sz="3991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9" name="圖片 168"/>
          <p:cNvPicPr/>
          <p:nvPr/>
        </p:nvPicPr>
        <p:blipFill>
          <a:blip r:embed="rId3"/>
          <a:stretch/>
        </p:blipFill>
        <p:spPr>
          <a:xfrm>
            <a:off x="594650" y="3359919"/>
            <a:ext cx="7919519" cy="2945165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DF1D25D-59BD-45B6-8629-A9F22741D8E0}" type="slidenum">
              <a:t>36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內容版面配置區 10"/>
              <p:cNvSpPr/>
              <p:nvPr/>
            </p:nvSpPr>
            <p:spPr>
              <a:xfrm>
                <a:off x="457172" y="1599482"/>
                <a:ext cx="8056997" cy="4525346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81638" tIns="40819" rIns="81638" bIns="40819" numCol="1" spcCol="0" anchor="t">
                <a:normAutofit/>
              </a:bodyPr>
              <a:lstStyle/>
              <a:p>
                <a:pPr marL="311208" indent="-311208" defTabSz="414726">
                  <a:spcBef>
                    <a:spcPts val="581"/>
                  </a:spcBef>
                  <a:buClr>
                    <a:srgbClr val="000000"/>
                  </a:buClr>
                  <a:buFont typeface="Arial"/>
                  <a:buChar char="•"/>
                </a:pPr>
                <a:r>
                  <a:rPr lang="en-US" sz="2903" spc="-1" dirty="0">
                    <a:solidFill>
                      <a:schemeClr val="dk1"/>
                    </a:solidFill>
                    <a:latin typeface="Times New Roman"/>
                  </a:rPr>
                  <a:t>sub-pixel convolution</a:t>
                </a:r>
                <a:endParaRPr lang="en-US" sz="2903" spc="-1" dirty="0">
                  <a:solidFill>
                    <a:srgbClr val="000000"/>
                  </a:solidFill>
                  <a:latin typeface="Arial"/>
                </a:endParaRPr>
              </a:p>
              <a:p>
                <a:pPr marL="674012" lvl="1" indent="-259285" defTabSz="414726">
                  <a:spcBef>
                    <a:spcPts val="566"/>
                  </a:spcBef>
                  <a:buClr>
                    <a:srgbClr val="000000"/>
                  </a:buClr>
                  <a:buFont typeface="Arial"/>
                  <a:buChar char="–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177" i="1" spc="-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FKai-SB"/>
                          </a:rPr>
                        </m:ctrlPr>
                      </m:sSupPr>
                      <m:e>
                        <m:r>
                          <a:rPr lang="en-US" altLang="zh-TW" sz="2177" i="1" spc="-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FKai-SB"/>
                          </a:rPr>
                          <m:t>𝑓</m:t>
                        </m:r>
                      </m:e>
                      <m:sup>
                        <m:r>
                          <a:rPr lang="en-US" altLang="zh-TW" sz="2177" i="1" spc="-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FKai-SB"/>
                          </a:rPr>
                          <m:t>𝐿</m:t>
                        </m:r>
                        <m:r>
                          <a:rPr lang="en-US" altLang="zh-TW" sz="2177" i="1" spc="-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FKai-SB"/>
                          </a:rPr>
                          <m:t>−1</m:t>
                        </m:r>
                      </m:sup>
                    </m:sSup>
                    <m:r>
                      <a:rPr lang="en-US" sz="2177" i="1" spc="-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FKai-SB"/>
                      </a:rPr>
                      <m:t> (</m:t>
                    </m:r>
                    <m:sSup>
                      <m:sSupPr>
                        <m:ctrlPr>
                          <a:rPr lang="en-US" altLang="zh-TW" sz="2177" i="1" spc="-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FKai-SB"/>
                          </a:rPr>
                        </m:ctrlPr>
                      </m:sSupPr>
                      <m:e>
                        <m:r>
                          <a:rPr lang="en-US" altLang="zh-TW" sz="2177" i="1" spc="-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FKai-SB"/>
                          </a:rPr>
                          <m:t>𝐼</m:t>
                        </m:r>
                      </m:e>
                      <m:sup>
                        <m:r>
                          <a:rPr lang="en-US" altLang="zh-TW" sz="2177" i="1" spc="-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FKai-SB"/>
                          </a:rPr>
                          <m:t>𝐿𝑅</m:t>
                        </m:r>
                      </m:sup>
                    </m:sSup>
                    <m:r>
                      <a:rPr lang="en-US" sz="2177" i="1" spc="-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FKai-SB"/>
                      </a:rPr>
                      <m:t>)</m:t>
                    </m:r>
                  </m:oMath>
                </a14:m>
                <a:r>
                  <a:rPr lang="en-US" altLang="zh-TW" sz="2177" spc="-1" dirty="0">
                    <a:solidFill>
                      <a:srgbClr val="000000"/>
                    </a:solidFill>
                    <a:latin typeface="Times New Roman"/>
                    <a:ea typeface="DFKai-SB"/>
                  </a:rPr>
                  <a:t>:</a:t>
                </a:r>
                <a:r>
                  <a:rPr lang="zh-TW" altLang="en-US" sz="2177" spc="-1" dirty="0">
                    <a:solidFill>
                      <a:srgbClr val="000000"/>
                    </a:solidFill>
                    <a:latin typeface="Times New Roman"/>
                    <a:ea typeface="DFKai-SB"/>
                  </a:rPr>
                  <a:t>這代表輸入到最後一層的 </a:t>
                </a:r>
                <a:r>
                  <a:rPr lang="en-US" sz="2177" spc="-1" dirty="0">
                    <a:solidFill>
                      <a:srgbClr val="000000"/>
                    </a:solidFill>
                    <a:latin typeface="Times New Roman"/>
                    <a:ea typeface="DFKai-SB"/>
                  </a:rPr>
                  <a:t>LR </a:t>
                </a:r>
                <a:r>
                  <a:rPr lang="zh-TW" altLang="en-US" sz="2177" spc="-1" dirty="0">
                    <a:solidFill>
                      <a:srgbClr val="000000"/>
                    </a:solidFill>
                    <a:latin typeface="Times New Roman"/>
                    <a:ea typeface="DFKai-SB"/>
                  </a:rPr>
                  <a:t>特徵圖 </a:t>
                </a:r>
                <a:r>
                  <a:rPr lang="en-US" sz="2177" spc="-1" dirty="0">
                    <a:solidFill>
                      <a:srgbClr val="000000"/>
                    </a:solidFill>
                    <a:latin typeface="Times New Roman"/>
                    <a:ea typeface="DFKai-SB"/>
                  </a:rPr>
                  <a:t>(feature maps)</a:t>
                </a:r>
                <a:endParaRPr lang="en-US" sz="2177" spc="-1" dirty="0">
                  <a:solidFill>
                    <a:srgbClr val="000000"/>
                  </a:solidFill>
                  <a:latin typeface="Arial"/>
                </a:endParaRPr>
              </a:p>
              <a:p>
                <a:pPr marL="674012" lvl="1" indent="-259285" defTabSz="414726">
                  <a:spcBef>
                    <a:spcPts val="566"/>
                  </a:spcBef>
                  <a:buClr>
                    <a:srgbClr val="000000"/>
                  </a:buClr>
                  <a:buFont typeface="Arial"/>
                  <a:buChar char="–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177" i="1" spc="-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FKai-SB"/>
                          </a:rPr>
                        </m:ctrlPr>
                      </m:sSubPr>
                      <m:e>
                        <m:r>
                          <a:rPr lang="en-US" altLang="zh-TW" sz="2177" i="1" spc="-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FKai-SB"/>
                          </a:rPr>
                          <m:t>𝑊</m:t>
                        </m:r>
                      </m:e>
                      <m:sub>
                        <m:r>
                          <a:rPr lang="en-US" altLang="zh-TW" sz="2177" i="1" spc="-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FKai-SB"/>
                          </a:rPr>
                          <m:t>𝐿</m:t>
                        </m:r>
                      </m:sub>
                    </m:sSub>
                    <m:r>
                      <a:rPr lang="en-US" sz="2177" i="1" spc="-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FKai-SB"/>
                      </a:rPr>
                      <m:t>​∗</m:t>
                    </m:r>
                    <m:sSup>
                      <m:sSupPr>
                        <m:ctrlPr>
                          <a:rPr lang="en-US" altLang="zh-TW" sz="2177" i="1" spc="-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FKai-SB"/>
                          </a:rPr>
                        </m:ctrlPr>
                      </m:sSupPr>
                      <m:e>
                        <m:r>
                          <a:rPr lang="en-US" altLang="zh-TW" sz="2177" i="1" spc="-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FKai-SB"/>
                          </a:rPr>
                          <m:t>𝑓</m:t>
                        </m:r>
                      </m:e>
                      <m:sup>
                        <m:r>
                          <a:rPr lang="en-US" altLang="zh-TW" sz="2177" i="1" spc="-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FKai-SB"/>
                          </a:rPr>
                          <m:t>𝐿</m:t>
                        </m:r>
                        <m:r>
                          <a:rPr lang="en-US" altLang="zh-TW" sz="2177" i="1" spc="-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FKai-SB"/>
                          </a:rPr>
                          <m:t>−1</m:t>
                        </m:r>
                      </m:sup>
                    </m:sSup>
                    <m:r>
                      <a:rPr lang="en-US" sz="2177" i="1" spc="-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FKai-SB"/>
                      </a:rPr>
                      <m:t> (</m:t>
                    </m:r>
                    <m:sSup>
                      <m:sSupPr>
                        <m:ctrlPr>
                          <a:rPr lang="en-US" altLang="zh-TW" sz="2177" i="1" spc="-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FKai-SB"/>
                          </a:rPr>
                        </m:ctrlPr>
                      </m:sSupPr>
                      <m:e>
                        <m:r>
                          <a:rPr lang="en-US" altLang="zh-TW" sz="2177" i="1" spc="-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FKai-SB"/>
                          </a:rPr>
                          <m:t>𝐼</m:t>
                        </m:r>
                      </m:e>
                      <m:sup>
                        <m:r>
                          <a:rPr lang="en-US" altLang="zh-TW" sz="2177" i="1" spc="-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FKai-SB"/>
                          </a:rPr>
                          <m:t>𝐿𝑅</m:t>
                        </m:r>
                      </m:sup>
                    </m:sSup>
                    <m:r>
                      <a:rPr lang="en-US" sz="2177" i="1" spc="-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FKai-SB"/>
                      </a:rPr>
                      <m:t>)+</m:t>
                    </m:r>
                    <m:sSub>
                      <m:sSubPr>
                        <m:ctrlPr>
                          <a:rPr lang="en-US" altLang="zh-TW" sz="2177" i="1" spc="-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FKai-SB"/>
                          </a:rPr>
                        </m:ctrlPr>
                      </m:sSubPr>
                      <m:e>
                        <m:r>
                          <a:rPr lang="en-US" altLang="zh-TW" sz="2177" i="1" spc="-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FKai-SB"/>
                          </a:rPr>
                          <m:t>𝑏</m:t>
                        </m:r>
                      </m:e>
                      <m:sub>
                        <m:r>
                          <a:rPr lang="en-US" altLang="zh-TW" sz="2177" i="1" spc="-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FKai-SB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sz="2177" spc="-1" dirty="0">
                    <a:solidFill>
                      <a:srgbClr val="000000"/>
                    </a:solidFill>
                    <a:latin typeface="Times New Roman"/>
                    <a:ea typeface="DFKai-SB"/>
                  </a:rPr>
                  <a:t>​: </a:t>
                </a:r>
                <a:r>
                  <a:rPr lang="zh-TW" altLang="en-US" sz="2177" spc="-1" dirty="0">
                    <a:solidFill>
                      <a:srgbClr val="000000"/>
                    </a:solidFill>
                    <a:latin typeface="Times New Roman"/>
                    <a:ea typeface="DFKai-SB"/>
                  </a:rPr>
                  <a:t>這是一個標準的卷積運算。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177" i="1" spc="-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FKai-SB"/>
                          </a:rPr>
                        </m:ctrlPr>
                      </m:sSubPr>
                      <m:e>
                        <m:r>
                          <a:rPr lang="en-US" altLang="zh-TW" sz="2177" i="1" spc="-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FKai-SB"/>
                          </a:rPr>
                          <m:t>𝑊</m:t>
                        </m:r>
                      </m:e>
                      <m:sub>
                        <m:r>
                          <a:rPr lang="en-US" altLang="zh-TW" sz="2177" i="1" spc="-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FKai-SB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sz="2177" spc="-1" dirty="0">
                    <a:solidFill>
                      <a:srgbClr val="000000"/>
                    </a:solidFill>
                    <a:latin typeface="Times New Roman"/>
                    <a:ea typeface="DFKai-SB"/>
                  </a:rPr>
                  <a:t>​ </a:t>
                </a:r>
                <a:r>
                  <a:rPr lang="zh-TW" altLang="en-US" sz="2177" spc="-1" dirty="0">
                    <a:solidFill>
                      <a:srgbClr val="000000"/>
                    </a:solidFill>
                    <a:latin typeface="Times New Roman"/>
                    <a:ea typeface="DFKai-SB"/>
                  </a:rPr>
                  <a:t>是最後一層的卷積核 </a:t>
                </a:r>
                <a:r>
                  <a:rPr lang="en-US" sz="2177" spc="-1" dirty="0">
                    <a:solidFill>
                      <a:srgbClr val="000000"/>
                    </a:solidFill>
                    <a:latin typeface="Times New Roman"/>
                    <a:ea typeface="DFKai-SB"/>
                  </a:rPr>
                  <a:t>(filter)</a:t>
                </a:r>
                <a:r>
                  <a:rPr lang="zh-TW" altLang="en-US" sz="2177" spc="-1" dirty="0">
                    <a:solidFill>
                      <a:srgbClr val="000000"/>
                    </a:solidFill>
                    <a:latin typeface="Times New Roman"/>
                    <a:ea typeface="DFKai-SB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177" i="1" spc="-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FKai-SB"/>
                          </a:rPr>
                        </m:ctrlPr>
                      </m:sSubPr>
                      <m:e>
                        <m:r>
                          <a:rPr lang="en-US" altLang="zh-TW" sz="2177" i="1" spc="-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FKai-SB"/>
                          </a:rPr>
                          <m:t>𝑏</m:t>
                        </m:r>
                      </m:e>
                      <m:sub>
                        <m:r>
                          <a:rPr lang="en-US" altLang="zh-TW" sz="2177" i="1" spc="-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FKai-SB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sz="2177" spc="-1" dirty="0">
                    <a:solidFill>
                      <a:srgbClr val="000000"/>
                    </a:solidFill>
                    <a:latin typeface="Times New Roman"/>
                    <a:ea typeface="DFKai-SB"/>
                  </a:rPr>
                  <a:t>​ </a:t>
                </a:r>
                <a:r>
                  <a:rPr lang="zh-TW" altLang="en-US" sz="2177" spc="-1" dirty="0">
                    <a:solidFill>
                      <a:srgbClr val="000000"/>
                    </a:solidFill>
                    <a:latin typeface="Times New Roman"/>
                    <a:ea typeface="DFKai-SB"/>
                  </a:rPr>
                  <a:t>是偏置 </a:t>
                </a:r>
                <a:r>
                  <a:rPr lang="en-US" sz="2177" spc="-1" dirty="0">
                    <a:solidFill>
                      <a:srgbClr val="000000"/>
                    </a:solidFill>
                    <a:latin typeface="Times New Roman"/>
                    <a:ea typeface="DFKai-SB"/>
                  </a:rPr>
                  <a:t>(bias)</a:t>
                </a:r>
                <a:r>
                  <a:rPr lang="zh-TW" altLang="en-US" sz="2177" spc="-1" dirty="0">
                    <a:solidFill>
                      <a:srgbClr val="000000"/>
                    </a:solidFill>
                    <a:latin typeface="Times New Roman"/>
                    <a:ea typeface="DFKai-SB"/>
                  </a:rPr>
                  <a:t>。</a:t>
                </a:r>
                <a:endParaRPr lang="en-US" sz="2177" spc="-1" dirty="0">
                  <a:solidFill>
                    <a:srgbClr val="000000"/>
                  </a:solidFill>
                  <a:latin typeface="Arial"/>
                </a:endParaRPr>
              </a:p>
              <a:p>
                <a:pPr marL="674012" lvl="1" indent="-259285" defTabSz="414726">
                  <a:spcBef>
                    <a:spcPts val="566"/>
                  </a:spcBef>
                  <a:buClr>
                    <a:srgbClr val="000000"/>
                  </a:buClr>
                  <a:buFont typeface="Arial"/>
                  <a:buChar char="–"/>
                </a:pPr>
                <a:r>
                  <a:rPr lang="en-US" sz="2177" spc="-1" dirty="0">
                    <a:solidFill>
                      <a:srgbClr val="000000"/>
                    </a:solidFill>
                    <a:latin typeface="Times New Roman"/>
                    <a:ea typeface="DFKai-SB"/>
                  </a:rPr>
                  <a:t>r </a:t>
                </a:r>
                <a:r>
                  <a:rPr lang="zh-TW" altLang="en-US" sz="2177" spc="-1" dirty="0">
                    <a:solidFill>
                      <a:srgbClr val="000000"/>
                    </a:solidFill>
                    <a:latin typeface="Times New Roman"/>
                    <a:ea typeface="DFKai-SB"/>
                  </a:rPr>
                  <a:t>是放大倍率 </a:t>
                </a:r>
                <a:r>
                  <a:rPr lang="en-US" sz="2177" spc="-1" dirty="0">
                    <a:solidFill>
                      <a:srgbClr val="000000"/>
                    </a:solidFill>
                    <a:latin typeface="Times New Roman"/>
                    <a:ea typeface="DFKai-SB"/>
                  </a:rPr>
                  <a:t>(upscaling factor)</a:t>
                </a:r>
                <a:r>
                  <a:rPr lang="zh-TW" altLang="en-US" sz="2177" spc="-1" dirty="0">
                    <a:solidFill>
                      <a:srgbClr val="000000"/>
                    </a:solidFill>
                    <a:latin typeface="Times New Roman"/>
                    <a:ea typeface="DFKai-SB"/>
                  </a:rPr>
                  <a:t>。</a:t>
                </a:r>
                <a:endParaRPr lang="en-US" sz="2177" spc="-1" dirty="0">
                  <a:solidFill>
                    <a:srgbClr val="000000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170" name="內容版面配置區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72" y="1599482"/>
                <a:ext cx="8056997" cy="4525346"/>
              </a:xfrm>
              <a:prstGeom prst="rect">
                <a:avLst/>
              </a:prstGeom>
              <a:blipFill>
                <a:blip r:embed="rId3"/>
                <a:stretch>
                  <a:fillRect l="-1589" t="-1480" r="-378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1" name="標題 10"/>
          <p:cNvSpPr/>
          <p:nvPr/>
        </p:nvSpPr>
        <p:spPr>
          <a:xfrm>
            <a:off x="457172" y="274663"/>
            <a:ext cx="8228437" cy="114260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638" tIns="40819" rIns="81638" bIns="40819" numCol="1" spcCol="0" anchor="ctr">
            <a:noAutofit/>
          </a:bodyPr>
          <a:lstStyle/>
          <a:p>
            <a:pPr algn="ctr" defTabSz="829452">
              <a:tabLst>
                <a:tab pos="0" algn="l"/>
              </a:tabLst>
            </a:pPr>
            <a:r>
              <a:rPr lang="en-US" sz="3991" spc="-1">
                <a:solidFill>
                  <a:srgbClr val="000000"/>
                </a:solidFill>
                <a:latin typeface="Times New Roman"/>
                <a:ea typeface="DFKai-SB"/>
              </a:rPr>
              <a:t>Upsample</a:t>
            </a:r>
            <a:endParaRPr lang="en-US" sz="3991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2" name="圖片 171"/>
          <p:cNvPicPr/>
          <p:nvPr/>
        </p:nvPicPr>
        <p:blipFill>
          <a:blip r:embed="rId4"/>
          <a:stretch/>
        </p:blipFill>
        <p:spPr>
          <a:xfrm>
            <a:off x="1400146" y="4908356"/>
            <a:ext cx="6171050" cy="1002839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CDEC6156-F545-4109-87E7-85D57E15D662}" type="slidenum">
              <a:t>37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內容版面配置區 11"/>
              <p:cNvSpPr/>
              <p:nvPr/>
            </p:nvSpPr>
            <p:spPr>
              <a:xfrm>
                <a:off x="457172" y="1599482"/>
                <a:ext cx="7968572" cy="4525346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81638" tIns="40819" rIns="81638" bIns="40819" numCol="1" spcCol="0" anchor="t">
                <a:normAutofit/>
              </a:bodyPr>
              <a:lstStyle/>
              <a:p>
                <a:pPr marL="311208" indent="-311208" defTabSz="414726">
                  <a:spcBef>
                    <a:spcPts val="581"/>
                  </a:spcBef>
                  <a:buClr>
                    <a:srgbClr val="000000"/>
                  </a:buClr>
                  <a:buFont typeface="Arial"/>
                  <a:buChar char="•"/>
                </a:pPr>
                <a:r>
                  <a:rPr lang="en-US" sz="2903" spc="-1" dirty="0">
                    <a:solidFill>
                      <a:schemeClr val="dk1"/>
                    </a:solidFill>
                    <a:latin typeface="Times New Roman"/>
                  </a:rPr>
                  <a:t>sub-pixel convolution(shuffling)</a:t>
                </a:r>
                <a:endParaRPr lang="en-US" sz="2903" spc="-1" dirty="0">
                  <a:solidFill>
                    <a:srgbClr val="000000"/>
                  </a:solidFill>
                  <a:latin typeface="Arial"/>
                </a:endParaRPr>
              </a:p>
              <a:p>
                <a:pPr marL="674012" lvl="1" indent="-259285" defTabSz="414726">
                  <a:spcBef>
                    <a:spcPts val="566"/>
                  </a:spcBef>
                  <a:buClr>
                    <a:srgbClr val="000000"/>
                  </a:buClr>
                  <a:buFont typeface="Arial"/>
                  <a:buChar char="–"/>
                </a:pPr>
                <a14:m>
                  <m:oMath xmlns:m="http://schemas.openxmlformats.org/officeDocument/2006/math">
                    <m:r>
                      <a:rPr lang="en-US" sz="1633" i="1" spc="-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FKai-SB"/>
                      </a:rPr>
                      <m:t>𝑇</m:t>
                    </m:r>
                  </m:oMath>
                </a14:m>
                <a:r>
                  <a:rPr lang="en-US" sz="1633" spc="-1" dirty="0">
                    <a:solidFill>
                      <a:srgbClr val="000000"/>
                    </a:solidFill>
                    <a:latin typeface="Times New Roman"/>
                    <a:ea typeface="DFKai-SB"/>
                  </a:rPr>
                  <a:t>: </a:t>
                </a:r>
                <a:r>
                  <a:rPr lang="zh-TW" altLang="en-US" sz="1633" spc="-1" dirty="0">
                    <a:solidFill>
                      <a:srgbClr val="000000"/>
                    </a:solidFill>
                    <a:latin typeface="Times New Roman"/>
                    <a:ea typeface="DFKai-SB"/>
                  </a:rPr>
                  <a:t>上個公式中卷積運算完的輸入張量，其維度為 </a:t>
                </a:r>
                <a14:m>
                  <m:oMath xmlns:m="http://schemas.openxmlformats.org/officeDocument/2006/math">
                    <m:r>
                      <a:rPr lang="en-US" sz="1633" i="1" spc="-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FKai-SB"/>
                      </a:rPr>
                      <m:t>𝐻</m:t>
                    </m:r>
                    <m:r>
                      <a:rPr lang="en-US" sz="1633" i="1" spc="-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FKai-SB"/>
                      </a:rPr>
                      <m:t>×</m:t>
                    </m:r>
                    <m:r>
                      <a:rPr lang="en-US" sz="1633" i="1" spc="-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FKai-SB"/>
                      </a:rPr>
                      <m:t>𝑊</m:t>
                    </m:r>
                    <m:r>
                      <a:rPr lang="en-US" sz="1633" i="1" spc="-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FKai-SB"/>
                      </a:rPr>
                      <m:t>×(</m:t>
                    </m:r>
                    <m:r>
                      <a:rPr lang="en-US" sz="1633" i="1" spc="-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FKai-SB"/>
                      </a:rPr>
                      <m:t>𝐶</m:t>
                    </m:r>
                    <m:r>
                      <a:rPr lang="en-US" sz="1633" i="1" spc="-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FKai-SB"/>
                      </a:rPr>
                      <m:t>⋅</m:t>
                    </m:r>
                    <m:sSup>
                      <m:sSupPr>
                        <m:ctrlPr>
                          <a:rPr lang="en-US" altLang="zh-TW" sz="1633" i="1" spc="-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FKai-SB"/>
                          </a:rPr>
                        </m:ctrlPr>
                      </m:sSupPr>
                      <m:e>
                        <m:r>
                          <a:rPr lang="en-US" altLang="zh-TW" sz="1633" i="1" spc="-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FKai-SB"/>
                          </a:rPr>
                          <m:t>𝑟</m:t>
                        </m:r>
                      </m:e>
                      <m:sup>
                        <m:r>
                          <a:rPr lang="en-US" altLang="zh-TW" sz="1633" i="1" spc="-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FKai-SB"/>
                          </a:rPr>
                          <m:t>2</m:t>
                        </m:r>
                      </m:sup>
                    </m:sSup>
                    <m:r>
                      <a:rPr lang="en-US" sz="1633" i="1" spc="-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FKai-SB"/>
                      </a:rPr>
                      <m:t>)</m:t>
                    </m:r>
                  </m:oMath>
                </a14:m>
                <a:r>
                  <a:rPr lang="zh-TW" altLang="en-US" sz="1633" spc="-1" dirty="0">
                    <a:solidFill>
                      <a:srgbClr val="000000"/>
                    </a:solidFill>
                    <a:latin typeface="Times New Roman"/>
                    <a:ea typeface="DFKai-SB"/>
                  </a:rPr>
                  <a:t>。</a:t>
                </a:r>
                <a:endParaRPr lang="en-US" sz="1633" spc="-1" dirty="0">
                  <a:solidFill>
                    <a:srgbClr val="000000"/>
                  </a:solidFill>
                  <a:latin typeface="Arial"/>
                </a:endParaRPr>
              </a:p>
              <a:p>
                <a:pPr marL="674012" lvl="1" indent="-259285" defTabSz="414726">
                  <a:spcBef>
                    <a:spcPts val="566"/>
                  </a:spcBef>
                  <a:buClr>
                    <a:srgbClr val="000000"/>
                  </a:buClr>
                  <a:buFont typeface="Arial"/>
                  <a:buChar char="–"/>
                </a:pPr>
                <a14:m>
                  <m:oMath xmlns:m="http://schemas.openxmlformats.org/officeDocument/2006/math">
                    <m:r>
                      <a:rPr lang="en-US" sz="1633" i="1" spc="-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FKai-SB"/>
                      </a:rPr>
                      <m:t>𝑃𝑆</m:t>
                    </m:r>
                    <m:r>
                      <a:rPr lang="en-US" sz="1633" i="1" spc="-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FKai-SB"/>
                      </a:rPr>
                      <m:t>(</m:t>
                    </m:r>
                    <m:r>
                      <a:rPr lang="en-US" sz="1633" i="1" spc="-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FKai-SB"/>
                      </a:rPr>
                      <m:t>𝑇</m:t>
                    </m:r>
                    <m:r>
                      <a:rPr lang="en-US" sz="1633" i="1" spc="-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FKai-SB"/>
                      </a:rPr>
                      <m:t>)</m:t>
                    </m:r>
                  </m:oMath>
                </a14:m>
                <a:r>
                  <a:rPr lang="en-US" sz="1633" spc="-1" dirty="0">
                    <a:solidFill>
                      <a:srgbClr val="000000"/>
                    </a:solidFill>
                    <a:latin typeface="Times New Roman"/>
                    <a:ea typeface="DFKai-SB"/>
                  </a:rPr>
                  <a:t>: </a:t>
                </a:r>
                <a:r>
                  <a:rPr lang="zh-TW" altLang="en-US" sz="1633" spc="-1" dirty="0">
                    <a:solidFill>
                      <a:srgbClr val="000000"/>
                    </a:solidFill>
                    <a:latin typeface="Times New Roman"/>
                    <a:ea typeface="DFKai-SB"/>
                  </a:rPr>
                  <a:t>這是 </a:t>
                </a:r>
                <a:r>
                  <a:rPr lang="en-US" sz="1633" spc="-1" dirty="0">
                    <a:solidFill>
                      <a:srgbClr val="000000"/>
                    </a:solidFill>
                    <a:latin typeface="Times New Roman"/>
                    <a:ea typeface="DFKai-SB"/>
                  </a:rPr>
                  <a:t>PS </a:t>
                </a:r>
                <a:r>
                  <a:rPr lang="zh-TW" altLang="en-US" sz="1633" spc="-1" dirty="0">
                    <a:solidFill>
                      <a:srgbClr val="000000"/>
                    </a:solidFill>
                    <a:latin typeface="Times New Roman"/>
                    <a:ea typeface="DFKai-SB"/>
                  </a:rPr>
                  <a:t>運算後的輸出張量， </a:t>
                </a:r>
                <a14:m>
                  <m:oMath xmlns:m="http://schemas.openxmlformats.org/officeDocument/2006/math">
                    <m:r>
                      <a:rPr lang="en-US" sz="1633" i="1" spc="-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FKai-SB"/>
                      </a:rPr>
                      <m:t>𝑟𝐻</m:t>
                    </m:r>
                    <m:r>
                      <a:rPr lang="en-US" sz="1633" i="1" spc="-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FKai-SB"/>
                      </a:rPr>
                      <m:t>×</m:t>
                    </m:r>
                    <m:r>
                      <a:rPr lang="en-US" sz="1633" i="1" spc="-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FKai-SB"/>
                      </a:rPr>
                      <m:t>𝑟𝑊</m:t>
                    </m:r>
                    <m:r>
                      <a:rPr lang="en-US" sz="1633" i="1" spc="-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FKai-SB"/>
                      </a:rPr>
                      <m:t>×</m:t>
                    </m:r>
                    <m:r>
                      <a:rPr lang="en-US" sz="1633" i="1" spc="-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FKai-SB"/>
                      </a:rPr>
                      <m:t>𝐶</m:t>
                    </m:r>
                    <m:r>
                      <a:rPr lang="en-US" sz="1633" i="1" spc="-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FKai-SB"/>
                      </a:rPr>
                      <m:t> </m:t>
                    </m:r>
                  </m:oMath>
                </a14:m>
                <a:r>
                  <a:rPr lang="zh-TW" altLang="en-US" sz="1633" spc="-1" dirty="0">
                    <a:solidFill>
                      <a:srgbClr val="000000"/>
                    </a:solidFill>
                    <a:latin typeface="Times New Roman"/>
                    <a:ea typeface="DFKai-SB"/>
                  </a:rPr>
                  <a:t>的 </a:t>
                </a:r>
                <a:r>
                  <a:rPr lang="en-US" sz="1633" spc="-1" dirty="0">
                    <a:solidFill>
                      <a:srgbClr val="000000"/>
                    </a:solidFill>
                    <a:latin typeface="Times New Roman"/>
                    <a:ea typeface="DFKai-SB"/>
                  </a:rPr>
                  <a:t>HR </a:t>
                </a:r>
                <a:r>
                  <a:rPr lang="zh-TW" altLang="en-US" sz="1633" spc="-1" dirty="0">
                    <a:solidFill>
                      <a:srgbClr val="000000"/>
                    </a:solidFill>
                    <a:latin typeface="Times New Roman"/>
                    <a:ea typeface="DFKai-SB"/>
                  </a:rPr>
                  <a:t>影像。</a:t>
                </a:r>
                <a:endParaRPr lang="en-US" sz="1633" spc="-1" dirty="0">
                  <a:solidFill>
                    <a:srgbClr val="000000"/>
                  </a:solidFill>
                  <a:latin typeface="Arial"/>
                </a:endParaRPr>
              </a:p>
              <a:p>
                <a:pPr marL="674012" lvl="1" indent="-259285" defTabSz="414726">
                  <a:spcBef>
                    <a:spcPts val="566"/>
                  </a:spcBef>
                  <a:buClr>
                    <a:srgbClr val="000000"/>
                  </a:buClr>
                  <a:buFont typeface="Arial"/>
                  <a:buChar char="–"/>
                </a:pPr>
                <a:r>
                  <a:rPr lang="en-US" sz="1633" spc="-1" dirty="0">
                    <a:solidFill>
                      <a:srgbClr val="000000"/>
                    </a:solidFill>
                    <a:latin typeface="Times New Roman"/>
                    <a:ea typeface="DFKai-SB"/>
                  </a:rPr>
                  <a:t>(</a:t>
                </a:r>
                <a:r>
                  <a:rPr lang="en-US" sz="1633" spc="-1" dirty="0" err="1">
                    <a:solidFill>
                      <a:srgbClr val="000000"/>
                    </a:solidFill>
                    <a:latin typeface="Times New Roman"/>
                    <a:ea typeface="DFKai-SB"/>
                  </a:rPr>
                  <a:t>x,y,c</a:t>
                </a:r>
                <a:r>
                  <a:rPr lang="en-US" sz="1633" spc="-1" dirty="0">
                    <a:solidFill>
                      <a:srgbClr val="000000"/>
                    </a:solidFill>
                    <a:latin typeface="Times New Roman"/>
                    <a:ea typeface="DFKai-SB"/>
                  </a:rPr>
                  <a:t>): </a:t>
                </a:r>
                <a:r>
                  <a:rPr lang="zh-TW" altLang="en-US" sz="1633" spc="-1" dirty="0">
                    <a:solidFill>
                      <a:srgbClr val="000000"/>
                    </a:solidFill>
                    <a:latin typeface="Times New Roman"/>
                    <a:ea typeface="DFKai-SB"/>
                  </a:rPr>
                  <a:t>這是我們想計算的 </a:t>
                </a:r>
                <a:r>
                  <a:rPr lang="en-US" sz="1633" spc="-1" dirty="0">
                    <a:solidFill>
                      <a:srgbClr val="000000"/>
                    </a:solidFill>
                    <a:latin typeface="Times New Roman"/>
                    <a:ea typeface="DFKai-SB"/>
                  </a:rPr>
                  <a:t>HR </a:t>
                </a:r>
                <a:r>
                  <a:rPr lang="zh-TW" altLang="en-US" sz="1633" spc="-1" dirty="0">
                    <a:solidFill>
                      <a:srgbClr val="000000"/>
                    </a:solidFill>
                    <a:latin typeface="Times New Roman"/>
                    <a:ea typeface="DFKai-SB"/>
                  </a:rPr>
                  <a:t>影像上輸出像素的座標。</a:t>
                </a:r>
                <a:endParaRPr lang="en-US" sz="1633" spc="-1" dirty="0">
                  <a:solidFill>
                    <a:srgbClr val="000000"/>
                  </a:solidFill>
                  <a:latin typeface="Arial"/>
                </a:endParaRPr>
              </a:p>
              <a:p>
                <a:pPr marL="674012" lvl="1" indent="-259285" defTabSz="414726">
                  <a:spcBef>
                    <a:spcPts val="566"/>
                  </a:spcBef>
                  <a:buClr>
                    <a:srgbClr val="000000"/>
                  </a:buClr>
                  <a:buFont typeface="Arial"/>
                  <a:buChar char="–"/>
                </a:pPr>
                <a:r>
                  <a:rPr lang="en-US" sz="1633" spc="-1" dirty="0">
                    <a:solidFill>
                      <a:srgbClr val="000000"/>
                    </a:solidFill>
                    <a:latin typeface="Times New Roman"/>
                    <a:ea typeface="DFKai-SB"/>
                  </a:rPr>
                  <a:t>    x </a:t>
                </a:r>
                <a:r>
                  <a:rPr lang="zh-TW" altLang="en-US" sz="1633" spc="-1" dirty="0">
                    <a:solidFill>
                      <a:srgbClr val="000000"/>
                    </a:solidFill>
                    <a:latin typeface="Times New Roman"/>
                    <a:ea typeface="DFKai-SB"/>
                  </a:rPr>
                  <a:t>是 </a:t>
                </a:r>
                <a:r>
                  <a:rPr lang="en-US" sz="1633" spc="-1" dirty="0">
                    <a:solidFill>
                      <a:srgbClr val="000000"/>
                    </a:solidFill>
                    <a:latin typeface="Times New Roman"/>
                    <a:ea typeface="DFKai-SB"/>
                  </a:rPr>
                  <a:t>HR </a:t>
                </a:r>
                <a:r>
                  <a:rPr lang="zh-TW" altLang="en-US" sz="1633" spc="-1" dirty="0">
                    <a:solidFill>
                      <a:srgbClr val="000000"/>
                    </a:solidFill>
                    <a:latin typeface="Times New Roman"/>
                    <a:ea typeface="DFKai-SB"/>
                  </a:rPr>
                  <a:t>影像的水平座標。</a:t>
                </a:r>
                <a:endParaRPr lang="en-US" sz="1633" spc="-1" dirty="0">
                  <a:solidFill>
                    <a:srgbClr val="000000"/>
                  </a:solidFill>
                  <a:latin typeface="Arial"/>
                </a:endParaRPr>
              </a:p>
              <a:p>
                <a:pPr marL="674012" lvl="1" indent="-259285" defTabSz="414726">
                  <a:spcBef>
                    <a:spcPts val="566"/>
                  </a:spcBef>
                  <a:buClr>
                    <a:srgbClr val="000000"/>
                  </a:buClr>
                  <a:buFont typeface="Arial"/>
                  <a:buChar char="–"/>
                </a:pPr>
                <a:r>
                  <a:rPr lang="en-US" sz="1633" spc="-1" dirty="0">
                    <a:solidFill>
                      <a:srgbClr val="000000"/>
                    </a:solidFill>
                    <a:latin typeface="Times New Roman"/>
                    <a:ea typeface="DFKai-SB"/>
                  </a:rPr>
                  <a:t>    y </a:t>
                </a:r>
                <a:r>
                  <a:rPr lang="zh-TW" altLang="en-US" sz="1633" spc="-1" dirty="0">
                    <a:solidFill>
                      <a:srgbClr val="000000"/>
                    </a:solidFill>
                    <a:latin typeface="Times New Roman"/>
                    <a:ea typeface="DFKai-SB"/>
                  </a:rPr>
                  <a:t>是 </a:t>
                </a:r>
                <a:r>
                  <a:rPr lang="en-US" sz="1633" spc="-1" dirty="0">
                    <a:solidFill>
                      <a:srgbClr val="000000"/>
                    </a:solidFill>
                    <a:latin typeface="Times New Roman"/>
                    <a:ea typeface="DFKai-SB"/>
                  </a:rPr>
                  <a:t>HR </a:t>
                </a:r>
                <a:r>
                  <a:rPr lang="zh-TW" altLang="en-US" sz="1633" spc="-1" dirty="0">
                    <a:solidFill>
                      <a:srgbClr val="000000"/>
                    </a:solidFill>
                    <a:latin typeface="Times New Roman"/>
                    <a:ea typeface="DFKai-SB"/>
                  </a:rPr>
                  <a:t>影像的垂直座標。</a:t>
                </a:r>
                <a:endParaRPr lang="en-US" sz="1633" spc="-1" dirty="0">
                  <a:solidFill>
                    <a:srgbClr val="000000"/>
                  </a:solidFill>
                  <a:latin typeface="Arial"/>
                </a:endParaRPr>
              </a:p>
              <a:p>
                <a:pPr marL="674012" lvl="1" indent="-259285" defTabSz="414726">
                  <a:spcBef>
                    <a:spcPts val="566"/>
                  </a:spcBef>
                  <a:buClr>
                    <a:srgbClr val="000000"/>
                  </a:buClr>
                  <a:buFont typeface="Arial"/>
                  <a:buChar char="–"/>
                </a:pPr>
                <a:r>
                  <a:rPr lang="en-US" sz="1633" spc="-1" dirty="0">
                    <a:solidFill>
                      <a:srgbClr val="000000"/>
                    </a:solidFill>
                    <a:latin typeface="Times New Roman"/>
                    <a:ea typeface="DFKai-SB"/>
                  </a:rPr>
                  <a:t>    c </a:t>
                </a:r>
                <a:r>
                  <a:rPr lang="zh-TW" altLang="en-US" sz="1633" spc="-1" dirty="0">
                    <a:solidFill>
                      <a:srgbClr val="000000"/>
                    </a:solidFill>
                    <a:latin typeface="Times New Roman"/>
                    <a:ea typeface="DFKai-SB"/>
                  </a:rPr>
                  <a:t>是 </a:t>
                </a:r>
                <a:r>
                  <a:rPr lang="en-US" sz="1633" spc="-1" dirty="0">
                    <a:solidFill>
                      <a:srgbClr val="000000"/>
                    </a:solidFill>
                    <a:latin typeface="Times New Roman"/>
                    <a:ea typeface="DFKai-SB"/>
                  </a:rPr>
                  <a:t>HR </a:t>
                </a:r>
                <a:r>
                  <a:rPr lang="zh-TW" altLang="en-US" sz="1633" spc="-1" dirty="0">
                    <a:solidFill>
                      <a:srgbClr val="000000"/>
                    </a:solidFill>
                    <a:latin typeface="Times New Roman"/>
                    <a:ea typeface="DFKai-SB"/>
                  </a:rPr>
                  <a:t>影像的通道索引。</a:t>
                </a:r>
                <a:endParaRPr lang="en-US" sz="1633" spc="-1" dirty="0">
                  <a:solidFill>
                    <a:srgbClr val="000000"/>
                  </a:solidFill>
                  <a:latin typeface="Arial"/>
                </a:endParaRPr>
              </a:p>
              <a:p>
                <a:pPr marL="674012" lvl="1" indent="-259285" defTabSz="414726">
                  <a:spcBef>
                    <a:spcPts val="566"/>
                  </a:spcBef>
                  <a:buClr>
                    <a:srgbClr val="000000"/>
                  </a:buClr>
                  <a:buFont typeface="Arial"/>
                  <a:buChar char="–"/>
                </a:pPr>
                <a:r>
                  <a:rPr lang="en-US" sz="1633" spc="-1" dirty="0">
                    <a:solidFill>
                      <a:srgbClr val="000000"/>
                    </a:solidFill>
                    <a:latin typeface="Times New Roman"/>
                    <a:ea typeface="DFKai-SB"/>
                  </a:rPr>
                  <a:t>T⌊…⌋,⌊…⌋,…​: </a:t>
                </a:r>
                <a:r>
                  <a:rPr lang="zh-TW" altLang="en-US" sz="1633" spc="-1" dirty="0">
                    <a:solidFill>
                      <a:srgbClr val="000000"/>
                    </a:solidFill>
                    <a:latin typeface="Times New Roman"/>
                    <a:ea typeface="DFKai-SB"/>
                  </a:rPr>
                  <a:t>這代表我們要從輸入張量 </a:t>
                </a:r>
                <a:r>
                  <a:rPr lang="en-US" sz="1633" spc="-1" dirty="0">
                    <a:solidFill>
                      <a:srgbClr val="000000"/>
                    </a:solidFill>
                    <a:latin typeface="Times New Roman"/>
                    <a:ea typeface="DFKai-SB"/>
                  </a:rPr>
                  <a:t>T </a:t>
                </a:r>
                <a:r>
                  <a:rPr lang="zh-TW" altLang="en-US" sz="1633" spc="-1" dirty="0">
                    <a:solidFill>
                      <a:srgbClr val="000000"/>
                    </a:solidFill>
                    <a:latin typeface="Times New Roman"/>
                    <a:ea typeface="DFKai-SB"/>
                  </a:rPr>
                  <a:t>中抓取哪一個值，來填入 </a:t>
                </a:r>
                <a:r>
                  <a:rPr lang="en-US" sz="1633" spc="-1" dirty="0">
                    <a:solidFill>
                      <a:srgbClr val="000000"/>
                    </a:solidFill>
                    <a:latin typeface="Times New Roman"/>
                    <a:ea typeface="DFKai-SB"/>
                  </a:rPr>
                  <a:t>PS(T)</a:t>
                </a:r>
                <a:r>
                  <a:rPr lang="en-US" sz="1633" spc="-1" dirty="0" err="1">
                    <a:solidFill>
                      <a:srgbClr val="000000"/>
                    </a:solidFill>
                    <a:latin typeface="Times New Roman"/>
                    <a:ea typeface="DFKai-SB"/>
                  </a:rPr>
                  <a:t>x,y,c</a:t>
                </a:r>
                <a:r>
                  <a:rPr lang="en-US" sz="1633" spc="-1" dirty="0">
                    <a:solidFill>
                      <a:srgbClr val="000000"/>
                    </a:solidFill>
                    <a:latin typeface="Times New Roman"/>
                    <a:ea typeface="DFKai-SB"/>
                  </a:rPr>
                  <a:t>​ </a:t>
                </a:r>
                <a:r>
                  <a:rPr lang="zh-TW" altLang="en-US" sz="1633" spc="-1" dirty="0">
                    <a:solidFill>
                      <a:srgbClr val="000000"/>
                    </a:solidFill>
                    <a:latin typeface="Times New Roman"/>
                    <a:ea typeface="DFKai-SB"/>
                  </a:rPr>
                  <a:t>的位置。</a:t>
                </a:r>
                <a:endParaRPr lang="en-US" sz="1633" spc="-1" dirty="0">
                  <a:solidFill>
                    <a:srgbClr val="000000"/>
                  </a:solidFill>
                  <a:latin typeface="Arial"/>
                </a:endParaRPr>
              </a:p>
              <a:p>
                <a:pPr marL="674012" lvl="1" indent="-259285" defTabSz="414726">
                  <a:spcBef>
                    <a:spcPts val="566"/>
                  </a:spcBef>
                  <a:buClr>
                    <a:srgbClr val="000000"/>
                  </a:buClr>
                  <a:buFont typeface="Arial"/>
                  <a:buChar char="–"/>
                </a:pPr>
                <a:endParaRPr lang="en-US" sz="907" spc="-1" dirty="0">
                  <a:solidFill>
                    <a:srgbClr val="000000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173" name="內容版面配置區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72" y="1599482"/>
                <a:ext cx="7968572" cy="4525346"/>
              </a:xfrm>
              <a:prstGeom prst="rect">
                <a:avLst/>
              </a:prstGeom>
              <a:blipFill>
                <a:blip r:embed="rId3"/>
                <a:stretch>
                  <a:fillRect l="-1607" t="-148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" name="標題 11"/>
          <p:cNvSpPr/>
          <p:nvPr/>
        </p:nvSpPr>
        <p:spPr>
          <a:xfrm>
            <a:off x="457172" y="274663"/>
            <a:ext cx="8228437" cy="114260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638" tIns="40819" rIns="81638" bIns="40819" numCol="1" spcCol="0" anchor="ctr">
            <a:noAutofit/>
          </a:bodyPr>
          <a:lstStyle/>
          <a:p>
            <a:pPr algn="ctr" defTabSz="829452">
              <a:tabLst>
                <a:tab pos="0" algn="l"/>
              </a:tabLst>
            </a:pPr>
            <a:r>
              <a:rPr lang="en-US" sz="3991" spc="-1">
                <a:solidFill>
                  <a:srgbClr val="000000"/>
                </a:solidFill>
                <a:latin typeface="Times New Roman"/>
                <a:ea typeface="DFKai-SB"/>
              </a:rPr>
              <a:t>Upsample</a:t>
            </a:r>
            <a:endParaRPr lang="en-US" sz="3991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5" name="圖片 174"/>
          <p:cNvPicPr/>
          <p:nvPr/>
        </p:nvPicPr>
        <p:blipFill>
          <a:blip r:embed="rId4"/>
          <a:stretch/>
        </p:blipFill>
        <p:spPr>
          <a:xfrm>
            <a:off x="545411" y="5038768"/>
            <a:ext cx="7880333" cy="845954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9E9E828D-85AD-460A-B4B1-E50FCFABE3CA}" type="slidenum">
              <a:t>38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內容版面配置區 8"/>
          <p:cNvSpPr/>
          <p:nvPr/>
        </p:nvSpPr>
        <p:spPr>
          <a:xfrm>
            <a:off x="457172" y="1599482"/>
            <a:ext cx="8056997" cy="452534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638" tIns="40819" rIns="81638" bIns="40819" numCol="1" spcCol="0" anchor="t">
            <a:normAutofit/>
          </a:bodyPr>
          <a:lstStyle/>
          <a:p>
            <a:pPr marL="311208" indent="-311208" defTabSz="414726">
              <a:spcBef>
                <a:spcPts val="58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903" spc="-1" dirty="0">
                <a:solidFill>
                  <a:schemeClr val="dk1"/>
                </a:solidFill>
                <a:latin typeface="Times New Roman"/>
              </a:rPr>
              <a:t>L1 Loss Function(MAE) is used to minimize the error which is the sum of the all the absolute differences between the true value and the predicted value.</a:t>
            </a:r>
            <a:endParaRPr lang="en-US" sz="2903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標題 8"/>
          <p:cNvSpPr/>
          <p:nvPr/>
        </p:nvSpPr>
        <p:spPr>
          <a:xfrm>
            <a:off x="457172" y="274663"/>
            <a:ext cx="8228437" cy="114260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638" tIns="40819" rIns="81638" bIns="40819" numCol="1" spcCol="0" anchor="ctr">
            <a:noAutofit/>
          </a:bodyPr>
          <a:lstStyle/>
          <a:p>
            <a:pPr algn="ctr" defTabSz="829452">
              <a:tabLst>
                <a:tab pos="0" algn="l"/>
              </a:tabLst>
            </a:pPr>
            <a:r>
              <a:rPr lang="en-US" sz="3991" spc="-1" dirty="0">
                <a:solidFill>
                  <a:srgbClr val="000000"/>
                </a:solidFill>
                <a:latin typeface="Times New Roman"/>
                <a:ea typeface="DFKai-SB"/>
              </a:rPr>
              <a:t>Loss function</a:t>
            </a:r>
            <a:endParaRPr lang="en-US" sz="3991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8" name="圖片 177"/>
          <p:cNvPicPr/>
          <p:nvPr/>
        </p:nvPicPr>
        <p:blipFill>
          <a:blip r:embed="rId3"/>
          <a:stretch/>
        </p:blipFill>
        <p:spPr>
          <a:xfrm>
            <a:off x="1310860" y="4200503"/>
            <a:ext cx="6012919" cy="1225669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78E32C9F-CEC8-4798-B5F2-EF297CF8F9E5}" type="slidenum">
              <a:t>39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內容版面配置區 12"/>
          <p:cNvSpPr/>
          <p:nvPr/>
        </p:nvSpPr>
        <p:spPr>
          <a:xfrm>
            <a:off x="457172" y="1599482"/>
            <a:ext cx="8056997" cy="452534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638" tIns="40819" rIns="81638" bIns="40819" numCol="1" spcCol="0" anchor="t">
            <a:normAutofit/>
          </a:bodyPr>
          <a:lstStyle/>
          <a:p>
            <a:pPr marL="311208" indent="-311208" defTabSz="414726">
              <a:spcBef>
                <a:spcPts val="581"/>
              </a:spcBef>
              <a:buClr>
                <a:srgbClr val="000000"/>
              </a:buClr>
              <a:buFont typeface="Arial"/>
              <a:buChar char="•"/>
            </a:pPr>
            <a:endParaRPr lang="en-US" sz="2903" spc="-1">
              <a:solidFill>
                <a:srgbClr val="000000"/>
              </a:solidFill>
              <a:latin typeface="Arial"/>
            </a:endParaRPr>
          </a:p>
          <a:p>
            <a:pPr defTabSz="414726">
              <a:spcBef>
                <a:spcPts val="581"/>
              </a:spcBef>
            </a:pPr>
            <a:endParaRPr lang="en-US" sz="2903" spc="-1">
              <a:solidFill>
                <a:srgbClr val="000000"/>
              </a:solidFill>
              <a:latin typeface="Arial"/>
            </a:endParaRPr>
          </a:p>
          <a:p>
            <a:pPr defTabSz="414726">
              <a:spcBef>
                <a:spcPts val="581"/>
              </a:spcBef>
            </a:pPr>
            <a:endParaRPr lang="en-US" sz="2903" spc="-1">
              <a:solidFill>
                <a:srgbClr val="000000"/>
              </a:solidFill>
              <a:latin typeface="Arial"/>
            </a:endParaRPr>
          </a:p>
          <a:p>
            <a:pPr defTabSz="414726">
              <a:spcBef>
                <a:spcPts val="581"/>
              </a:spcBef>
            </a:pPr>
            <a:endParaRPr lang="en-US" sz="2903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標題 12"/>
          <p:cNvSpPr/>
          <p:nvPr/>
        </p:nvSpPr>
        <p:spPr>
          <a:xfrm>
            <a:off x="457172" y="274663"/>
            <a:ext cx="8228437" cy="114260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638" tIns="40819" rIns="81638" bIns="40819" numCol="1" spcCol="0" anchor="ctr">
            <a:noAutofit/>
          </a:bodyPr>
          <a:lstStyle/>
          <a:p>
            <a:pPr algn="ctr" defTabSz="829452">
              <a:tabLst>
                <a:tab pos="0" algn="l"/>
              </a:tabLst>
            </a:pPr>
            <a:r>
              <a:rPr lang="en-US" sz="3991" spc="-1" dirty="0">
                <a:solidFill>
                  <a:srgbClr val="000000"/>
                </a:solidFill>
                <a:latin typeface="Times New Roman"/>
                <a:ea typeface="DFKai-SB"/>
              </a:rPr>
              <a:t>Evaluation</a:t>
            </a:r>
            <a:endParaRPr lang="en-US" sz="3991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1" name="圖片 180"/>
          <p:cNvPicPr/>
          <p:nvPr/>
        </p:nvPicPr>
        <p:blipFill>
          <a:blip r:embed="rId3"/>
          <a:stretch/>
        </p:blipFill>
        <p:spPr>
          <a:xfrm>
            <a:off x="749916" y="1868753"/>
            <a:ext cx="7642949" cy="3389766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A2C320F9-D7C1-4B97-908E-58CE7C06B825}" type="slidenum">
              <a:t>40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855329-AD3A-4516-BA5F-2238DD831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52778F1-8AB3-4B28-A20C-3D2AD3C65EEE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8B7FC0D-12B6-4909-9FF4-D8DADD5EBF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698121"/>
            <a:ext cx="9144000" cy="3460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標題 12">
            <a:extLst>
              <a:ext uri="{FF2B5EF4-FFF2-40B4-BE49-F238E27FC236}">
                <a16:creationId xmlns:a16="http://schemas.microsoft.com/office/drawing/2014/main" id="{1F7ED0D4-D233-4DF1-9AD5-2FE62D56B1CB}"/>
              </a:ext>
            </a:extLst>
          </p:cNvPr>
          <p:cNvSpPr/>
          <p:nvPr/>
        </p:nvSpPr>
        <p:spPr>
          <a:xfrm>
            <a:off x="595412" y="412903"/>
            <a:ext cx="8228437" cy="114260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638" tIns="40819" rIns="81638" bIns="40819" numCol="1" spcCol="0" anchor="ctr">
            <a:noAutofit/>
          </a:bodyPr>
          <a:lstStyle/>
          <a:p>
            <a:pPr algn="ctr" defTabSz="829452">
              <a:tabLst>
                <a:tab pos="0" algn="l"/>
              </a:tabLst>
            </a:pPr>
            <a:r>
              <a:rPr lang="en-US" sz="3991" spc="-1" dirty="0">
                <a:solidFill>
                  <a:srgbClr val="000000"/>
                </a:solidFill>
                <a:latin typeface="Times New Roman"/>
                <a:ea typeface="DFKai-SB"/>
              </a:rPr>
              <a:t>Evaluation</a:t>
            </a:r>
            <a:endParaRPr lang="en-US" sz="3991" spc="-1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0131891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內容版面配置區 16"/>
          <p:cNvSpPr/>
          <p:nvPr/>
        </p:nvSpPr>
        <p:spPr>
          <a:xfrm>
            <a:off x="457172" y="1599482"/>
            <a:ext cx="8056997" cy="452534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638" tIns="40819" rIns="81638" bIns="40819" numCol="1" spcCol="0" anchor="t">
            <a:normAutofit/>
          </a:bodyPr>
          <a:lstStyle/>
          <a:p>
            <a:pPr marL="311208" indent="-311208" defTabSz="414726">
              <a:spcBef>
                <a:spcPts val="581"/>
              </a:spcBef>
              <a:buClr>
                <a:srgbClr val="000000"/>
              </a:buClr>
              <a:buFont typeface="Arial"/>
              <a:buChar char="•"/>
            </a:pPr>
            <a:endParaRPr lang="en-US" sz="2903" spc="-1">
              <a:solidFill>
                <a:srgbClr val="000000"/>
              </a:solidFill>
              <a:latin typeface="Arial"/>
            </a:endParaRPr>
          </a:p>
          <a:p>
            <a:pPr defTabSz="414726">
              <a:spcBef>
                <a:spcPts val="581"/>
              </a:spcBef>
            </a:pPr>
            <a:endParaRPr lang="en-US" sz="2903" spc="-1">
              <a:solidFill>
                <a:srgbClr val="000000"/>
              </a:solidFill>
              <a:latin typeface="Arial"/>
            </a:endParaRPr>
          </a:p>
          <a:p>
            <a:pPr defTabSz="414726">
              <a:spcBef>
                <a:spcPts val="581"/>
              </a:spcBef>
            </a:pPr>
            <a:endParaRPr lang="en-US" sz="2903" spc="-1">
              <a:solidFill>
                <a:srgbClr val="000000"/>
              </a:solidFill>
              <a:latin typeface="Arial"/>
            </a:endParaRPr>
          </a:p>
          <a:p>
            <a:pPr defTabSz="414726">
              <a:spcBef>
                <a:spcPts val="581"/>
              </a:spcBef>
            </a:pPr>
            <a:endParaRPr lang="en-US" sz="2903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標題 16"/>
          <p:cNvSpPr/>
          <p:nvPr/>
        </p:nvSpPr>
        <p:spPr>
          <a:xfrm>
            <a:off x="457172" y="274663"/>
            <a:ext cx="8228437" cy="114260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638" tIns="40819" rIns="81638" bIns="40819" numCol="1" spcCol="0" anchor="ctr">
            <a:noAutofit/>
          </a:bodyPr>
          <a:lstStyle/>
          <a:p>
            <a:pPr algn="ctr" defTabSz="829452">
              <a:tabLst>
                <a:tab pos="0" algn="l"/>
              </a:tabLst>
            </a:pPr>
            <a:r>
              <a:rPr lang="en-US" sz="3991" spc="-1" dirty="0">
                <a:solidFill>
                  <a:srgbClr val="000000"/>
                </a:solidFill>
                <a:latin typeface="Times New Roman"/>
                <a:ea typeface="DFKai-SB"/>
              </a:rPr>
              <a:t>Test</a:t>
            </a:r>
            <a:endParaRPr lang="en-US" sz="3991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文字方塊 185"/>
          <p:cNvSpPr txBox="1"/>
          <p:nvPr/>
        </p:nvSpPr>
        <p:spPr>
          <a:xfrm>
            <a:off x="7289332" y="1599482"/>
            <a:ext cx="2003391" cy="3016631"/>
          </a:xfrm>
          <a:prstGeom prst="rect">
            <a:avLst/>
          </a:prstGeom>
          <a:noFill/>
          <a:ln w="0">
            <a:noFill/>
          </a:ln>
        </p:spPr>
        <p:txBody>
          <a:bodyPr lIns="81638" tIns="40819" rIns="81638" bIns="40819" anchor="t">
            <a:noAutofit/>
          </a:bodyPr>
          <a:lstStyle/>
          <a:p>
            <a:r>
              <a:rPr lang="en-US" sz="1633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Epoch = 300</a:t>
            </a:r>
          </a:p>
          <a:p>
            <a:r>
              <a:rPr lang="en-US" sz="1633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 size=4</a:t>
            </a:r>
          </a:p>
          <a:p>
            <a:r>
              <a:rPr lang="en-US" sz="1633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Kernel size=3*3</a:t>
            </a:r>
          </a:p>
          <a:p>
            <a:r>
              <a:rPr lang="en-US" sz="1633" spc="-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ResBlocks</a:t>
            </a:r>
            <a:r>
              <a:rPr lang="en-US" sz="1633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16</a:t>
            </a:r>
          </a:p>
          <a:p>
            <a:r>
              <a:rPr lang="en-US" sz="1633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 = 64</a:t>
            </a:r>
          </a:p>
          <a:p>
            <a:r>
              <a:rPr lang="en-US" sz="1633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Scale = 4</a:t>
            </a:r>
          </a:p>
          <a:p>
            <a:r>
              <a:rPr lang="en-US" sz="1633" spc="-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res_scale</a:t>
            </a:r>
            <a:r>
              <a:rPr lang="en-US" sz="1633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=1.0</a:t>
            </a:r>
          </a:p>
          <a:p>
            <a:r>
              <a:rPr lang="en-US" sz="1633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Loss Function=L1</a:t>
            </a:r>
          </a:p>
          <a:p>
            <a:r>
              <a:rPr lang="en-US" sz="1633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Optimizer = Adam</a:t>
            </a:r>
          </a:p>
          <a:p>
            <a:endParaRPr lang="en-US" sz="2395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C0EE32DF-7239-4B6C-91E6-771AE969A694}" type="slidenum">
              <a:t>42</a:t>
            </a:fld>
            <a:endParaRPr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63D990E-FA85-4A35-8AA2-6DF6D610F5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120" y="1599481"/>
            <a:ext cx="3483594" cy="3483594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141DE5C2-876B-4035-BD69-65CB97BEA9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8226" y="1599481"/>
            <a:ext cx="3483594" cy="3483594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90C865A2-3046-4B52-8F12-CBB41F94FE62}"/>
              </a:ext>
            </a:extLst>
          </p:cNvPr>
          <p:cNvSpPr txBox="1"/>
          <p:nvPr/>
        </p:nvSpPr>
        <p:spPr>
          <a:xfrm>
            <a:off x="175292" y="5119076"/>
            <a:ext cx="3980577" cy="874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5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512*512</a:t>
            </a:r>
          </a:p>
          <a:p>
            <a:r>
              <a:rPr lang="en-US" altLang="zh-TW" sz="25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ground truth		   EDSR x4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訂 1">
      <a:majorFont>
        <a:latin typeface="Times New Roman"/>
        <a:ea typeface="DFKai-SB"/>
        <a:cs typeface=""/>
      </a:majorFont>
      <a:minorFont>
        <a:latin typeface="Times New Roman"/>
        <a:ea typeface="DFKai-SB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49422</TotalTime>
  <Words>2142</Words>
  <Application>Microsoft Office PowerPoint</Application>
  <PresentationFormat>如螢幕大小 (4:3)</PresentationFormat>
  <Paragraphs>443</Paragraphs>
  <Slides>42</Slides>
  <Notes>21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42</vt:i4>
      </vt:variant>
    </vt:vector>
  </HeadingPairs>
  <TitlesOfParts>
    <vt:vector size="51" baseType="lpstr">
      <vt:lpstr>標楷體</vt:lpstr>
      <vt:lpstr>Arial</vt:lpstr>
      <vt:lpstr>Calibri</vt:lpstr>
      <vt:lpstr>Calibri Light</vt:lpstr>
      <vt:lpstr>Cambria Math</vt:lpstr>
      <vt:lpstr>Times New Roman</vt:lpstr>
      <vt:lpstr>Wingdings</vt:lpstr>
      <vt:lpstr>Office 佈景主題</vt:lpstr>
      <vt:lpstr>1_Office 佈景主題</vt:lpstr>
      <vt:lpstr>Super Resolution</vt:lpstr>
      <vt:lpstr>PowerPoint 簡報</vt:lpstr>
      <vt:lpstr>PowerPoint 簡報</vt:lpstr>
      <vt:lpstr>PowerPoint 簡報</vt:lpstr>
      <vt:lpstr>PowerPoint 簡報</vt:lpstr>
      <vt:lpstr>Linear Interpolation</vt:lpstr>
      <vt:lpstr>Piecewise Linear Interpolation</vt:lpstr>
      <vt:lpstr>Cubic Interpolation</vt:lpstr>
      <vt:lpstr>Splines</vt:lpstr>
      <vt:lpstr>Cubic Splines</vt:lpstr>
      <vt:lpstr>Natural Cubic Splines</vt:lpstr>
      <vt:lpstr>Interpolation Conditions</vt:lpstr>
      <vt:lpstr>2D interpolation</vt:lpstr>
      <vt:lpstr>2D interpolation</vt:lpstr>
      <vt:lpstr>Lagrange interpolation </vt:lpstr>
      <vt:lpstr>Lagrange interpolation </vt:lpstr>
      <vt:lpstr>PowerPoint 簡報</vt:lpstr>
      <vt:lpstr>PowerPoint 簡報</vt:lpstr>
      <vt:lpstr>Original RGB image</vt:lpstr>
      <vt:lpstr>Result</vt:lpstr>
      <vt:lpstr>Result</vt:lpstr>
      <vt:lpstr>Result</vt:lpstr>
      <vt:lpstr>Result</vt:lpstr>
      <vt:lpstr>Analysis</vt:lpstr>
      <vt:lpstr>Result</vt:lpstr>
      <vt:lpstr>Result</vt:lpstr>
      <vt:lpstr>Result</vt:lpstr>
      <vt:lpstr>Analysis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Ray Tracing</dc:title>
  <dc:creator>user</dc:creator>
  <cp:lastModifiedBy>宗邑 洪</cp:lastModifiedBy>
  <cp:revision>157</cp:revision>
  <dcterms:created xsi:type="dcterms:W3CDTF">2025-06-04T07:46:57Z</dcterms:created>
  <dcterms:modified xsi:type="dcterms:W3CDTF">2025-12-08T15:42:39Z</dcterms:modified>
</cp:coreProperties>
</file>