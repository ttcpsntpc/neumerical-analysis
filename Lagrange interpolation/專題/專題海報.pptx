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5" r:id="rId1"/>
  </p:sldMasterIdLst>
  <p:sldIdLst>
    <p:sldId id="256" r:id="rId2"/>
  </p:sldIdLst>
  <p:sldSz cx="21396325" cy="3026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3" userDrawn="1">
          <p15:clr>
            <a:srgbClr val="A4A3A4"/>
          </p15:clr>
        </p15:guide>
        <p15:guide id="2" pos="67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4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深色樣式 1 - 輔色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200" d="100"/>
          <a:sy n="200" d="100"/>
        </p:scale>
        <p:origin x="-19454" y="-34445"/>
      </p:cViewPr>
      <p:guideLst>
        <p:guide orient="horz" pos="9533"/>
        <p:guide pos="67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604725" y="4953466"/>
            <a:ext cx="18186876" cy="10537496"/>
          </a:xfrm>
        </p:spPr>
        <p:txBody>
          <a:bodyPr anchor="b"/>
          <a:lstStyle>
            <a:lvl1pPr algn="ctr">
              <a:defRPr sz="14039"/>
            </a:lvl1pPr>
          </a:lstStyle>
          <a:p>
            <a:r>
              <a:rPr lang="zh-TW" altLang="en-US"/>
              <a:t>按一下以編輯母片標題樣式</a:t>
            </a:r>
            <a:endParaRPr lang="en-US" dirty="0"/>
          </a:p>
        </p:txBody>
      </p:sp>
      <p:sp>
        <p:nvSpPr>
          <p:cNvPr id="3" name="Subtitle 2"/>
          <p:cNvSpPr>
            <a:spLocks noGrp="1"/>
          </p:cNvSpPr>
          <p:nvPr>
            <p:ph type="subTitle" idx="1"/>
          </p:nvPr>
        </p:nvSpPr>
        <p:spPr>
          <a:xfrm>
            <a:off x="2674541" y="15897328"/>
            <a:ext cx="16047244" cy="7307583"/>
          </a:xfrm>
        </p:spPr>
        <p:txBody>
          <a:bodyPr/>
          <a:lstStyle>
            <a:lvl1pPr marL="0" indent="0" algn="ctr">
              <a:buNone/>
              <a:defRPr sz="5616"/>
            </a:lvl1pPr>
            <a:lvl2pPr marL="1069802" indent="0" algn="ctr">
              <a:buNone/>
              <a:defRPr sz="4680"/>
            </a:lvl2pPr>
            <a:lvl3pPr marL="2139605" indent="0" algn="ctr">
              <a:buNone/>
              <a:defRPr sz="4212"/>
            </a:lvl3pPr>
            <a:lvl4pPr marL="3209407" indent="0" algn="ctr">
              <a:buNone/>
              <a:defRPr sz="3744"/>
            </a:lvl4pPr>
            <a:lvl5pPr marL="4279209" indent="0" algn="ctr">
              <a:buNone/>
              <a:defRPr sz="3744"/>
            </a:lvl5pPr>
            <a:lvl6pPr marL="5349011" indent="0" algn="ctr">
              <a:buNone/>
              <a:defRPr sz="3744"/>
            </a:lvl6pPr>
            <a:lvl7pPr marL="6418814" indent="0" algn="ctr">
              <a:buNone/>
              <a:defRPr sz="3744"/>
            </a:lvl7pPr>
            <a:lvl8pPr marL="7488616" indent="0" algn="ctr">
              <a:buNone/>
              <a:defRPr sz="3744"/>
            </a:lvl8pPr>
            <a:lvl9pPr marL="8558418" indent="0" algn="ctr">
              <a:buNone/>
              <a:defRPr sz="3744"/>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345A146-BF32-4034-9681-BD1276279A6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2528628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45A146-BF32-4034-9681-BD1276279A6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1949332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459855" y="7545809"/>
            <a:ext cx="18454330" cy="12590343"/>
          </a:xfrm>
        </p:spPr>
        <p:txBody>
          <a:bodyPr anchor="b"/>
          <a:lstStyle>
            <a:lvl1pPr>
              <a:defRPr sz="14039"/>
            </a:lvl1pPr>
          </a:lstStyle>
          <a:p>
            <a:r>
              <a:rPr lang="zh-TW" altLang="en-US"/>
              <a:t>按一下以編輯母片標題樣式</a:t>
            </a:r>
            <a:endParaRPr lang="en-US" dirty="0"/>
          </a:p>
        </p:txBody>
      </p:sp>
      <p:sp>
        <p:nvSpPr>
          <p:cNvPr id="3" name="Text Placeholder 2"/>
          <p:cNvSpPr>
            <a:spLocks noGrp="1"/>
          </p:cNvSpPr>
          <p:nvPr>
            <p:ph type="body" idx="1"/>
          </p:nvPr>
        </p:nvSpPr>
        <p:spPr>
          <a:xfrm>
            <a:off x="1459855" y="20255262"/>
            <a:ext cx="18454330" cy="6620964"/>
          </a:xfrm>
        </p:spPr>
        <p:txBody>
          <a:bodyPr/>
          <a:lstStyle>
            <a:lvl1pPr marL="0" indent="0">
              <a:buNone/>
              <a:defRPr sz="5616">
                <a:solidFill>
                  <a:schemeClr val="tx1"/>
                </a:solidFill>
              </a:defRPr>
            </a:lvl1pPr>
            <a:lvl2pPr marL="1069802" indent="0">
              <a:buNone/>
              <a:defRPr sz="4680">
                <a:solidFill>
                  <a:schemeClr val="tx1">
                    <a:tint val="75000"/>
                  </a:schemeClr>
                </a:solidFill>
              </a:defRPr>
            </a:lvl2pPr>
            <a:lvl3pPr marL="2139605" indent="0">
              <a:buNone/>
              <a:defRPr sz="4212">
                <a:solidFill>
                  <a:schemeClr val="tx1">
                    <a:tint val="75000"/>
                  </a:schemeClr>
                </a:solidFill>
              </a:defRPr>
            </a:lvl3pPr>
            <a:lvl4pPr marL="3209407" indent="0">
              <a:buNone/>
              <a:defRPr sz="3744">
                <a:solidFill>
                  <a:schemeClr val="tx1">
                    <a:tint val="75000"/>
                  </a:schemeClr>
                </a:solidFill>
              </a:defRPr>
            </a:lvl4pPr>
            <a:lvl5pPr marL="4279209" indent="0">
              <a:buNone/>
              <a:defRPr sz="3744">
                <a:solidFill>
                  <a:schemeClr val="tx1">
                    <a:tint val="75000"/>
                  </a:schemeClr>
                </a:solidFill>
              </a:defRPr>
            </a:lvl5pPr>
            <a:lvl6pPr marL="5349011" indent="0">
              <a:buNone/>
              <a:defRPr sz="3744">
                <a:solidFill>
                  <a:schemeClr val="tx1">
                    <a:tint val="75000"/>
                  </a:schemeClr>
                </a:solidFill>
              </a:defRPr>
            </a:lvl6pPr>
            <a:lvl7pPr marL="6418814" indent="0">
              <a:buNone/>
              <a:defRPr sz="3744">
                <a:solidFill>
                  <a:schemeClr val="tx1">
                    <a:tint val="75000"/>
                  </a:schemeClr>
                </a:solidFill>
              </a:defRPr>
            </a:lvl7pPr>
            <a:lvl8pPr marL="7488616" indent="0">
              <a:buNone/>
              <a:defRPr sz="3744">
                <a:solidFill>
                  <a:schemeClr val="tx1">
                    <a:tint val="75000"/>
                  </a:schemeClr>
                </a:solidFill>
              </a:defRPr>
            </a:lvl8pPr>
            <a:lvl9pPr marL="8558418" indent="0">
              <a:buNone/>
              <a:defRPr sz="3744">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F345A146-BF32-4034-9681-BD1276279A6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60938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470997" y="8057261"/>
            <a:ext cx="9093438" cy="1920430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10831890" y="8057261"/>
            <a:ext cx="9093438" cy="1920430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345A146-BF32-4034-9681-BD1276279A6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2731871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73784" y="1611459"/>
            <a:ext cx="18454330" cy="5850274"/>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473787" y="7419688"/>
            <a:ext cx="9051647" cy="3636275"/>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zh-TW" altLang="en-US"/>
              <a:t>按一下以編輯母片文字樣式</a:t>
            </a:r>
          </a:p>
        </p:txBody>
      </p:sp>
      <p:sp>
        <p:nvSpPr>
          <p:cNvPr id="4" name="Content Placeholder 3"/>
          <p:cNvSpPr>
            <a:spLocks noGrp="1"/>
          </p:cNvSpPr>
          <p:nvPr>
            <p:ph sz="half" idx="2"/>
          </p:nvPr>
        </p:nvSpPr>
        <p:spPr>
          <a:xfrm>
            <a:off x="1473787" y="11055963"/>
            <a:ext cx="9051647" cy="1626165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10831891" y="7419688"/>
            <a:ext cx="9096225" cy="3636275"/>
          </a:xfrm>
        </p:spPr>
        <p:txBody>
          <a:bodyPr anchor="b"/>
          <a:lstStyle>
            <a:lvl1pPr marL="0" indent="0">
              <a:buNone/>
              <a:defRPr sz="5616" b="1"/>
            </a:lvl1pPr>
            <a:lvl2pPr marL="1069802" indent="0">
              <a:buNone/>
              <a:defRPr sz="4680" b="1"/>
            </a:lvl2pPr>
            <a:lvl3pPr marL="2139605" indent="0">
              <a:buNone/>
              <a:defRPr sz="4212" b="1"/>
            </a:lvl3pPr>
            <a:lvl4pPr marL="3209407" indent="0">
              <a:buNone/>
              <a:defRPr sz="3744" b="1"/>
            </a:lvl4pPr>
            <a:lvl5pPr marL="4279209" indent="0">
              <a:buNone/>
              <a:defRPr sz="3744" b="1"/>
            </a:lvl5pPr>
            <a:lvl6pPr marL="5349011" indent="0">
              <a:buNone/>
              <a:defRPr sz="3744" b="1"/>
            </a:lvl6pPr>
            <a:lvl7pPr marL="6418814" indent="0">
              <a:buNone/>
              <a:defRPr sz="3744" b="1"/>
            </a:lvl7pPr>
            <a:lvl8pPr marL="7488616" indent="0">
              <a:buNone/>
              <a:defRPr sz="3744" b="1"/>
            </a:lvl8pPr>
            <a:lvl9pPr marL="8558418" indent="0">
              <a:buNone/>
              <a:defRPr sz="3744" b="1"/>
            </a:lvl9pPr>
          </a:lstStyle>
          <a:p>
            <a:pPr lvl="0"/>
            <a:r>
              <a:rPr lang="zh-TW" altLang="en-US"/>
              <a:t>按一下以編輯母片文字樣式</a:t>
            </a:r>
          </a:p>
        </p:txBody>
      </p:sp>
      <p:sp>
        <p:nvSpPr>
          <p:cNvPr id="6" name="Content Placeholder 5"/>
          <p:cNvSpPr>
            <a:spLocks noGrp="1"/>
          </p:cNvSpPr>
          <p:nvPr>
            <p:ph sz="quarter" idx="4"/>
          </p:nvPr>
        </p:nvSpPr>
        <p:spPr>
          <a:xfrm>
            <a:off x="10831891" y="11055963"/>
            <a:ext cx="9096225" cy="1626165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345A146-BF32-4034-9681-BD1276279A61}"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3086257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345A146-BF32-4034-9681-BD1276279A61}"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1284092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5A146-BF32-4034-9681-BD1276279A61}"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849445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zh-TW" altLang="en-US"/>
              <a:t>按一下以編輯母片標題樣式</a:t>
            </a:r>
            <a:endParaRPr lang="en-US" dirty="0"/>
          </a:p>
        </p:txBody>
      </p:sp>
      <p:sp>
        <p:nvSpPr>
          <p:cNvPr id="3" name="Content Placeholder 2"/>
          <p:cNvSpPr>
            <a:spLocks noGrp="1"/>
          </p:cNvSpPr>
          <p:nvPr>
            <p:ph idx="1"/>
          </p:nvPr>
        </p:nvSpPr>
        <p:spPr>
          <a:xfrm>
            <a:off x="9096225" y="4357934"/>
            <a:ext cx="10831890" cy="21509383"/>
          </a:xfrm>
        </p:spPr>
        <p:txBody>
          <a:bodyPr/>
          <a:lstStyle>
            <a:lvl1pPr>
              <a:defRPr sz="7488"/>
            </a:lvl1pPr>
            <a:lvl2pPr>
              <a:defRPr sz="6552"/>
            </a:lvl2pPr>
            <a:lvl3pPr>
              <a:defRPr sz="5616"/>
            </a:lvl3pPr>
            <a:lvl4pPr>
              <a:defRPr sz="4680"/>
            </a:lvl4pPr>
            <a:lvl5pPr>
              <a:defRPr sz="4680"/>
            </a:lvl5pPr>
            <a:lvl6pPr>
              <a:defRPr sz="4680"/>
            </a:lvl6pPr>
            <a:lvl7pPr>
              <a:defRPr sz="4680"/>
            </a:lvl7pPr>
            <a:lvl8pPr>
              <a:defRPr sz="4680"/>
            </a:lvl8pPr>
            <a:lvl9pPr>
              <a:defRPr sz="468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473784" y="9080183"/>
            <a:ext cx="6900872" cy="16822161"/>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345A146-BF32-4034-9681-BD1276279A6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980584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473784" y="2017818"/>
            <a:ext cx="6900872" cy="7062364"/>
          </a:xfrm>
        </p:spPr>
        <p:txBody>
          <a:bodyPr anchor="b"/>
          <a:lstStyle>
            <a:lvl1pPr>
              <a:defRPr sz="7488"/>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9096225" y="4357934"/>
            <a:ext cx="10831890" cy="21509383"/>
          </a:xfrm>
        </p:spPr>
        <p:txBody>
          <a:bodyPr anchor="t"/>
          <a:lstStyle>
            <a:lvl1pPr marL="0" indent="0">
              <a:buNone/>
              <a:defRPr sz="7488"/>
            </a:lvl1pPr>
            <a:lvl2pPr marL="1069802" indent="0">
              <a:buNone/>
              <a:defRPr sz="6552"/>
            </a:lvl2pPr>
            <a:lvl3pPr marL="2139605" indent="0">
              <a:buNone/>
              <a:defRPr sz="5616"/>
            </a:lvl3pPr>
            <a:lvl4pPr marL="3209407" indent="0">
              <a:buNone/>
              <a:defRPr sz="4680"/>
            </a:lvl4pPr>
            <a:lvl5pPr marL="4279209" indent="0">
              <a:buNone/>
              <a:defRPr sz="4680"/>
            </a:lvl5pPr>
            <a:lvl6pPr marL="5349011" indent="0">
              <a:buNone/>
              <a:defRPr sz="4680"/>
            </a:lvl6pPr>
            <a:lvl7pPr marL="6418814" indent="0">
              <a:buNone/>
              <a:defRPr sz="4680"/>
            </a:lvl7pPr>
            <a:lvl8pPr marL="7488616" indent="0">
              <a:buNone/>
              <a:defRPr sz="4680"/>
            </a:lvl8pPr>
            <a:lvl9pPr marL="8558418" indent="0">
              <a:buNone/>
              <a:defRPr sz="4680"/>
            </a:lvl9pPr>
          </a:lstStyle>
          <a:p>
            <a:r>
              <a:rPr lang="zh-TW" altLang="en-US"/>
              <a:t>按一下圖示以新增圖片</a:t>
            </a:r>
            <a:endParaRPr lang="en-US" dirty="0"/>
          </a:p>
        </p:txBody>
      </p:sp>
      <p:sp>
        <p:nvSpPr>
          <p:cNvPr id="4" name="Text Placeholder 3"/>
          <p:cNvSpPr>
            <a:spLocks noGrp="1"/>
          </p:cNvSpPr>
          <p:nvPr>
            <p:ph type="body" sz="half" idx="2"/>
          </p:nvPr>
        </p:nvSpPr>
        <p:spPr>
          <a:xfrm>
            <a:off x="1473784" y="9080183"/>
            <a:ext cx="6900872" cy="16822161"/>
          </a:xfrm>
        </p:spPr>
        <p:txBody>
          <a:bodyPr/>
          <a:lstStyle>
            <a:lvl1pPr marL="0" indent="0">
              <a:buNone/>
              <a:defRPr sz="3744"/>
            </a:lvl1pPr>
            <a:lvl2pPr marL="1069802" indent="0">
              <a:buNone/>
              <a:defRPr sz="3276"/>
            </a:lvl2pPr>
            <a:lvl3pPr marL="2139605" indent="0">
              <a:buNone/>
              <a:defRPr sz="2808"/>
            </a:lvl3pPr>
            <a:lvl4pPr marL="3209407" indent="0">
              <a:buNone/>
              <a:defRPr sz="2340"/>
            </a:lvl4pPr>
            <a:lvl5pPr marL="4279209" indent="0">
              <a:buNone/>
              <a:defRPr sz="2340"/>
            </a:lvl5pPr>
            <a:lvl6pPr marL="5349011" indent="0">
              <a:buNone/>
              <a:defRPr sz="2340"/>
            </a:lvl6pPr>
            <a:lvl7pPr marL="6418814" indent="0">
              <a:buNone/>
              <a:defRPr sz="2340"/>
            </a:lvl7pPr>
            <a:lvl8pPr marL="7488616" indent="0">
              <a:buNone/>
              <a:defRPr sz="2340"/>
            </a:lvl8pPr>
            <a:lvl9pPr marL="8558418" indent="0">
              <a:buNone/>
              <a:defRPr sz="234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F345A146-BF32-4034-9681-BD1276279A6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1756142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45A146-BF32-4034-9681-BD1276279A6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143478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11746" y="1611452"/>
            <a:ext cx="4613583" cy="2565011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470998" y="1611452"/>
            <a:ext cx="13573294" cy="2565011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345A146-BF32-4034-9681-BD1276279A6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A764D9-3068-4064-83F6-A29835F9605D}" type="slidenum">
              <a:rPr lang="en-US" smtClean="0"/>
              <a:t>‹#›</a:t>
            </a:fld>
            <a:endParaRPr lang="en-US"/>
          </a:p>
        </p:txBody>
      </p:sp>
    </p:spTree>
    <p:extLst>
      <p:ext uri="{BB962C8B-B14F-4D97-AF65-F5344CB8AC3E}">
        <p14:creationId xmlns:p14="http://schemas.microsoft.com/office/powerpoint/2010/main" val="2890226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998" y="1611459"/>
            <a:ext cx="18454330" cy="5850274"/>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470997" y="28053287"/>
            <a:ext cx="4814173" cy="1611452"/>
          </a:xfrm>
          <a:prstGeom prst="rect">
            <a:avLst/>
          </a:prstGeom>
        </p:spPr>
        <p:txBody>
          <a:bodyPr vert="horz" lIns="91440" tIns="45720" rIns="91440" bIns="45720" rtlCol="0" anchor="ctr"/>
          <a:lstStyle>
            <a:lvl1pPr algn="l">
              <a:defRPr sz="2808">
                <a:solidFill>
                  <a:schemeClr val="tx1">
                    <a:tint val="75000"/>
                  </a:schemeClr>
                </a:solidFill>
              </a:defRPr>
            </a:lvl1pPr>
          </a:lstStyle>
          <a:p>
            <a:fld id="{F345A146-BF32-4034-9681-BD1276279A61}" type="datetimeFigureOut">
              <a:rPr lang="en-US" smtClean="0"/>
              <a:t>12/8/2025</a:t>
            </a:fld>
            <a:endParaRPr lang="en-US"/>
          </a:p>
        </p:txBody>
      </p:sp>
      <p:sp>
        <p:nvSpPr>
          <p:cNvPr id="5" name="Footer Placeholder 4"/>
          <p:cNvSpPr>
            <a:spLocks noGrp="1"/>
          </p:cNvSpPr>
          <p:nvPr>
            <p:ph type="ftr" sz="quarter" idx="3"/>
          </p:nvPr>
        </p:nvSpPr>
        <p:spPr>
          <a:xfrm>
            <a:off x="7087533" y="28053287"/>
            <a:ext cx="7221260" cy="1611452"/>
          </a:xfrm>
          <a:prstGeom prst="rect">
            <a:avLst/>
          </a:prstGeom>
        </p:spPr>
        <p:txBody>
          <a:bodyPr vert="horz" lIns="91440" tIns="45720" rIns="91440" bIns="45720" rtlCol="0" anchor="ctr"/>
          <a:lstStyle>
            <a:lvl1pPr algn="ctr">
              <a:defRPr sz="280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111155" y="28053287"/>
            <a:ext cx="4814173" cy="1611452"/>
          </a:xfrm>
          <a:prstGeom prst="rect">
            <a:avLst/>
          </a:prstGeom>
        </p:spPr>
        <p:txBody>
          <a:bodyPr vert="horz" lIns="91440" tIns="45720" rIns="91440" bIns="45720" rtlCol="0" anchor="ctr"/>
          <a:lstStyle>
            <a:lvl1pPr algn="r">
              <a:defRPr sz="2808">
                <a:solidFill>
                  <a:schemeClr val="tx1">
                    <a:tint val="75000"/>
                  </a:schemeClr>
                </a:solidFill>
              </a:defRPr>
            </a:lvl1pPr>
          </a:lstStyle>
          <a:p>
            <a:fld id="{B0A764D9-3068-4064-83F6-A29835F9605D}" type="slidenum">
              <a:rPr lang="en-US" smtClean="0"/>
              <a:t>‹#›</a:t>
            </a:fld>
            <a:endParaRPr lang="en-US"/>
          </a:p>
        </p:txBody>
      </p:sp>
    </p:spTree>
    <p:extLst>
      <p:ext uri="{BB962C8B-B14F-4D97-AF65-F5344CB8AC3E}">
        <p14:creationId xmlns:p14="http://schemas.microsoft.com/office/powerpoint/2010/main" val="1007735150"/>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Lst>
  <p:txStyles>
    <p:titleStyle>
      <a:lvl1pPr algn="l" defTabSz="2139605" rtl="0" eaLnBrk="1" latinLnBrk="0" hangingPunct="1">
        <a:lnSpc>
          <a:spcPct val="90000"/>
        </a:lnSpc>
        <a:spcBef>
          <a:spcPct val="0"/>
        </a:spcBef>
        <a:buNone/>
        <a:defRPr sz="10296" kern="1200">
          <a:solidFill>
            <a:schemeClr val="tx1"/>
          </a:solidFill>
          <a:latin typeface="+mj-lt"/>
          <a:ea typeface="+mj-ea"/>
          <a:cs typeface="+mj-cs"/>
        </a:defRPr>
      </a:lvl1pPr>
    </p:titleStyle>
    <p:bodyStyle>
      <a:lvl1pPr marL="534901" indent="-534901" algn="l" defTabSz="2139605" rtl="0" eaLnBrk="1" latinLnBrk="0" hangingPunct="1">
        <a:lnSpc>
          <a:spcPct val="90000"/>
        </a:lnSpc>
        <a:spcBef>
          <a:spcPts val="2340"/>
        </a:spcBef>
        <a:buFont typeface="Arial" panose="020B0604020202020204" pitchFamily="34" charset="0"/>
        <a:buChar char="•"/>
        <a:defRPr sz="6552" kern="1200">
          <a:solidFill>
            <a:schemeClr val="tx1"/>
          </a:solidFill>
          <a:latin typeface="+mn-lt"/>
          <a:ea typeface="+mn-ea"/>
          <a:cs typeface="+mn-cs"/>
        </a:defRPr>
      </a:lvl1pPr>
      <a:lvl2pPr marL="1604703" indent="-534901" algn="l" defTabSz="2139605" rtl="0" eaLnBrk="1" latinLnBrk="0" hangingPunct="1">
        <a:lnSpc>
          <a:spcPct val="90000"/>
        </a:lnSpc>
        <a:spcBef>
          <a:spcPts val="1170"/>
        </a:spcBef>
        <a:buFont typeface="Arial" panose="020B0604020202020204" pitchFamily="34" charset="0"/>
        <a:buChar char="•"/>
        <a:defRPr sz="5616" kern="1200">
          <a:solidFill>
            <a:schemeClr val="tx1"/>
          </a:solidFill>
          <a:latin typeface="+mn-lt"/>
          <a:ea typeface="+mn-ea"/>
          <a:cs typeface="+mn-cs"/>
        </a:defRPr>
      </a:lvl2pPr>
      <a:lvl3pPr marL="2674506" indent="-534901" algn="l" defTabSz="2139605" rtl="0" eaLnBrk="1" latinLnBrk="0" hangingPunct="1">
        <a:lnSpc>
          <a:spcPct val="90000"/>
        </a:lnSpc>
        <a:spcBef>
          <a:spcPts val="1170"/>
        </a:spcBef>
        <a:buFont typeface="Arial" panose="020B0604020202020204" pitchFamily="34" charset="0"/>
        <a:buChar char="•"/>
        <a:defRPr sz="4680" kern="1200">
          <a:solidFill>
            <a:schemeClr val="tx1"/>
          </a:solidFill>
          <a:latin typeface="+mn-lt"/>
          <a:ea typeface="+mn-ea"/>
          <a:cs typeface="+mn-cs"/>
        </a:defRPr>
      </a:lvl3pPr>
      <a:lvl4pPr marL="3744308"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4pPr>
      <a:lvl5pPr marL="4814110"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5pPr>
      <a:lvl6pPr marL="5883913"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6pPr>
      <a:lvl7pPr marL="6953715"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7pPr>
      <a:lvl8pPr marL="8023517"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8pPr>
      <a:lvl9pPr marL="9093319" indent="-534901" algn="l" defTabSz="2139605" rtl="0" eaLnBrk="1" latinLnBrk="0" hangingPunct="1">
        <a:lnSpc>
          <a:spcPct val="90000"/>
        </a:lnSpc>
        <a:spcBef>
          <a:spcPts val="1170"/>
        </a:spcBef>
        <a:buFont typeface="Arial" panose="020B0604020202020204" pitchFamily="34" charset="0"/>
        <a:buChar char="•"/>
        <a:defRPr sz="4212" kern="1200">
          <a:solidFill>
            <a:schemeClr val="tx1"/>
          </a:solidFill>
          <a:latin typeface="+mn-lt"/>
          <a:ea typeface="+mn-ea"/>
          <a:cs typeface="+mn-cs"/>
        </a:defRPr>
      </a:lvl9pPr>
    </p:bodyStyle>
    <p:otherStyle>
      <a:defPPr>
        <a:defRPr lang="en-US"/>
      </a:defPPr>
      <a:lvl1pPr marL="0" algn="l" defTabSz="2139605" rtl="0" eaLnBrk="1" latinLnBrk="0" hangingPunct="1">
        <a:defRPr sz="4212" kern="1200">
          <a:solidFill>
            <a:schemeClr val="tx1"/>
          </a:solidFill>
          <a:latin typeface="+mn-lt"/>
          <a:ea typeface="+mn-ea"/>
          <a:cs typeface="+mn-cs"/>
        </a:defRPr>
      </a:lvl1pPr>
      <a:lvl2pPr marL="1069802" algn="l" defTabSz="2139605" rtl="0" eaLnBrk="1" latinLnBrk="0" hangingPunct="1">
        <a:defRPr sz="4212" kern="1200">
          <a:solidFill>
            <a:schemeClr val="tx1"/>
          </a:solidFill>
          <a:latin typeface="+mn-lt"/>
          <a:ea typeface="+mn-ea"/>
          <a:cs typeface="+mn-cs"/>
        </a:defRPr>
      </a:lvl2pPr>
      <a:lvl3pPr marL="2139605" algn="l" defTabSz="2139605" rtl="0" eaLnBrk="1" latinLnBrk="0" hangingPunct="1">
        <a:defRPr sz="4212" kern="1200">
          <a:solidFill>
            <a:schemeClr val="tx1"/>
          </a:solidFill>
          <a:latin typeface="+mn-lt"/>
          <a:ea typeface="+mn-ea"/>
          <a:cs typeface="+mn-cs"/>
        </a:defRPr>
      </a:lvl3pPr>
      <a:lvl4pPr marL="3209407" algn="l" defTabSz="2139605" rtl="0" eaLnBrk="1" latinLnBrk="0" hangingPunct="1">
        <a:defRPr sz="4212" kern="1200">
          <a:solidFill>
            <a:schemeClr val="tx1"/>
          </a:solidFill>
          <a:latin typeface="+mn-lt"/>
          <a:ea typeface="+mn-ea"/>
          <a:cs typeface="+mn-cs"/>
        </a:defRPr>
      </a:lvl4pPr>
      <a:lvl5pPr marL="4279209" algn="l" defTabSz="2139605" rtl="0" eaLnBrk="1" latinLnBrk="0" hangingPunct="1">
        <a:defRPr sz="4212" kern="1200">
          <a:solidFill>
            <a:schemeClr val="tx1"/>
          </a:solidFill>
          <a:latin typeface="+mn-lt"/>
          <a:ea typeface="+mn-ea"/>
          <a:cs typeface="+mn-cs"/>
        </a:defRPr>
      </a:lvl5pPr>
      <a:lvl6pPr marL="5349011" algn="l" defTabSz="2139605" rtl="0" eaLnBrk="1" latinLnBrk="0" hangingPunct="1">
        <a:defRPr sz="4212" kern="1200">
          <a:solidFill>
            <a:schemeClr val="tx1"/>
          </a:solidFill>
          <a:latin typeface="+mn-lt"/>
          <a:ea typeface="+mn-ea"/>
          <a:cs typeface="+mn-cs"/>
        </a:defRPr>
      </a:lvl6pPr>
      <a:lvl7pPr marL="6418814" algn="l" defTabSz="2139605" rtl="0" eaLnBrk="1" latinLnBrk="0" hangingPunct="1">
        <a:defRPr sz="4212" kern="1200">
          <a:solidFill>
            <a:schemeClr val="tx1"/>
          </a:solidFill>
          <a:latin typeface="+mn-lt"/>
          <a:ea typeface="+mn-ea"/>
          <a:cs typeface="+mn-cs"/>
        </a:defRPr>
      </a:lvl7pPr>
      <a:lvl8pPr marL="7488616" algn="l" defTabSz="2139605" rtl="0" eaLnBrk="1" latinLnBrk="0" hangingPunct="1">
        <a:defRPr sz="4212" kern="1200">
          <a:solidFill>
            <a:schemeClr val="tx1"/>
          </a:solidFill>
          <a:latin typeface="+mn-lt"/>
          <a:ea typeface="+mn-ea"/>
          <a:cs typeface="+mn-cs"/>
        </a:defRPr>
      </a:lvl8pPr>
      <a:lvl9pPr marL="8558418" algn="l" defTabSz="2139605" rtl="0" eaLnBrk="1" latinLnBrk="0" hangingPunct="1">
        <a:defRPr sz="421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pSp>
        <p:nvGrpSpPr>
          <p:cNvPr id="14214" name="群組 14213">
            <a:extLst>
              <a:ext uri="{FF2B5EF4-FFF2-40B4-BE49-F238E27FC236}">
                <a16:creationId xmlns:a16="http://schemas.microsoft.com/office/drawing/2014/main" id="{F7F001A0-A0BC-42AD-AA91-A0006D133630}"/>
              </a:ext>
            </a:extLst>
          </p:cNvPr>
          <p:cNvGrpSpPr/>
          <p:nvPr/>
        </p:nvGrpSpPr>
        <p:grpSpPr>
          <a:xfrm>
            <a:off x="1084029" y="16942176"/>
            <a:ext cx="9527730" cy="13070014"/>
            <a:chOff x="916478" y="2712708"/>
            <a:chExt cx="9527730" cy="13070014"/>
          </a:xfrm>
        </p:grpSpPr>
        <p:sp>
          <p:nvSpPr>
            <p:cNvPr id="14215" name="矩形: 圓角 14214">
              <a:extLst>
                <a:ext uri="{FF2B5EF4-FFF2-40B4-BE49-F238E27FC236}">
                  <a16:creationId xmlns:a16="http://schemas.microsoft.com/office/drawing/2014/main" id="{23B9B37E-393D-443E-806B-A0D5D1BEAE58}"/>
                </a:ext>
              </a:extLst>
            </p:cNvPr>
            <p:cNvSpPr/>
            <p:nvPr/>
          </p:nvSpPr>
          <p:spPr>
            <a:xfrm flipH="1">
              <a:off x="916478" y="2712708"/>
              <a:ext cx="9527730" cy="13070014"/>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14216" name="直線接點 14215">
              <a:extLst>
                <a:ext uri="{FF2B5EF4-FFF2-40B4-BE49-F238E27FC236}">
                  <a16:creationId xmlns:a16="http://schemas.microsoft.com/office/drawing/2014/main" id="{0B5EAABC-1669-4B23-BDAF-AF0223DC606D}"/>
                </a:ext>
              </a:extLst>
            </p:cNvPr>
            <p:cNvCxnSpPr>
              <a:cxnSpLocks/>
            </p:cNvCxnSpPr>
            <p:nvPr/>
          </p:nvCxnSpPr>
          <p:spPr>
            <a:xfrm>
              <a:off x="916478" y="3690640"/>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217" name="文字方塊 14216">
              <a:extLst>
                <a:ext uri="{FF2B5EF4-FFF2-40B4-BE49-F238E27FC236}">
                  <a16:creationId xmlns:a16="http://schemas.microsoft.com/office/drawing/2014/main" id="{3113B3EC-D068-4D3F-8262-9F20201769BC}"/>
                </a:ext>
              </a:extLst>
            </p:cNvPr>
            <p:cNvSpPr txBox="1"/>
            <p:nvPr/>
          </p:nvSpPr>
          <p:spPr>
            <a:xfrm>
              <a:off x="1108342" y="2809423"/>
              <a:ext cx="9144000" cy="830997"/>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模型架構</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grpSp>
      <p:sp>
        <p:nvSpPr>
          <p:cNvPr id="61" name="矩形: 圓角 60">
            <a:extLst>
              <a:ext uri="{FF2B5EF4-FFF2-40B4-BE49-F238E27FC236}">
                <a16:creationId xmlns:a16="http://schemas.microsoft.com/office/drawing/2014/main" id="{D3BA1F20-1F74-4592-B664-03B162443F1B}"/>
              </a:ext>
            </a:extLst>
          </p:cNvPr>
          <p:cNvSpPr/>
          <p:nvPr/>
        </p:nvSpPr>
        <p:spPr>
          <a:xfrm flipH="1">
            <a:off x="1068876" y="315496"/>
            <a:ext cx="19366901" cy="2094597"/>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en-US" sz="5400" b="1" dirty="0">
                <a:ln w="22225">
                  <a:noFill/>
                  <a:prstDash val="solid"/>
                </a:ln>
                <a:solidFill>
                  <a:schemeClr val="tx1">
                    <a:lumMod val="95000"/>
                    <a:lumOff val="5000"/>
                  </a:schemeClr>
                </a:solidFill>
                <a:latin typeface="微軟正黑體" panose="020B0604030504040204" pitchFamily="34" charset="-120"/>
                <a:ea typeface="微軟正黑體" panose="020B0604030504040204" pitchFamily="34" charset="-120"/>
              </a:rPr>
              <a:t>光跡追蹤影像之超解析重建方法</a:t>
            </a:r>
            <a:endParaRPr lang="en-US" altLang="zh-TW" sz="5400" b="1" dirty="0">
              <a:ln w="22225">
                <a:noFill/>
                <a:prstDash val="solid"/>
              </a:ln>
              <a:solidFill>
                <a:schemeClr val="tx1">
                  <a:lumMod val="95000"/>
                  <a:lumOff val="5000"/>
                </a:schemeClr>
              </a:solidFill>
              <a:latin typeface="微軟正黑體" panose="020B0604030504040204" pitchFamily="34" charset="-120"/>
              <a:ea typeface="微軟正黑體" panose="020B0604030504040204" pitchFamily="34" charset="-120"/>
            </a:endParaRPr>
          </a:p>
          <a:p>
            <a:pPr algn="ctr"/>
            <a:r>
              <a:rPr lang="zh-TW" altLang="en-US" sz="3600" b="1" dirty="0">
                <a:ln w="22225">
                  <a:noFill/>
                  <a:prstDash val="solid"/>
                </a:ln>
                <a:solidFill>
                  <a:schemeClr val="tx1">
                    <a:lumMod val="95000"/>
                    <a:lumOff val="5000"/>
                  </a:schemeClr>
                </a:solidFill>
                <a:latin typeface="微軟正黑體" panose="020B0604030504040204" pitchFamily="34" charset="-120"/>
                <a:ea typeface="微軟正黑體" panose="020B0604030504040204" pitchFamily="34" charset="-120"/>
              </a:rPr>
              <a:t>指導教授：翁世光 </a:t>
            </a:r>
            <a:endParaRPr lang="en-US" altLang="zh-TW" sz="3600" b="1" dirty="0">
              <a:ln w="22225">
                <a:noFill/>
                <a:prstDash val="solid"/>
              </a:ln>
              <a:solidFill>
                <a:schemeClr val="tx1">
                  <a:lumMod val="95000"/>
                  <a:lumOff val="5000"/>
                </a:schemeClr>
              </a:solidFill>
              <a:latin typeface="微軟正黑體" panose="020B0604030504040204" pitchFamily="34" charset="-120"/>
              <a:ea typeface="微軟正黑體" panose="020B0604030504040204" pitchFamily="34" charset="-120"/>
            </a:endParaRPr>
          </a:p>
          <a:p>
            <a:pPr algn="ctr"/>
            <a:r>
              <a:rPr lang="zh-TW" altLang="en-US" sz="3600" b="1" dirty="0">
                <a:ln w="22225">
                  <a:noFill/>
                  <a:prstDash val="solid"/>
                </a:ln>
                <a:solidFill>
                  <a:schemeClr val="tx1">
                    <a:lumMod val="95000"/>
                    <a:lumOff val="5000"/>
                  </a:schemeClr>
                </a:solidFill>
                <a:latin typeface="微軟正黑體" panose="020B0604030504040204" pitchFamily="34" charset="-120"/>
                <a:ea typeface="微軟正黑體" panose="020B0604030504040204" pitchFamily="34" charset="-120"/>
              </a:rPr>
              <a:t>組別成員：洪宗邑、蕭英祐</a:t>
            </a:r>
          </a:p>
        </p:txBody>
      </p:sp>
      <p:grpSp>
        <p:nvGrpSpPr>
          <p:cNvPr id="35118" name="群組 35117">
            <a:extLst>
              <a:ext uri="{FF2B5EF4-FFF2-40B4-BE49-F238E27FC236}">
                <a16:creationId xmlns:a16="http://schemas.microsoft.com/office/drawing/2014/main" id="{FC474C9B-6A07-4E3D-83EC-6FBC90742318}"/>
              </a:ext>
            </a:extLst>
          </p:cNvPr>
          <p:cNvGrpSpPr/>
          <p:nvPr/>
        </p:nvGrpSpPr>
        <p:grpSpPr>
          <a:xfrm>
            <a:off x="1084029" y="10934134"/>
            <a:ext cx="9527730" cy="5692401"/>
            <a:chOff x="916478" y="2712708"/>
            <a:chExt cx="9527730" cy="5692401"/>
          </a:xfrm>
        </p:grpSpPr>
        <p:sp>
          <p:nvSpPr>
            <p:cNvPr id="35119" name="矩形: 圓角 35118">
              <a:extLst>
                <a:ext uri="{FF2B5EF4-FFF2-40B4-BE49-F238E27FC236}">
                  <a16:creationId xmlns:a16="http://schemas.microsoft.com/office/drawing/2014/main" id="{EF52DE07-931D-468D-AFAF-8D25524BFF12}"/>
                </a:ext>
              </a:extLst>
            </p:cNvPr>
            <p:cNvSpPr/>
            <p:nvPr/>
          </p:nvSpPr>
          <p:spPr>
            <a:xfrm flipH="1">
              <a:off x="916478" y="2712708"/>
              <a:ext cx="9527730" cy="5692401"/>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35120" name="直線接點 35119">
              <a:extLst>
                <a:ext uri="{FF2B5EF4-FFF2-40B4-BE49-F238E27FC236}">
                  <a16:creationId xmlns:a16="http://schemas.microsoft.com/office/drawing/2014/main" id="{4E9B39EF-9178-409F-B019-871389FD01EE}"/>
                </a:ext>
              </a:extLst>
            </p:cNvPr>
            <p:cNvCxnSpPr>
              <a:cxnSpLocks/>
            </p:cNvCxnSpPr>
            <p:nvPr/>
          </p:nvCxnSpPr>
          <p:spPr>
            <a:xfrm>
              <a:off x="916478" y="3690640"/>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121" name="文字方塊 35120">
              <a:extLst>
                <a:ext uri="{FF2B5EF4-FFF2-40B4-BE49-F238E27FC236}">
                  <a16:creationId xmlns:a16="http://schemas.microsoft.com/office/drawing/2014/main" id="{2F11F11B-4D3B-4B28-A3A9-B2DAB9547E4F}"/>
                </a:ext>
              </a:extLst>
            </p:cNvPr>
            <p:cNvSpPr txBox="1"/>
            <p:nvPr/>
          </p:nvSpPr>
          <p:spPr>
            <a:xfrm>
              <a:off x="1108342" y="2809423"/>
              <a:ext cx="9144000" cy="830997"/>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文獻回顧</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35122" name="文字方塊 35121">
              <a:extLst>
                <a:ext uri="{FF2B5EF4-FFF2-40B4-BE49-F238E27FC236}">
                  <a16:creationId xmlns:a16="http://schemas.microsoft.com/office/drawing/2014/main" id="{2B0B601C-EA07-4610-B0D5-83C6C82F90F2}"/>
                </a:ext>
              </a:extLst>
            </p:cNvPr>
            <p:cNvSpPr txBox="1"/>
            <p:nvPr/>
          </p:nvSpPr>
          <p:spPr>
            <a:xfrm>
              <a:off x="1108342" y="3800732"/>
              <a:ext cx="9144000" cy="4031873"/>
            </a:xfrm>
            <a:prstGeom prst="rect">
              <a:avLst/>
            </a:prstGeom>
            <a:noFill/>
          </p:spPr>
          <p:txBody>
            <a:bodyPr wrap="square" rtlCol="0">
              <a:spAutoFit/>
            </a:bodyPr>
            <a:lstStyle/>
            <a:p>
              <a:pPr indent="720000" algn="just"/>
              <a:r>
                <a:rPr lang="en-US" altLang="zh-TW"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EDSR </a:t>
              </a:r>
              <a:r>
                <a:rPr lang="zh-TW" altLang="en-US"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是一種專為單一影像超解析度（</a:t>
              </a:r>
              <a:r>
                <a:rPr lang="en-US" altLang="zh-TW"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Single Image Super-Resolution, SISR</a:t>
              </a:r>
              <a:r>
                <a:rPr lang="zh-TW" altLang="en-US"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）設計的深度學習模型，旨在克服傳統卷積網路在處理極高放大倍率時細節丟失與計算量龐大的限制。該方法的核心改進在於移除傳統殘差網路 </a:t>
              </a:r>
              <a:r>
                <a:rPr lang="en-US" altLang="zh-TW"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3200" kern="100" dirty="0" err="1">
                  <a:effectLst/>
                  <a:latin typeface="微軟正黑體" panose="020B0604030504040204" pitchFamily="34" charset="-120"/>
                  <a:ea typeface="微軟正黑體" panose="020B0604030504040204" pitchFamily="34" charset="-120"/>
                  <a:cs typeface="Times New Roman" panose="02020603050405020304" pitchFamily="18" charset="0"/>
                </a:rPr>
                <a:t>ResNet</a:t>
              </a:r>
              <a:r>
                <a:rPr lang="en-US" altLang="zh-TW"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中的批次正規化層 </a:t>
              </a:r>
              <a:r>
                <a:rPr lang="en-US" altLang="zh-TW"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(Batch Normalization, BN)</a:t>
              </a:r>
              <a:r>
                <a:rPr lang="zh-TW" altLang="en-US" sz="3200" kern="100" dirty="0">
                  <a:effectLst/>
                  <a:latin typeface="微軟正黑體" panose="020B0604030504040204" pitchFamily="34" charset="-120"/>
                  <a:ea typeface="微軟正黑體" panose="020B0604030504040204" pitchFamily="34" charset="-120"/>
                  <a:cs typeface="Times New Roman" panose="02020603050405020304" pitchFamily="18" charset="0"/>
                </a:rPr>
                <a:t>，可減少了模型記憶體佔用，使其能訓練更深、更寬的網路架構，在重建邊緣與紋理細節上也能產生更好的訓練結果</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sp>
        <p:nvSpPr>
          <p:cNvPr id="35124" name="矩形: 圓角 35123">
            <a:extLst>
              <a:ext uri="{FF2B5EF4-FFF2-40B4-BE49-F238E27FC236}">
                <a16:creationId xmlns:a16="http://schemas.microsoft.com/office/drawing/2014/main" id="{04D70278-DC31-456B-B30A-107D3B87B664}"/>
              </a:ext>
            </a:extLst>
          </p:cNvPr>
          <p:cNvSpPr/>
          <p:nvPr/>
        </p:nvSpPr>
        <p:spPr>
          <a:xfrm flipH="1">
            <a:off x="1068872" y="2618055"/>
            <a:ext cx="9527730" cy="3697812"/>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35125" name="直線接點 35124">
            <a:extLst>
              <a:ext uri="{FF2B5EF4-FFF2-40B4-BE49-F238E27FC236}">
                <a16:creationId xmlns:a16="http://schemas.microsoft.com/office/drawing/2014/main" id="{69FCDD60-C100-49EB-B3EF-B18E35CCED9C}"/>
              </a:ext>
            </a:extLst>
          </p:cNvPr>
          <p:cNvCxnSpPr>
            <a:cxnSpLocks/>
          </p:cNvCxnSpPr>
          <p:nvPr/>
        </p:nvCxnSpPr>
        <p:spPr>
          <a:xfrm>
            <a:off x="1068872" y="3595987"/>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126" name="文字方塊 35125">
            <a:extLst>
              <a:ext uri="{FF2B5EF4-FFF2-40B4-BE49-F238E27FC236}">
                <a16:creationId xmlns:a16="http://schemas.microsoft.com/office/drawing/2014/main" id="{CF3A2D07-56D5-49AF-92D0-0FA6A86D3646}"/>
              </a:ext>
            </a:extLst>
          </p:cNvPr>
          <p:cNvSpPr txBox="1"/>
          <p:nvPr/>
        </p:nvSpPr>
        <p:spPr>
          <a:xfrm>
            <a:off x="1260736" y="2714770"/>
            <a:ext cx="9144000" cy="830997"/>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研究動機</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35127" name="文字方塊 35126">
            <a:extLst>
              <a:ext uri="{FF2B5EF4-FFF2-40B4-BE49-F238E27FC236}">
                <a16:creationId xmlns:a16="http://schemas.microsoft.com/office/drawing/2014/main" id="{1AD1022C-0A6A-4B61-AAE4-680083597167}"/>
              </a:ext>
            </a:extLst>
          </p:cNvPr>
          <p:cNvSpPr txBox="1"/>
          <p:nvPr/>
        </p:nvSpPr>
        <p:spPr>
          <a:xfrm>
            <a:off x="1260736" y="3706080"/>
            <a:ext cx="9144000" cy="2554545"/>
          </a:xfrm>
          <a:prstGeom prst="rect">
            <a:avLst/>
          </a:prstGeom>
          <a:noFill/>
        </p:spPr>
        <p:txBody>
          <a:bodyPr wrap="square" rtlCol="0">
            <a:spAutoFit/>
          </a:bodyPr>
          <a:lstStyle/>
          <a:p>
            <a:pPr algn="just" hangingPunct="0"/>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訓練特定目的 </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AI </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需要大量高品質光跡追蹤影像，但生成這些影像極度耗時。若能用較少的像素量算圖後再放大，可節省大量的光線運算時間。</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如在</a:t>
            </a:r>
            <a:r>
              <a:rPr lang="en-US" altLang="zh-TW" sz="3200" kern="100" dirty="0" err="1">
                <a:latin typeface="微軟正黑體" panose="020B0604030504040204" pitchFamily="34" charset="-120"/>
                <a:ea typeface="微軟正黑體" panose="020B0604030504040204" pitchFamily="34" charset="-120"/>
                <a:cs typeface="Times New Roman" panose="02020603050405020304" pitchFamily="18" charset="0"/>
              </a:rPr>
              <a:t>conrnell</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 box</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的複雜場景做</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512x512</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影像平均需約</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130</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秒，而</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64x64</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影像平均需約</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22</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秒</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 </a:t>
            </a:r>
          </a:p>
        </p:txBody>
      </p:sp>
      <p:grpSp>
        <p:nvGrpSpPr>
          <p:cNvPr id="35128" name="群組 35127">
            <a:extLst>
              <a:ext uri="{FF2B5EF4-FFF2-40B4-BE49-F238E27FC236}">
                <a16:creationId xmlns:a16="http://schemas.microsoft.com/office/drawing/2014/main" id="{053E1444-EBA5-4A4F-88E2-6553CC770530}"/>
              </a:ext>
            </a:extLst>
          </p:cNvPr>
          <p:cNvGrpSpPr/>
          <p:nvPr/>
        </p:nvGrpSpPr>
        <p:grpSpPr>
          <a:xfrm>
            <a:off x="10766938" y="2618055"/>
            <a:ext cx="9545358" cy="16748380"/>
            <a:chOff x="916477" y="2504437"/>
            <a:chExt cx="9545358" cy="18145089"/>
          </a:xfrm>
        </p:grpSpPr>
        <p:sp>
          <p:nvSpPr>
            <p:cNvPr id="35129" name="矩形: 圓角 35128">
              <a:extLst>
                <a:ext uri="{FF2B5EF4-FFF2-40B4-BE49-F238E27FC236}">
                  <a16:creationId xmlns:a16="http://schemas.microsoft.com/office/drawing/2014/main" id="{52ECFB55-15DD-4EBA-A025-7E2C0A3B112F}"/>
                </a:ext>
              </a:extLst>
            </p:cNvPr>
            <p:cNvSpPr/>
            <p:nvPr/>
          </p:nvSpPr>
          <p:spPr>
            <a:xfrm flipH="1">
              <a:off x="916477" y="2504437"/>
              <a:ext cx="9527730" cy="18145089"/>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35130" name="直線接點 35129">
              <a:extLst>
                <a:ext uri="{FF2B5EF4-FFF2-40B4-BE49-F238E27FC236}">
                  <a16:creationId xmlns:a16="http://schemas.microsoft.com/office/drawing/2014/main" id="{DB760A21-C178-49B2-8C0E-D6A1DDECB933}"/>
                </a:ext>
              </a:extLst>
            </p:cNvPr>
            <p:cNvCxnSpPr>
              <a:cxnSpLocks/>
            </p:cNvCxnSpPr>
            <p:nvPr/>
          </p:nvCxnSpPr>
          <p:spPr>
            <a:xfrm>
              <a:off x="934107" y="3526498"/>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131" name="文字方塊 35130">
              <a:extLst>
                <a:ext uri="{FF2B5EF4-FFF2-40B4-BE49-F238E27FC236}">
                  <a16:creationId xmlns:a16="http://schemas.microsoft.com/office/drawing/2014/main" id="{D68187B8-9EB1-47F9-8FCA-E769E8E41641}"/>
                </a:ext>
              </a:extLst>
            </p:cNvPr>
            <p:cNvSpPr txBox="1"/>
            <p:nvPr/>
          </p:nvSpPr>
          <p:spPr>
            <a:xfrm>
              <a:off x="1108342" y="2640568"/>
              <a:ext cx="9144000" cy="900297"/>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實驗結果</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35132" name="文字方塊 35131">
              <a:extLst>
                <a:ext uri="{FF2B5EF4-FFF2-40B4-BE49-F238E27FC236}">
                  <a16:creationId xmlns:a16="http://schemas.microsoft.com/office/drawing/2014/main" id="{D4F88CCF-0DF5-4F7F-BCC2-8D2157DF20FE}"/>
                </a:ext>
              </a:extLst>
            </p:cNvPr>
            <p:cNvSpPr txBox="1"/>
            <p:nvPr/>
          </p:nvSpPr>
          <p:spPr>
            <a:xfrm>
              <a:off x="1207815" y="8267204"/>
              <a:ext cx="9144000" cy="633542"/>
            </a:xfrm>
            <a:prstGeom prst="rect">
              <a:avLst/>
            </a:prstGeom>
            <a:noFill/>
          </p:spPr>
          <p:txBody>
            <a:bodyPr wrap="square" rtlCol="0">
              <a:spAutoFit/>
            </a:bodyPr>
            <a:lstStyle/>
            <a:p>
              <a:pPr marL="457200" indent="-457200" algn="just">
                <a:buFont typeface="Arial" panose="020B0604020202020204" pitchFamily="34" charset="0"/>
                <a:buChar char="•"/>
              </a:pP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傳統內插</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grpSp>
        <p:nvGrpSpPr>
          <p:cNvPr id="14212" name="群組 14211">
            <a:extLst>
              <a:ext uri="{FF2B5EF4-FFF2-40B4-BE49-F238E27FC236}">
                <a16:creationId xmlns:a16="http://schemas.microsoft.com/office/drawing/2014/main" id="{F242B000-8D2B-4247-8734-1A62B715BE12}"/>
              </a:ext>
            </a:extLst>
          </p:cNvPr>
          <p:cNvGrpSpPr/>
          <p:nvPr/>
        </p:nvGrpSpPr>
        <p:grpSpPr>
          <a:xfrm>
            <a:off x="10784567" y="26796254"/>
            <a:ext cx="6849237" cy="3215936"/>
            <a:chOff x="916478" y="2712709"/>
            <a:chExt cx="9575981" cy="5692401"/>
          </a:xfrm>
        </p:grpSpPr>
        <p:sp>
          <p:nvSpPr>
            <p:cNvPr id="14213" name="矩形: 圓角 14212">
              <a:extLst>
                <a:ext uri="{FF2B5EF4-FFF2-40B4-BE49-F238E27FC236}">
                  <a16:creationId xmlns:a16="http://schemas.microsoft.com/office/drawing/2014/main" id="{38360249-D5CD-4A0D-9FC1-1B776F646A10}"/>
                </a:ext>
              </a:extLst>
            </p:cNvPr>
            <p:cNvSpPr/>
            <p:nvPr/>
          </p:nvSpPr>
          <p:spPr>
            <a:xfrm flipH="1">
              <a:off x="916478" y="2712709"/>
              <a:ext cx="9527729" cy="5692401"/>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14219" name="直線接點 14218">
              <a:extLst>
                <a:ext uri="{FF2B5EF4-FFF2-40B4-BE49-F238E27FC236}">
                  <a16:creationId xmlns:a16="http://schemas.microsoft.com/office/drawing/2014/main" id="{E9F7AE7D-6B51-421B-BF9D-20678C5E0B36}"/>
                </a:ext>
              </a:extLst>
            </p:cNvPr>
            <p:cNvCxnSpPr>
              <a:cxnSpLocks/>
            </p:cNvCxnSpPr>
            <p:nvPr/>
          </p:nvCxnSpPr>
          <p:spPr>
            <a:xfrm>
              <a:off x="964731" y="4443706"/>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220" name="文字方塊 14219">
              <a:extLst>
                <a:ext uri="{FF2B5EF4-FFF2-40B4-BE49-F238E27FC236}">
                  <a16:creationId xmlns:a16="http://schemas.microsoft.com/office/drawing/2014/main" id="{7D6D2ACC-8E1C-4BB4-BF47-1B4E27BF7E00}"/>
                </a:ext>
              </a:extLst>
            </p:cNvPr>
            <p:cNvSpPr txBox="1"/>
            <p:nvPr/>
          </p:nvSpPr>
          <p:spPr>
            <a:xfrm>
              <a:off x="1108342" y="2959779"/>
              <a:ext cx="9143999" cy="1470915"/>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主要參考資料</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14221" name="文字方塊 14220">
              <a:extLst>
                <a:ext uri="{FF2B5EF4-FFF2-40B4-BE49-F238E27FC236}">
                  <a16:creationId xmlns:a16="http://schemas.microsoft.com/office/drawing/2014/main" id="{1F0A1DE1-C47F-4F93-8329-68B61574A1F7}"/>
                </a:ext>
              </a:extLst>
            </p:cNvPr>
            <p:cNvSpPr txBox="1"/>
            <p:nvPr/>
          </p:nvSpPr>
          <p:spPr>
            <a:xfrm>
              <a:off x="1232978" y="4484263"/>
              <a:ext cx="9144002" cy="3704526"/>
            </a:xfrm>
            <a:prstGeom prst="rect">
              <a:avLst/>
            </a:prstGeom>
            <a:noFill/>
          </p:spPr>
          <p:txBody>
            <a:bodyPr wrap="square" rtlCol="0">
              <a:spAutoFit/>
            </a:bodyPr>
            <a:lstStyle/>
            <a:p>
              <a:pPr lvl="0">
                <a:spcAft>
                  <a:spcPts val="900"/>
                </a:spcAft>
              </a:pPr>
              <a:r>
                <a:rPr lang="en-US" altLang="zh-TW" sz="2600" kern="100" dirty="0">
                  <a:latin typeface="微軟正黑體" panose="020B0604030504040204" pitchFamily="34" charset="-120"/>
                  <a:ea typeface="微軟正黑體" panose="020B0604030504040204" pitchFamily="34" charset="-120"/>
                  <a:cs typeface="Times New Roman" panose="02020603050405020304" pitchFamily="18" charset="0"/>
                </a:rPr>
                <a:t>Bee Lim, </a:t>
              </a:r>
              <a:r>
                <a:rPr lang="en-US" altLang="zh-TW" sz="2600" kern="100" dirty="0" err="1">
                  <a:latin typeface="微軟正黑體" panose="020B0604030504040204" pitchFamily="34" charset="-120"/>
                  <a:ea typeface="微軟正黑體" panose="020B0604030504040204" pitchFamily="34" charset="-120"/>
                  <a:cs typeface="Times New Roman" panose="02020603050405020304" pitchFamily="18" charset="0"/>
                </a:rPr>
                <a:t>Sanghyun</a:t>
              </a:r>
              <a:r>
                <a:rPr lang="en-US" altLang="zh-TW" sz="2600" kern="100" dirty="0">
                  <a:latin typeface="微軟正黑體" panose="020B0604030504040204" pitchFamily="34" charset="-120"/>
                  <a:ea typeface="微軟正黑體" panose="020B0604030504040204" pitchFamily="34" charset="-120"/>
                  <a:cs typeface="Times New Roman" panose="02020603050405020304" pitchFamily="18" charset="0"/>
                </a:rPr>
                <a:t> Son, </a:t>
              </a:r>
              <a:r>
                <a:rPr lang="en-US" altLang="zh-TW" sz="2600" kern="100" dirty="0" err="1">
                  <a:latin typeface="微軟正黑體" panose="020B0604030504040204" pitchFamily="34" charset="-120"/>
                  <a:ea typeface="微軟正黑體" panose="020B0604030504040204" pitchFamily="34" charset="-120"/>
                  <a:cs typeface="Times New Roman" panose="02020603050405020304" pitchFamily="18" charset="0"/>
                </a:rPr>
                <a:t>Heewon</a:t>
              </a:r>
              <a:r>
                <a:rPr lang="en-US" altLang="zh-TW" sz="2600" kern="100" dirty="0">
                  <a:latin typeface="微軟正黑體" panose="020B0604030504040204" pitchFamily="34" charset="-120"/>
                  <a:ea typeface="微軟正黑體" panose="020B0604030504040204" pitchFamily="34" charset="-120"/>
                  <a:cs typeface="Times New Roman" panose="02020603050405020304" pitchFamily="18" charset="0"/>
                </a:rPr>
                <a:t> Kim, </a:t>
              </a:r>
              <a:r>
                <a:rPr lang="en-US" altLang="zh-TW" sz="2600" kern="100" dirty="0" err="1">
                  <a:latin typeface="微軟正黑體" panose="020B0604030504040204" pitchFamily="34" charset="-120"/>
                  <a:ea typeface="微軟正黑體" panose="020B0604030504040204" pitchFamily="34" charset="-120"/>
                  <a:cs typeface="Times New Roman" panose="02020603050405020304" pitchFamily="18" charset="0"/>
                </a:rPr>
                <a:t>Seungjun</a:t>
              </a:r>
              <a:r>
                <a:rPr lang="en-US" altLang="zh-TW" sz="2600" kern="100" dirty="0">
                  <a:latin typeface="微軟正黑體" panose="020B0604030504040204" pitchFamily="34" charset="-120"/>
                  <a:ea typeface="微軟正黑體" panose="020B0604030504040204" pitchFamily="34" charset="-120"/>
                  <a:cs typeface="Times New Roman" panose="02020603050405020304" pitchFamily="18" charset="0"/>
                </a:rPr>
                <a:t> Nah, </a:t>
              </a:r>
              <a:r>
                <a:rPr lang="en-US" altLang="zh-TW" sz="2600" kern="100" dirty="0" err="1">
                  <a:latin typeface="微軟正黑體" panose="020B0604030504040204" pitchFamily="34" charset="-120"/>
                  <a:ea typeface="微軟正黑體" panose="020B0604030504040204" pitchFamily="34" charset="-120"/>
                  <a:cs typeface="Times New Roman" panose="02020603050405020304" pitchFamily="18" charset="0"/>
                </a:rPr>
                <a:t>Kyoung</a:t>
              </a:r>
              <a:r>
                <a:rPr lang="en-US" altLang="zh-TW" sz="2600" kern="100" dirty="0">
                  <a:latin typeface="微軟正黑體" panose="020B0604030504040204" pitchFamily="34" charset="-120"/>
                  <a:ea typeface="微軟正黑體" panose="020B0604030504040204" pitchFamily="34" charset="-120"/>
                  <a:cs typeface="Times New Roman" panose="02020603050405020304" pitchFamily="18" charset="0"/>
                </a:rPr>
                <a:t> Mu Lee. “Enhanced Deep Residual Networks for Single Image Super-Resolution”, CVPR Workshops 2017</a:t>
              </a:r>
              <a:endParaRPr lang="zh-TW" altLang="zh-TW" sz="26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grpSp>
        <p:nvGrpSpPr>
          <p:cNvPr id="14222" name="群組 14221">
            <a:extLst>
              <a:ext uri="{FF2B5EF4-FFF2-40B4-BE49-F238E27FC236}">
                <a16:creationId xmlns:a16="http://schemas.microsoft.com/office/drawing/2014/main" id="{3126D09D-C355-481F-8B9F-F3B98DA7DFE8}"/>
              </a:ext>
            </a:extLst>
          </p:cNvPr>
          <p:cNvGrpSpPr/>
          <p:nvPr/>
        </p:nvGrpSpPr>
        <p:grpSpPr>
          <a:xfrm>
            <a:off x="10755461" y="19490099"/>
            <a:ext cx="9539207" cy="7164648"/>
            <a:chOff x="905000" y="2736690"/>
            <a:chExt cx="9539207" cy="6573242"/>
          </a:xfrm>
        </p:grpSpPr>
        <p:sp>
          <p:nvSpPr>
            <p:cNvPr id="14223" name="矩形: 圓角 14222">
              <a:extLst>
                <a:ext uri="{FF2B5EF4-FFF2-40B4-BE49-F238E27FC236}">
                  <a16:creationId xmlns:a16="http://schemas.microsoft.com/office/drawing/2014/main" id="{F1B13B0E-C5EE-44DC-8EAD-242B947CCC95}"/>
                </a:ext>
              </a:extLst>
            </p:cNvPr>
            <p:cNvSpPr/>
            <p:nvPr/>
          </p:nvSpPr>
          <p:spPr>
            <a:xfrm flipH="1">
              <a:off x="916477" y="2736690"/>
              <a:ext cx="9527730" cy="6573242"/>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14224" name="直線接點 14223">
              <a:extLst>
                <a:ext uri="{FF2B5EF4-FFF2-40B4-BE49-F238E27FC236}">
                  <a16:creationId xmlns:a16="http://schemas.microsoft.com/office/drawing/2014/main" id="{2C2D953F-7B4D-47A7-8A1A-977412CEE57E}"/>
                </a:ext>
              </a:extLst>
            </p:cNvPr>
            <p:cNvCxnSpPr>
              <a:cxnSpLocks/>
            </p:cNvCxnSpPr>
            <p:nvPr/>
          </p:nvCxnSpPr>
          <p:spPr>
            <a:xfrm>
              <a:off x="905000" y="3541499"/>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225" name="文字方塊 14224">
              <a:extLst>
                <a:ext uri="{FF2B5EF4-FFF2-40B4-BE49-F238E27FC236}">
                  <a16:creationId xmlns:a16="http://schemas.microsoft.com/office/drawing/2014/main" id="{1E9B60D2-1FF2-4D22-8F5A-E59CC91D25CF}"/>
                </a:ext>
              </a:extLst>
            </p:cNvPr>
            <p:cNvSpPr txBox="1"/>
            <p:nvPr/>
          </p:nvSpPr>
          <p:spPr>
            <a:xfrm>
              <a:off x="1108342" y="2809423"/>
              <a:ext cx="9144000" cy="762402"/>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實驗結論</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14226" name="文字方塊 14225">
              <a:extLst>
                <a:ext uri="{FF2B5EF4-FFF2-40B4-BE49-F238E27FC236}">
                  <a16:creationId xmlns:a16="http://schemas.microsoft.com/office/drawing/2014/main" id="{C44D0EF3-B11D-4E8B-BFD9-3718FA76392B}"/>
                </a:ext>
              </a:extLst>
            </p:cNvPr>
            <p:cNvSpPr txBox="1"/>
            <p:nvPr/>
          </p:nvSpPr>
          <p:spPr>
            <a:xfrm>
              <a:off x="1065182" y="6885201"/>
              <a:ext cx="9144000" cy="2343680"/>
            </a:xfrm>
            <a:prstGeom prst="rect">
              <a:avLst/>
            </a:prstGeom>
            <a:noFill/>
          </p:spPr>
          <p:txBody>
            <a:bodyPr wrap="square" rtlCol="0">
              <a:spAutoFit/>
            </a:bodyPr>
            <a:lstStyle/>
            <a:p>
              <a:pPr indent="720000" algn="just" hangingPunct="0"/>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傳統內插方法傾向產生平滑模糊的影像，在判斷指標上有穩定結果；反觀本專題使用的</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EDSR</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模型由於光跡追蹤影像高對比度的特性，雖在判斷指標上略有落差，卻更好解決了影像模糊問題，並復原影像邊緣銳利度，更符合實際應用需求</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sp>
        <p:nvSpPr>
          <p:cNvPr id="2" name="矩形 1">
            <a:extLst>
              <a:ext uri="{FF2B5EF4-FFF2-40B4-BE49-F238E27FC236}">
                <a16:creationId xmlns:a16="http://schemas.microsoft.com/office/drawing/2014/main" id="{BDF3FC8D-F6AC-4A86-AE5F-917CAEDA8416}"/>
              </a:ext>
            </a:extLst>
          </p:cNvPr>
          <p:cNvSpPr/>
          <p:nvPr/>
        </p:nvSpPr>
        <p:spPr>
          <a:xfrm>
            <a:off x="15557597" y="7414069"/>
            <a:ext cx="4333394"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ground truth (256x256)</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4227" name="矩形 14226">
            <a:extLst>
              <a:ext uri="{FF2B5EF4-FFF2-40B4-BE49-F238E27FC236}">
                <a16:creationId xmlns:a16="http://schemas.microsoft.com/office/drawing/2014/main" id="{3299755F-7803-4DFA-BCB4-3705574EE571}"/>
              </a:ext>
            </a:extLst>
          </p:cNvPr>
          <p:cNvSpPr/>
          <p:nvPr/>
        </p:nvSpPr>
        <p:spPr>
          <a:xfrm>
            <a:off x="11140657" y="7544058"/>
            <a:ext cx="3937162" cy="2531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input image (64x64)</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4228" name="矩形 14227">
            <a:extLst>
              <a:ext uri="{FF2B5EF4-FFF2-40B4-BE49-F238E27FC236}">
                <a16:creationId xmlns:a16="http://schemas.microsoft.com/office/drawing/2014/main" id="{6332B5FB-6A0B-49B2-8476-4DD57C4B8DD8}"/>
              </a:ext>
            </a:extLst>
          </p:cNvPr>
          <p:cNvSpPr/>
          <p:nvPr/>
        </p:nvSpPr>
        <p:spPr>
          <a:xfrm>
            <a:off x="13570434" y="18464248"/>
            <a:ext cx="3664155" cy="810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Our datasets</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4231" name="矩形: 圓角 14230">
            <a:extLst>
              <a:ext uri="{FF2B5EF4-FFF2-40B4-BE49-F238E27FC236}">
                <a16:creationId xmlns:a16="http://schemas.microsoft.com/office/drawing/2014/main" id="{6C184131-5128-427E-A351-4B16D93431B0}"/>
              </a:ext>
            </a:extLst>
          </p:cNvPr>
          <p:cNvSpPr/>
          <p:nvPr/>
        </p:nvSpPr>
        <p:spPr>
          <a:xfrm flipH="1">
            <a:off x="17782633" y="26804689"/>
            <a:ext cx="2549108" cy="3207500"/>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14236" name="直線接點 14235">
            <a:extLst>
              <a:ext uri="{FF2B5EF4-FFF2-40B4-BE49-F238E27FC236}">
                <a16:creationId xmlns:a16="http://schemas.microsoft.com/office/drawing/2014/main" id="{016EB3F1-E9A8-44FF-9D8E-F42F353CDFBE}"/>
              </a:ext>
            </a:extLst>
          </p:cNvPr>
          <p:cNvCxnSpPr>
            <a:cxnSpLocks/>
          </p:cNvCxnSpPr>
          <p:nvPr/>
        </p:nvCxnSpPr>
        <p:spPr>
          <a:xfrm>
            <a:off x="17780071" y="27774185"/>
            <a:ext cx="254910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237" name="文字方塊 14236">
            <a:extLst>
              <a:ext uri="{FF2B5EF4-FFF2-40B4-BE49-F238E27FC236}">
                <a16:creationId xmlns:a16="http://schemas.microsoft.com/office/drawing/2014/main" id="{9C5ABDB4-027E-4437-B11B-6549ADA0EC37}"/>
              </a:ext>
            </a:extLst>
          </p:cNvPr>
          <p:cNvSpPr txBox="1"/>
          <p:nvPr/>
        </p:nvSpPr>
        <p:spPr>
          <a:xfrm>
            <a:off x="17690963" y="26968522"/>
            <a:ext cx="2732448" cy="707886"/>
          </a:xfrm>
          <a:prstGeom prst="rect">
            <a:avLst/>
          </a:prstGeom>
          <a:noFill/>
        </p:spPr>
        <p:txBody>
          <a:bodyPr wrap="square" rtlCol="0">
            <a:spAutoFit/>
          </a:bodyPr>
          <a:lstStyle/>
          <a:p>
            <a:pPr algn="ctr"/>
            <a:r>
              <a:rPr lang="en-US" altLang="zh-TW" sz="4000" b="1" dirty="0" err="1">
                <a:latin typeface="微軟正黑體" panose="020B0604030504040204" pitchFamily="34" charset="-120"/>
                <a:ea typeface="微軟正黑體" panose="020B0604030504040204" pitchFamily="34" charset="-120"/>
                <a:cs typeface="Microsoft GothicNeo" panose="020B0503020000020004" pitchFamily="34" charset="-127"/>
              </a:rPr>
              <a:t>Youtube</a:t>
            </a:r>
            <a:endParaRPr lang="en-US" altLang="zh-TW" sz="40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14244" name="矩形: 圓角 14243">
            <a:extLst>
              <a:ext uri="{FF2B5EF4-FFF2-40B4-BE49-F238E27FC236}">
                <a16:creationId xmlns:a16="http://schemas.microsoft.com/office/drawing/2014/main" id="{90FF10FA-9DDB-4676-9042-B2E63B9A365A}"/>
              </a:ext>
            </a:extLst>
          </p:cNvPr>
          <p:cNvSpPr/>
          <p:nvPr/>
        </p:nvSpPr>
        <p:spPr>
          <a:xfrm flipH="1">
            <a:off x="1030458" y="6534796"/>
            <a:ext cx="9527730" cy="4218798"/>
          </a:xfrm>
          <a:prstGeom prst="roundRect">
            <a:avLst>
              <a:gd name="adj" fmla="val 5467"/>
            </a:avLst>
          </a:prstGeom>
          <a:solidFill>
            <a:schemeClr val="bg1">
              <a:alpha val="75000"/>
            </a:schemeClr>
          </a:solid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a:ln w="57150"/>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cxnSp>
        <p:nvCxnSpPr>
          <p:cNvPr id="14245" name="直線接點 14244">
            <a:extLst>
              <a:ext uri="{FF2B5EF4-FFF2-40B4-BE49-F238E27FC236}">
                <a16:creationId xmlns:a16="http://schemas.microsoft.com/office/drawing/2014/main" id="{00EA6E11-52B9-41F9-9E7E-4822546A91C2}"/>
              </a:ext>
            </a:extLst>
          </p:cNvPr>
          <p:cNvCxnSpPr>
            <a:cxnSpLocks/>
          </p:cNvCxnSpPr>
          <p:nvPr/>
        </p:nvCxnSpPr>
        <p:spPr>
          <a:xfrm>
            <a:off x="1030458" y="7512727"/>
            <a:ext cx="9527728"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246" name="文字方塊 14245">
            <a:extLst>
              <a:ext uri="{FF2B5EF4-FFF2-40B4-BE49-F238E27FC236}">
                <a16:creationId xmlns:a16="http://schemas.microsoft.com/office/drawing/2014/main" id="{FBA3CE4F-A1D2-4AED-9DDF-F83483FA9A40}"/>
              </a:ext>
            </a:extLst>
          </p:cNvPr>
          <p:cNvSpPr txBox="1"/>
          <p:nvPr/>
        </p:nvSpPr>
        <p:spPr>
          <a:xfrm>
            <a:off x="1222322" y="6631510"/>
            <a:ext cx="9144000" cy="830997"/>
          </a:xfrm>
          <a:prstGeom prst="rect">
            <a:avLst/>
          </a:prstGeom>
          <a:noFill/>
        </p:spPr>
        <p:txBody>
          <a:bodyPr wrap="square" rtlCol="0">
            <a:spAutoFit/>
          </a:bodyPr>
          <a:lstStyle/>
          <a:p>
            <a:pPr algn="ctr"/>
            <a:r>
              <a:rPr lang="zh-TW" altLang="en-US" sz="4800" b="1" dirty="0">
                <a:latin typeface="微軟正黑體" panose="020B0604030504040204" pitchFamily="34" charset="-120"/>
                <a:ea typeface="微軟正黑體" panose="020B0604030504040204" pitchFamily="34" charset="-120"/>
                <a:cs typeface="Microsoft GothicNeo" panose="020B0503020000020004" pitchFamily="34" charset="-127"/>
              </a:rPr>
              <a:t>研究方法</a:t>
            </a:r>
            <a:endParaRPr lang="en-US" altLang="zh-TW" sz="4800" b="1" dirty="0">
              <a:latin typeface="微軟正黑體" panose="020B0604030504040204" pitchFamily="34" charset="-120"/>
              <a:ea typeface="微軟正黑體" panose="020B0604030504040204" pitchFamily="34" charset="-120"/>
              <a:cs typeface="Microsoft GothicNeo" panose="020B0503020000020004" pitchFamily="34" charset="-127"/>
            </a:endParaRPr>
          </a:p>
        </p:txBody>
      </p:sp>
      <p:sp>
        <p:nvSpPr>
          <p:cNvPr id="14247" name="文字方塊 14246">
            <a:extLst>
              <a:ext uri="{FF2B5EF4-FFF2-40B4-BE49-F238E27FC236}">
                <a16:creationId xmlns:a16="http://schemas.microsoft.com/office/drawing/2014/main" id="{02C45E42-0D92-4A6B-8C71-5DA86B4A9811}"/>
              </a:ext>
            </a:extLst>
          </p:cNvPr>
          <p:cNvSpPr txBox="1"/>
          <p:nvPr/>
        </p:nvSpPr>
        <p:spPr>
          <a:xfrm>
            <a:off x="1130119" y="7640172"/>
            <a:ext cx="9144000" cy="3539430"/>
          </a:xfrm>
          <a:prstGeom prst="rect">
            <a:avLst/>
          </a:prstGeom>
          <a:noFill/>
        </p:spPr>
        <p:txBody>
          <a:bodyPr wrap="square" rtlCol="0">
            <a:spAutoFit/>
          </a:bodyPr>
          <a:lstStyle/>
          <a:p>
            <a:pPr marL="457200" indent="-457200" algn="just">
              <a:buFont typeface="Arial" panose="020B0604020202020204" pitchFamily="34" charset="0"/>
              <a:buChar char="•"/>
            </a:pP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本專題先實作了傳統內插方法對影像放大的結果，</a:t>
            </a:r>
            <a:r>
              <a:rPr lang="zh-TW" altLang="en-US" sz="3200" dirty="0">
                <a:latin typeface="微軟正黑體" panose="020B0604030504040204" pitchFamily="34" charset="-120"/>
                <a:ea typeface="微軟正黑體" panose="020B0604030504040204" pitchFamily="34" charset="-120"/>
              </a:rPr>
              <a:t>並將其結果作為後續比較的基線。</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buFont typeface="Arial" panose="020B0604020202020204" pitchFamily="34" charset="0"/>
              <a:buChar char="•"/>
            </a:pP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以 </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PSNR/SSIM</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 </a:t>
            </a:r>
            <a:r>
              <a:rPr lang="zh-TW" altLang="en-US" sz="3200" kern="100">
                <a:latin typeface="微軟正黑體" panose="020B0604030504040204" pitchFamily="34" charset="-120"/>
                <a:ea typeface="微軟正黑體" panose="020B0604030504040204" pitchFamily="34" charset="-120"/>
                <a:cs typeface="Times New Roman" panose="02020603050405020304" pitchFamily="18" charset="0"/>
              </a:rPr>
              <a:t>作為影像相似性指標</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buFont typeface="Arial" panose="020B0604020202020204" pitchFamily="34" charset="0"/>
              <a:buChar char="•"/>
            </a:pP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在多種使用基於深度學習的超解析度模型中根據影像特徵選擇了</a:t>
            </a: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EDSR(Enhanced Deep Residual Networks)</a:t>
            </a:r>
            <a:r>
              <a:rPr lang="zh-TW" altLang="en-US" sz="3200" kern="100" dirty="0">
                <a:latin typeface="微軟正黑體" panose="020B0604030504040204" pitchFamily="34" charset="-120"/>
                <a:ea typeface="微軟正黑體" panose="020B0604030504040204" pitchFamily="34" charset="-120"/>
                <a:cs typeface="Times New Roman" panose="02020603050405020304" pitchFamily="18" charset="0"/>
              </a:rPr>
              <a:t> 進行實作、訓練、分析。</a:t>
            </a: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buFont typeface="Arial" panose="020B0604020202020204" pitchFamily="34" charset="0"/>
              <a:buChar char="•"/>
            </a:pPr>
            <a:endPar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25" name="圖片 24">
            <a:extLst>
              <a:ext uri="{FF2B5EF4-FFF2-40B4-BE49-F238E27FC236}">
                <a16:creationId xmlns:a16="http://schemas.microsoft.com/office/drawing/2014/main" id="{A5AF3551-ACF5-43B8-B994-42C8C0DB38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53508" y="15782349"/>
            <a:ext cx="2876689" cy="2876689"/>
          </a:xfrm>
          <a:prstGeom prst="rect">
            <a:avLst/>
          </a:prstGeom>
        </p:spPr>
      </p:pic>
      <p:pic>
        <p:nvPicPr>
          <p:cNvPr id="27" name="圖片 26">
            <a:extLst>
              <a:ext uri="{FF2B5EF4-FFF2-40B4-BE49-F238E27FC236}">
                <a16:creationId xmlns:a16="http://schemas.microsoft.com/office/drawing/2014/main" id="{FB92B6F2-4AE9-43EA-9B52-DDB1851D1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51500" y="3700871"/>
            <a:ext cx="3678926" cy="3678926"/>
          </a:xfrm>
          <a:prstGeom prst="rect">
            <a:avLst/>
          </a:prstGeom>
        </p:spPr>
      </p:pic>
      <p:pic>
        <p:nvPicPr>
          <p:cNvPr id="14234" name="圖片 14233">
            <a:extLst>
              <a:ext uri="{FF2B5EF4-FFF2-40B4-BE49-F238E27FC236}">
                <a16:creationId xmlns:a16="http://schemas.microsoft.com/office/drawing/2014/main" id="{A0CD25E8-38C0-4382-B017-5D42B86107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7867" y="3622876"/>
            <a:ext cx="3785681" cy="3785681"/>
          </a:xfrm>
          <a:prstGeom prst="rect">
            <a:avLst/>
          </a:prstGeom>
        </p:spPr>
      </p:pic>
      <p:sp>
        <p:nvSpPr>
          <p:cNvPr id="14235" name="矩形 14234">
            <a:extLst>
              <a:ext uri="{FF2B5EF4-FFF2-40B4-BE49-F238E27FC236}">
                <a16:creationId xmlns:a16="http://schemas.microsoft.com/office/drawing/2014/main" id="{0AA2AE6B-450E-4291-90D0-12E6715BEDC5}"/>
              </a:ext>
            </a:extLst>
          </p:cNvPr>
          <p:cNvSpPr/>
          <p:nvPr/>
        </p:nvSpPr>
        <p:spPr>
          <a:xfrm>
            <a:off x="15157974" y="11225107"/>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K=4</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31" name="圖片 30">
            <a:extLst>
              <a:ext uri="{FF2B5EF4-FFF2-40B4-BE49-F238E27FC236}">
                <a16:creationId xmlns:a16="http://schemas.microsoft.com/office/drawing/2014/main" id="{80D78A2A-D994-4144-8BA4-924BEB76C1D4}"/>
              </a:ext>
            </a:extLst>
          </p:cNvPr>
          <p:cNvPicPr>
            <a:picLocks noChangeAspect="1"/>
          </p:cNvPicPr>
          <p:nvPr/>
        </p:nvPicPr>
        <p:blipFill>
          <a:blip r:embed="rId5"/>
          <a:stretch>
            <a:fillRect/>
          </a:stretch>
        </p:blipFill>
        <p:spPr>
          <a:xfrm>
            <a:off x="15546003" y="9022909"/>
            <a:ext cx="2232650" cy="2229139"/>
          </a:xfrm>
          <a:prstGeom prst="rect">
            <a:avLst/>
          </a:prstGeom>
        </p:spPr>
      </p:pic>
      <p:sp>
        <p:nvSpPr>
          <p:cNvPr id="14242" name="文字方塊 14241">
            <a:extLst>
              <a:ext uri="{FF2B5EF4-FFF2-40B4-BE49-F238E27FC236}">
                <a16:creationId xmlns:a16="http://schemas.microsoft.com/office/drawing/2014/main" id="{E3A0B592-5863-45EE-9784-00CF4AB03C34}"/>
              </a:ext>
            </a:extLst>
          </p:cNvPr>
          <p:cNvSpPr txBox="1"/>
          <p:nvPr/>
        </p:nvSpPr>
        <p:spPr>
          <a:xfrm>
            <a:off x="11058277" y="8536578"/>
            <a:ext cx="9236390" cy="461665"/>
          </a:xfrm>
          <a:prstGeom prst="rect">
            <a:avLst/>
          </a:prstGeom>
          <a:noFill/>
        </p:spPr>
        <p:txBody>
          <a:bodyPr wrap="square" rtlCol="0">
            <a:spAutoFit/>
          </a:bodyPr>
          <a:lstStyle/>
          <a:p>
            <a:pPr algn="just"/>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 將影像每</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K</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個</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pixel</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分區塊，並以</a:t>
            </a:r>
            <a:r>
              <a:rPr lang="en-US" altLang="zh-TW" sz="2400" kern="100" dirty="0" err="1">
                <a:latin typeface="微軟正黑體" panose="020B0604030504040204" pitchFamily="34" charset="-120"/>
                <a:ea typeface="微軟正黑體" panose="020B0604030504040204" pitchFamily="34" charset="-120"/>
                <a:cs typeface="Times New Roman" panose="02020603050405020304" pitchFamily="18" charset="0"/>
              </a:rPr>
              <a:t>lagrange</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 polynomial</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做內插</a:t>
            </a:r>
            <a:endPar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33" name="圖片 32">
            <a:extLst>
              <a:ext uri="{FF2B5EF4-FFF2-40B4-BE49-F238E27FC236}">
                <a16:creationId xmlns:a16="http://schemas.microsoft.com/office/drawing/2014/main" id="{6732CAF3-F689-485A-A38E-E69D800C2B35}"/>
              </a:ext>
            </a:extLst>
          </p:cNvPr>
          <p:cNvPicPr>
            <a:picLocks noChangeAspect="1"/>
          </p:cNvPicPr>
          <p:nvPr/>
        </p:nvPicPr>
        <p:blipFill>
          <a:blip r:embed="rId6"/>
          <a:stretch>
            <a:fillRect/>
          </a:stretch>
        </p:blipFill>
        <p:spPr>
          <a:xfrm>
            <a:off x="10915643" y="9021155"/>
            <a:ext cx="2232649" cy="2232649"/>
          </a:xfrm>
          <a:prstGeom prst="rect">
            <a:avLst/>
          </a:prstGeom>
        </p:spPr>
      </p:pic>
      <p:sp>
        <p:nvSpPr>
          <p:cNvPr id="14243" name="矩形 14242">
            <a:extLst>
              <a:ext uri="{FF2B5EF4-FFF2-40B4-BE49-F238E27FC236}">
                <a16:creationId xmlns:a16="http://schemas.microsoft.com/office/drawing/2014/main" id="{88DF045D-3EE4-452D-BCCB-8B300B8B247E}"/>
              </a:ext>
            </a:extLst>
          </p:cNvPr>
          <p:cNvSpPr/>
          <p:nvPr/>
        </p:nvSpPr>
        <p:spPr>
          <a:xfrm>
            <a:off x="10527613" y="11218566"/>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K=2</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35" name="圖片 34">
            <a:extLst>
              <a:ext uri="{FF2B5EF4-FFF2-40B4-BE49-F238E27FC236}">
                <a16:creationId xmlns:a16="http://schemas.microsoft.com/office/drawing/2014/main" id="{550B6F0A-761E-452C-B28A-0DA9D0EC33C8}"/>
              </a:ext>
            </a:extLst>
          </p:cNvPr>
          <p:cNvPicPr>
            <a:picLocks noChangeAspect="1"/>
          </p:cNvPicPr>
          <p:nvPr/>
        </p:nvPicPr>
        <p:blipFill>
          <a:blip r:embed="rId7"/>
          <a:stretch>
            <a:fillRect/>
          </a:stretch>
        </p:blipFill>
        <p:spPr>
          <a:xfrm>
            <a:off x="13230823" y="9034959"/>
            <a:ext cx="2232649" cy="2215070"/>
          </a:xfrm>
          <a:prstGeom prst="rect">
            <a:avLst/>
          </a:prstGeom>
        </p:spPr>
      </p:pic>
      <p:sp>
        <p:nvSpPr>
          <p:cNvPr id="14254" name="矩形 14253">
            <a:extLst>
              <a:ext uri="{FF2B5EF4-FFF2-40B4-BE49-F238E27FC236}">
                <a16:creationId xmlns:a16="http://schemas.microsoft.com/office/drawing/2014/main" id="{B1972CBA-A9B3-4CD4-BA85-EECFED020C0A}"/>
              </a:ext>
            </a:extLst>
          </p:cNvPr>
          <p:cNvSpPr/>
          <p:nvPr/>
        </p:nvSpPr>
        <p:spPr>
          <a:xfrm>
            <a:off x="13033717" y="11390697"/>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K=2</a:t>
            </a: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並額外取區塊兩邊各一個</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pixel</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37" name="圖片 36">
            <a:extLst>
              <a:ext uri="{FF2B5EF4-FFF2-40B4-BE49-F238E27FC236}">
                <a16:creationId xmlns:a16="http://schemas.microsoft.com/office/drawing/2014/main" id="{01759CB8-ABC2-4A56-B92E-A3EBC4ED43FE}"/>
              </a:ext>
            </a:extLst>
          </p:cNvPr>
          <p:cNvPicPr>
            <a:picLocks noChangeAspect="1"/>
          </p:cNvPicPr>
          <p:nvPr/>
        </p:nvPicPr>
        <p:blipFill>
          <a:blip r:embed="rId8"/>
          <a:stretch>
            <a:fillRect/>
          </a:stretch>
        </p:blipFill>
        <p:spPr>
          <a:xfrm>
            <a:off x="17861183" y="9038779"/>
            <a:ext cx="2232649" cy="2232649"/>
          </a:xfrm>
          <a:prstGeom prst="rect">
            <a:avLst/>
          </a:prstGeom>
        </p:spPr>
      </p:pic>
      <p:sp>
        <p:nvSpPr>
          <p:cNvPr id="14255" name="矩形 14254">
            <a:extLst>
              <a:ext uri="{FF2B5EF4-FFF2-40B4-BE49-F238E27FC236}">
                <a16:creationId xmlns:a16="http://schemas.microsoft.com/office/drawing/2014/main" id="{37AB69CC-29D0-476B-BCE8-11FA459C919E}"/>
              </a:ext>
            </a:extLst>
          </p:cNvPr>
          <p:cNvSpPr/>
          <p:nvPr/>
        </p:nvSpPr>
        <p:spPr>
          <a:xfrm>
            <a:off x="17532307" y="11218566"/>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K=16</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4261" name="文字方塊 14260">
            <a:extLst>
              <a:ext uri="{FF2B5EF4-FFF2-40B4-BE49-F238E27FC236}">
                <a16:creationId xmlns:a16="http://schemas.microsoft.com/office/drawing/2014/main" id="{891E1691-61C2-4C4D-9247-BE2F63C101D7}"/>
              </a:ext>
            </a:extLst>
          </p:cNvPr>
          <p:cNvSpPr txBox="1"/>
          <p:nvPr/>
        </p:nvSpPr>
        <p:spPr>
          <a:xfrm>
            <a:off x="11137473" y="12018526"/>
            <a:ext cx="9236390" cy="461665"/>
          </a:xfrm>
          <a:prstGeom prst="rect">
            <a:avLst/>
          </a:prstGeom>
          <a:noFill/>
        </p:spPr>
        <p:txBody>
          <a:bodyPr wrap="square" rtlCol="0">
            <a:spAutoFit/>
          </a:bodyPr>
          <a:lstStyle/>
          <a:p>
            <a:pPr algn="just"/>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 其他常用基本內插方法</a:t>
            </a:r>
            <a:endPar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42" name="圖片 41">
            <a:extLst>
              <a:ext uri="{FF2B5EF4-FFF2-40B4-BE49-F238E27FC236}">
                <a16:creationId xmlns:a16="http://schemas.microsoft.com/office/drawing/2014/main" id="{4663E249-DA72-48F7-82C1-8A39CF620B61}"/>
              </a:ext>
            </a:extLst>
          </p:cNvPr>
          <p:cNvPicPr>
            <a:picLocks noChangeAspect="1"/>
          </p:cNvPicPr>
          <p:nvPr/>
        </p:nvPicPr>
        <p:blipFill>
          <a:blip r:embed="rId9"/>
          <a:stretch>
            <a:fillRect/>
          </a:stretch>
        </p:blipFill>
        <p:spPr>
          <a:xfrm>
            <a:off x="10972247" y="12565018"/>
            <a:ext cx="2176045" cy="2165797"/>
          </a:xfrm>
          <a:prstGeom prst="rect">
            <a:avLst/>
          </a:prstGeom>
        </p:spPr>
      </p:pic>
      <p:sp>
        <p:nvSpPr>
          <p:cNvPr id="14262" name="矩形 14261">
            <a:extLst>
              <a:ext uri="{FF2B5EF4-FFF2-40B4-BE49-F238E27FC236}">
                <a16:creationId xmlns:a16="http://schemas.microsoft.com/office/drawing/2014/main" id="{80FD2ADA-A1BB-432F-8578-8E9B5C4A510B}"/>
              </a:ext>
            </a:extLst>
          </p:cNvPr>
          <p:cNvSpPr/>
          <p:nvPr/>
        </p:nvSpPr>
        <p:spPr>
          <a:xfrm>
            <a:off x="10650989" y="14730815"/>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bilinear</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44" name="圖片 43">
            <a:extLst>
              <a:ext uri="{FF2B5EF4-FFF2-40B4-BE49-F238E27FC236}">
                <a16:creationId xmlns:a16="http://schemas.microsoft.com/office/drawing/2014/main" id="{F648F344-FB54-4DF8-AB37-E0C640EF950D}"/>
              </a:ext>
            </a:extLst>
          </p:cNvPr>
          <p:cNvPicPr>
            <a:picLocks noChangeAspect="1"/>
          </p:cNvPicPr>
          <p:nvPr/>
        </p:nvPicPr>
        <p:blipFill>
          <a:blip r:embed="rId10"/>
          <a:stretch>
            <a:fillRect/>
          </a:stretch>
        </p:blipFill>
        <p:spPr>
          <a:xfrm>
            <a:off x="13254326" y="12566774"/>
            <a:ext cx="2169247" cy="2165798"/>
          </a:xfrm>
          <a:prstGeom prst="rect">
            <a:avLst/>
          </a:prstGeom>
        </p:spPr>
      </p:pic>
      <p:sp>
        <p:nvSpPr>
          <p:cNvPr id="14263" name="矩形 14262">
            <a:extLst>
              <a:ext uri="{FF2B5EF4-FFF2-40B4-BE49-F238E27FC236}">
                <a16:creationId xmlns:a16="http://schemas.microsoft.com/office/drawing/2014/main" id="{7A619B84-8DCD-4E54-B56B-4B2B7C20FC2C}"/>
              </a:ext>
            </a:extLst>
          </p:cNvPr>
          <p:cNvSpPr/>
          <p:nvPr/>
        </p:nvSpPr>
        <p:spPr>
          <a:xfrm>
            <a:off x="12687574" y="14693793"/>
            <a:ext cx="3008707" cy="448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bicubic</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sp>
        <p:nvSpPr>
          <p:cNvPr id="14266" name="文字方塊 14265">
            <a:extLst>
              <a:ext uri="{FF2B5EF4-FFF2-40B4-BE49-F238E27FC236}">
                <a16:creationId xmlns:a16="http://schemas.microsoft.com/office/drawing/2014/main" id="{86D59D86-C320-49AE-BFCE-39B1E21695FD}"/>
              </a:ext>
            </a:extLst>
          </p:cNvPr>
          <p:cNvSpPr txBox="1"/>
          <p:nvPr/>
        </p:nvSpPr>
        <p:spPr>
          <a:xfrm>
            <a:off x="11004707" y="15174662"/>
            <a:ext cx="9144000" cy="584775"/>
          </a:xfrm>
          <a:prstGeom prst="rect">
            <a:avLst/>
          </a:prstGeom>
          <a:noFill/>
        </p:spPr>
        <p:txBody>
          <a:bodyPr wrap="square" rtlCol="0">
            <a:spAutoFit/>
          </a:bodyPr>
          <a:lstStyle/>
          <a:p>
            <a:pPr marL="457200" indent="-457200" algn="just">
              <a:buFont typeface="Arial" panose="020B0604020202020204" pitchFamily="34" charset="0"/>
              <a:buChar char="•"/>
            </a:pPr>
            <a:r>
              <a:rPr lang="en-US" altLang="zh-TW" sz="3200" kern="100" dirty="0">
                <a:latin typeface="微軟正黑體" panose="020B0604030504040204" pitchFamily="34" charset="-120"/>
                <a:ea typeface="微軟正黑體" panose="020B0604030504040204" pitchFamily="34" charset="-120"/>
                <a:cs typeface="Times New Roman" panose="02020603050405020304" pitchFamily="18" charset="0"/>
              </a:rPr>
              <a:t>Super resolution - EDSR</a:t>
            </a:r>
          </a:p>
        </p:txBody>
      </p:sp>
      <p:sp>
        <p:nvSpPr>
          <p:cNvPr id="14267" name="矩形 14266">
            <a:extLst>
              <a:ext uri="{FF2B5EF4-FFF2-40B4-BE49-F238E27FC236}">
                <a16:creationId xmlns:a16="http://schemas.microsoft.com/office/drawing/2014/main" id="{DF20EE44-52CF-48C6-B9EC-47F2E0777C21}"/>
              </a:ext>
            </a:extLst>
          </p:cNvPr>
          <p:cNvSpPr/>
          <p:nvPr/>
        </p:nvSpPr>
        <p:spPr>
          <a:xfrm>
            <a:off x="16756912" y="18455273"/>
            <a:ext cx="3664155" cy="810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L2 loss(</a:t>
            </a: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視覺品質差</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pic>
        <p:nvPicPr>
          <p:cNvPr id="50" name="圖片 49">
            <a:extLst>
              <a:ext uri="{FF2B5EF4-FFF2-40B4-BE49-F238E27FC236}">
                <a16:creationId xmlns:a16="http://schemas.microsoft.com/office/drawing/2014/main" id="{AC19F2E2-C0EA-4195-B5AD-56A0D3584A3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1013789" y="15767314"/>
            <a:ext cx="2876689" cy="2876689"/>
          </a:xfrm>
          <a:prstGeom prst="rect">
            <a:avLst/>
          </a:prstGeom>
        </p:spPr>
      </p:pic>
      <p:sp>
        <p:nvSpPr>
          <p:cNvPr id="14268" name="矩形 14267">
            <a:extLst>
              <a:ext uri="{FF2B5EF4-FFF2-40B4-BE49-F238E27FC236}">
                <a16:creationId xmlns:a16="http://schemas.microsoft.com/office/drawing/2014/main" id="{3F3F0FE2-F6F5-4636-B761-119BE0B15CC2}"/>
              </a:ext>
            </a:extLst>
          </p:cNvPr>
          <p:cNvSpPr/>
          <p:nvPr/>
        </p:nvSpPr>
        <p:spPr>
          <a:xfrm>
            <a:off x="10655479" y="18464248"/>
            <a:ext cx="3664155" cy="810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rPr>
              <a:t>Original datasets</a:t>
            </a:r>
            <a:endParaRPr lang="zh-TW" altLang="en-US" sz="2400" kern="100" dirty="0">
              <a:solidFill>
                <a:schemeClr val="tx1"/>
              </a:solidFill>
              <a:latin typeface="微軟正黑體" panose="020B0604030504040204" pitchFamily="34" charset="-120"/>
              <a:ea typeface="微軟正黑體" panose="020B0604030504040204" pitchFamily="34" charset="-120"/>
              <a:cs typeface="Times New Roman" panose="02020603050405020304" pitchFamily="18" charset="0"/>
            </a:endParaRPr>
          </a:p>
        </p:txBody>
      </p:sp>
      <p:graphicFrame>
        <p:nvGraphicFramePr>
          <p:cNvPr id="14269" name="表格 8">
            <a:extLst>
              <a:ext uri="{FF2B5EF4-FFF2-40B4-BE49-F238E27FC236}">
                <a16:creationId xmlns:a16="http://schemas.microsoft.com/office/drawing/2014/main" id="{9A3DB962-0834-4CFA-B71F-0CC5E6D6C78A}"/>
              </a:ext>
            </a:extLst>
          </p:cNvPr>
          <p:cNvGraphicFramePr>
            <a:graphicFrameLocks noGrp="1"/>
          </p:cNvGraphicFramePr>
          <p:nvPr>
            <p:extLst>
              <p:ext uri="{D42A27DB-BD31-4B8C-83A1-F6EECF244321}">
                <p14:modId xmlns:p14="http://schemas.microsoft.com/office/powerpoint/2010/main" val="1484821691"/>
              </p:ext>
            </p:extLst>
          </p:nvPr>
        </p:nvGraphicFramePr>
        <p:xfrm>
          <a:off x="10935850" y="20572916"/>
          <a:ext cx="9189905" cy="1772314"/>
        </p:xfrm>
        <a:graphic>
          <a:graphicData uri="http://schemas.openxmlformats.org/drawingml/2006/table">
            <a:tbl>
              <a:tblPr firstRow="1" bandRow="1">
                <a:tableStyleId>{5C22544A-7EE6-4342-B048-85BDC9FD1C3A}</a:tableStyleId>
              </a:tblPr>
              <a:tblGrid>
                <a:gridCol w="1946773">
                  <a:extLst>
                    <a:ext uri="{9D8B030D-6E8A-4147-A177-3AD203B41FA5}">
                      <a16:colId xmlns:a16="http://schemas.microsoft.com/office/drawing/2014/main" val="1159889631"/>
                    </a:ext>
                  </a:extLst>
                </a:gridCol>
                <a:gridCol w="1729189">
                  <a:extLst>
                    <a:ext uri="{9D8B030D-6E8A-4147-A177-3AD203B41FA5}">
                      <a16:colId xmlns:a16="http://schemas.microsoft.com/office/drawing/2014/main" val="202428839"/>
                    </a:ext>
                  </a:extLst>
                </a:gridCol>
                <a:gridCol w="1837981">
                  <a:extLst>
                    <a:ext uri="{9D8B030D-6E8A-4147-A177-3AD203B41FA5}">
                      <a16:colId xmlns:a16="http://schemas.microsoft.com/office/drawing/2014/main" val="3323883523"/>
                    </a:ext>
                  </a:extLst>
                </a:gridCol>
                <a:gridCol w="1837981">
                  <a:extLst>
                    <a:ext uri="{9D8B030D-6E8A-4147-A177-3AD203B41FA5}">
                      <a16:colId xmlns:a16="http://schemas.microsoft.com/office/drawing/2014/main" val="2610922496"/>
                    </a:ext>
                  </a:extLst>
                </a:gridCol>
                <a:gridCol w="1837981">
                  <a:extLst>
                    <a:ext uri="{9D8B030D-6E8A-4147-A177-3AD203B41FA5}">
                      <a16:colId xmlns:a16="http://schemas.microsoft.com/office/drawing/2014/main" val="1433958368"/>
                    </a:ext>
                  </a:extLst>
                </a:gridCol>
              </a:tblGrid>
              <a:tr h="473645">
                <a:tc>
                  <a:txBody>
                    <a:bodyPr/>
                    <a:lstStyle/>
                    <a:p>
                      <a:pPr algn="ctr"/>
                      <a:r>
                        <a:rPr lang="en-US" altLang="zh-TW" sz="2400" dirty="0"/>
                        <a:t>Interpolation</a:t>
                      </a:r>
                      <a:endParaRPr lang="zh-TW" altLang="en-US" sz="2400" dirty="0"/>
                    </a:p>
                  </a:txBody>
                  <a:tcPr/>
                </a:tc>
                <a:tc>
                  <a:txBody>
                    <a:bodyPr/>
                    <a:lstStyle/>
                    <a:p>
                      <a:pPr algn="ctr"/>
                      <a:r>
                        <a:rPr lang="en-US" altLang="zh-TW" sz="2400" dirty="0"/>
                        <a:t>Bilinear</a:t>
                      </a:r>
                      <a:endParaRPr lang="zh-TW" altLang="en-US" sz="2400" dirty="0"/>
                    </a:p>
                  </a:txBody>
                  <a:tcPr/>
                </a:tc>
                <a:tc>
                  <a:txBody>
                    <a:bodyPr/>
                    <a:lstStyle/>
                    <a:p>
                      <a:pPr algn="ctr"/>
                      <a:r>
                        <a:rPr lang="en-US" altLang="zh-TW" sz="2400" dirty="0"/>
                        <a:t>Bicubic</a:t>
                      </a:r>
                      <a:endParaRPr lang="zh-TW" altLang="en-US" sz="2400" dirty="0"/>
                    </a:p>
                  </a:txBody>
                  <a:tcPr/>
                </a:tc>
                <a:tc>
                  <a:txBody>
                    <a:bodyPr/>
                    <a:lstStyle/>
                    <a:p>
                      <a:pPr algn="ctr"/>
                      <a:r>
                        <a:rPr lang="en-US" altLang="zh-TW" sz="2400" dirty="0"/>
                        <a:t>Lagrange</a:t>
                      </a:r>
                    </a:p>
                    <a:p>
                      <a:pPr algn="ctr"/>
                      <a:r>
                        <a:rPr lang="en-US" altLang="zh-TW" sz="2400" dirty="0"/>
                        <a:t>(K=2)</a:t>
                      </a:r>
                      <a:endParaRPr lang="zh-TW" altLang="en-US" sz="2400" dirty="0"/>
                    </a:p>
                  </a:txBody>
                  <a:tcPr/>
                </a:tc>
                <a:tc>
                  <a:txBody>
                    <a:bodyPr/>
                    <a:lstStyle/>
                    <a:p>
                      <a:pPr algn="ctr"/>
                      <a:r>
                        <a:rPr lang="en-US" altLang="zh-TW" sz="2400" dirty="0"/>
                        <a:t>Lagrange</a:t>
                      </a:r>
                    </a:p>
                    <a:p>
                      <a:pPr algn="ctr"/>
                      <a:r>
                        <a:rPr lang="en-US" altLang="zh-TW" sz="2400" dirty="0"/>
                        <a:t>(K=2+</a:t>
                      </a:r>
                      <a:r>
                        <a:rPr lang="zh-TW" altLang="en-US" sz="2400" dirty="0"/>
                        <a:t>取鄰居</a:t>
                      </a:r>
                      <a:r>
                        <a:rPr lang="en-US" altLang="zh-TW" sz="2400" dirty="0"/>
                        <a:t>)</a:t>
                      </a:r>
                      <a:endParaRPr lang="zh-TW" altLang="en-US" sz="2400" dirty="0"/>
                    </a:p>
                  </a:txBody>
                  <a:tcPr/>
                </a:tc>
                <a:extLst>
                  <a:ext uri="{0D108BD9-81ED-4DB2-BD59-A6C34878D82A}">
                    <a16:rowId xmlns:a16="http://schemas.microsoft.com/office/drawing/2014/main" val="898995503"/>
                  </a:ext>
                </a:extLst>
              </a:tr>
              <a:tr h="419726">
                <a:tc>
                  <a:txBody>
                    <a:bodyPr/>
                    <a:lstStyle/>
                    <a:p>
                      <a:pPr algn="ctr"/>
                      <a:r>
                        <a:rPr lang="en-US" altLang="zh-TW" sz="2400" dirty="0"/>
                        <a:t>PSNR</a:t>
                      </a:r>
                      <a:endParaRPr lang="zh-TW" altLang="en-US" sz="2400" dirty="0"/>
                    </a:p>
                  </a:txBody>
                  <a:tcPr/>
                </a:tc>
                <a:tc>
                  <a:txBody>
                    <a:bodyPr/>
                    <a:lstStyle/>
                    <a:p>
                      <a:pPr algn="ctr"/>
                      <a:r>
                        <a:rPr lang="en-US" altLang="zh-TW" sz="2400" dirty="0">
                          <a:solidFill>
                            <a:srgbClr val="FF0000"/>
                          </a:solidFill>
                        </a:rPr>
                        <a:t>26.08</a:t>
                      </a:r>
                      <a:endParaRPr lang="zh-TW" altLang="en-US" sz="2400" dirty="0">
                        <a:solidFill>
                          <a:srgbClr val="FF0000"/>
                        </a:solidFill>
                      </a:endParaRPr>
                    </a:p>
                  </a:txBody>
                  <a:tcPr/>
                </a:tc>
                <a:tc>
                  <a:txBody>
                    <a:bodyPr/>
                    <a:lstStyle/>
                    <a:p>
                      <a:pPr algn="ctr"/>
                      <a:r>
                        <a:rPr lang="en-US" altLang="zh-TW" sz="2400" dirty="0"/>
                        <a:t>25.52</a:t>
                      </a:r>
                      <a:endParaRPr lang="zh-TW" altLang="en-US" sz="2400" dirty="0"/>
                    </a:p>
                  </a:txBody>
                  <a:tcPr/>
                </a:tc>
                <a:tc>
                  <a:txBody>
                    <a:bodyPr/>
                    <a:lstStyle/>
                    <a:p>
                      <a:pPr algn="ctr"/>
                      <a:r>
                        <a:rPr lang="en-US" altLang="zh-TW" sz="2400" dirty="0"/>
                        <a:t>25.81</a:t>
                      </a:r>
                      <a:endParaRPr lang="zh-TW" altLang="en-US" sz="2400" dirty="0"/>
                    </a:p>
                  </a:txBody>
                  <a:tcPr/>
                </a:tc>
                <a:tc>
                  <a:txBody>
                    <a:bodyPr/>
                    <a:lstStyle/>
                    <a:p>
                      <a:pPr algn="ctr"/>
                      <a:r>
                        <a:rPr lang="en-US" altLang="zh-TW" sz="2400" dirty="0"/>
                        <a:t>25.68</a:t>
                      </a:r>
                      <a:endParaRPr lang="zh-TW" altLang="en-US" sz="2400" dirty="0"/>
                    </a:p>
                  </a:txBody>
                  <a:tcPr/>
                </a:tc>
                <a:extLst>
                  <a:ext uri="{0D108BD9-81ED-4DB2-BD59-A6C34878D82A}">
                    <a16:rowId xmlns:a16="http://schemas.microsoft.com/office/drawing/2014/main" val="3331023817"/>
                  </a:ext>
                </a:extLst>
              </a:tr>
              <a:tr h="492154">
                <a:tc>
                  <a:txBody>
                    <a:bodyPr/>
                    <a:lstStyle/>
                    <a:p>
                      <a:pPr algn="ctr"/>
                      <a:r>
                        <a:rPr lang="en-US" altLang="zh-TW" sz="2400" dirty="0"/>
                        <a:t>SSIM</a:t>
                      </a:r>
                      <a:endParaRPr lang="zh-TW" altLang="en-US" sz="2400" dirty="0"/>
                    </a:p>
                  </a:txBody>
                  <a:tcPr/>
                </a:tc>
                <a:tc>
                  <a:txBody>
                    <a:bodyPr/>
                    <a:lstStyle/>
                    <a:p>
                      <a:pPr algn="ctr"/>
                      <a:r>
                        <a:rPr lang="en-US" altLang="zh-TW" sz="2400" dirty="0">
                          <a:solidFill>
                            <a:srgbClr val="FF0000"/>
                          </a:solidFill>
                        </a:rPr>
                        <a:t>0.9373</a:t>
                      </a:r>
                      <a:endParaRPr lang="zh-TW" altLang="en-US" sz="2400" dirty="0">
                        <a:solidFill>
                          <a:srgbClr val="FF0000"/>
                        </a:solidFill>
                      </a:endParaRPr>
                    </a:p>
                  </a:txBody>
                  <a:tcPr/>
                </a:tc>
                <a:tc>
                  <a:txBody>
                    <a:bodyPr/>
                    <a:lstStyle/>
                    <a:p>
                      <a:pPr algn="ctr"/>
                      <a:r>
                        <a:rPr lang="en-US" altLang="zh-TW" sz="2400" dirty="0">
                          <a:solidFill>
                            <a:schemeClr val="tx1"/>
                          </a:solidFill>
                        </a:rPr>
                        <a:t>0.9305</a:t>
                      </a:r>
                      <a:endParaRPr lang="zh-TW" altLang="en-US" sz="2400" dirty="0">
                        <a:solidFill>
                          <a:schemeClr val="tx1"/>
                        </a:solidFill>
                      </a:endParaRPr>
                    </a:p>
                  </a:txBody>
                  <a:tcPr/>
                </a:tc>
                <a:tc>
                  <a:txBody>
                    <a:bodyPr/>
                    <a:lstStyle/>
                    <a:p>
                      <a:pPr algn="ctr"/>
                      <a:r>
                        <a:rPr lang="en-US" altLang="zh-TW" sz="2400" dirty="0"/>
                        <a:t>0.9320</a:t>
                      </a:r>
                      <a:endParaRPr lang="zh-TW" altLang="en-US" sz="2400" dirty="0"/>
                    </a:p>
                  </a:txBody>
                  <a:tcPr/>
                </a:tc>
                <a:tc>
                  <a:txBody>
                    <a:bodyPr/>
                    <a:lstStyle/>
                    <a:p>
                      <a:pPr algn="ctr"/>
                      <a:r>
                        <a:rPr lang="en-US" altLang="zh-TW" sz="2400" dirty="0"/>
                        <a:t>0.9305</a:t>
                      </a:r>
                      <a:endParaRPr lang="zh-TW" altLang="en-US" sz="2400" dirty="0"/>
                    </a:p>
                  </a:txBody>
                  <a:tcPr/>
                </a:tc>
                <a:extLst>
                  <a:ext uri="{0D108BD9-81ED-4DB2-BD59-A6C34878D82A}">
                    <a16:rowId xmlns:a16="http://schemas.microsoft.com/office/drawing/2014/main" val="2793389258"/>
                  </a:ext>
                </a:extLst>
              </a:tr>
            </a:tbl>
          </a:graphicData>
        </a:graphic>
      </p:graphicFrame>
      <p:graphicFrame>
        <p:nvGraphicFramePr>
          <p:cNvPr id="14270" name="表格 8">
            <a:extLst>
              <a:ext uri="{FF2B5EF4-FFF2-40B4-BE49-F238E27FC236}">
                <a16:creationId xmlns:a16="http://schemas.microsoft.com/office/drawing/2014/main" id="{D91492BD-4103-408A-B6F2-2CF68E7F60BE}"/>
              </a:ext>
            </a:extLst>
          </p:cNvPr>
          <p:cNvGraphicFramePr>
            <a:graphicFrameLocks noGrp="1"/>
          </p:cNvGraphicFramePr>
          <p:nvPr>
            <p:extLst>
              <p:ext uri="{D42A27DB-BD31-4B8C-83A1-F6EECF244321}">
                <p14:modId xmlns:p14="http://schemas.microsoft.com/office/powerpoint/2010/main" val="3120933886"/>
              </p:ext>
            </p:extLst>
          </p:nvPr>
        </p:nvGraphicFramePr>
        <p:xfrm>
          <a:off x="10935850" y="22439739"/>
          <a:ext cx="9166950" cy="1456956"/>
        </p:xfrm>
        <a:graphic>
          <a:graphicData uri="http://schemas.openxmlformats.org/drawingml/2006/table">
            <a:tbl>
              <a:tblPr firstRow="1" bandRow="1">
                <a:tableStyleId>{5C22544A-7EE6-4342-B048-85BDC9FD1C3A}</a:tableStyleId>
              </a:tblPr>
              <a:tblGrid>
                <a:gridCol w="1378070">
                  <a:extLst>
                    <a:ext uri="{9D8B030D-6E8A-4147-A177-3AD203B41FA5}">
                      <a16:colId xmlns:a16="http://schemas.microsoft.com/office/drawing/2014/main" val="1159889631"/>
                    </a:ext>
                  </a:extLst>
                </a:gridCol>
                <a:gridCol w="2288710">
                  <a:extLst>
                    <a:ext uri="{9D8B030D-6E8A-4147-A177-3AD203B41FA5}">
                      <a16:colId xmlns:a16="http://schemas.microsoft.com/office/drawing/2014/main" val="202428839"/>
                    </a:ext>
                  </a:extLst>
                </a:gridCol>
                <a:gridCol w="1833390">
                  <a:extLst>
                    <a:ext uri="{9D8B030D-6E8A-4147-A177-3AD203B41FA5}">
                      <a16:colId xmlns:a16="http://schemas.microsoft.com/office/drawing/2014/main" val="3323883523"/>
                    </a:ext>
                  </a:extLst>
                </a:gridCol>
                <a:gridCol w="1833390">
                  <a:extLst>
                    <a:ext uri="{9D8B030D-6E8A-4147-A177-3AD203B41FA5}">
                      <a16:colId xmlns:a16="http://schemas.microsoft.com/office/drawing/2014/main" val="2610922496"/>
                    </a:ext>
                  </a:extLst>
                </a:gridCol>
                <a:gridCol w="1833390">
                  <a:extLst>
                    <a:ext uri="{9D8B030D-6E8A-4147-A177-3AD203B41FA5}">
                      <a16:colId xmlns:a16="http://schemas.microsoft.com/office/drawing/2014/main" val="34335010"/>
                    </a:ext>
                  </a:extLst>
                </a:gridCol>
              </a:tblGrid>
              <a:tr h="289315">
                <a:tc>
                  <a:txBody>
                    <a:bodyPr/>
                    <a:lstStyle/>
                    <a:p>
                      <a:pPr algn="ctr"/>
                      <a:r>
                        <a:rPr lang="en-US" altLang="zh-TW" sz="2400" dirty="0"/>
                        <a:t>EDSR</a:t>
                      </a:r>
                      <a:endParaRPr lang="zh-TW" altLang="en-US" sz="2400" dirty="0"/>
                    </a:p>
                  </a:txBody>
                  <a:tcPr/>
                </a:tc>
                <a:tc>
                  <a:txBody>
                    <a:bodyPr/>
                    <a:lstStyle/>
                    <a:p>
                      <a:pPr algn="ctr"/>
                      <a:r>
                        <a:rPr lang="en-US" altLang="zh-TW" sz="2400" dirty="0"/>
                        <a:t>Original dataset</a:t>
                      </a:r>
                      <a:endParaRPr lang="zh-TW" altLang="en-US" sz="2400" dirty="0"/>
                    </a:p>
                  </a:txBody>
                  <a:tcPr/>
                </a:tc>
                <a:tc>
                  <a:txBody>
                    <a:bodyPr/>
                    <a:lstStyle/>
                    <a:p>
                      <a:pPr algn="ctr"/>
                      <a:r>
                        <a:rPr lang="en-US" altLang="zh-TW" sz="2400" dirty="0"/>
                        <a:t>Our dataset</a:t>
                      </a:r>
                      <a:endParaRPr lang="zh-TW" altLang="en-US" sz="2400" dirty="0"/>
                    </a:p>
                  </a:txBody>
                  <a:tcPr/>
                </a:tc>
                <a:tc>
                  <a:txBody>
                    <a:bodyPr/>
                    <a:lstStyle/>
                    <a:p>
                      <a:pPr algn="ctr"/>
                      <a:r>
                        <a:rPr lang="en-US" altLang="zh-TW" sz="2400" dirty="0"/>
                        <a:t>Edge loss</a:t>
                      </a:r>
                      <a:endParaRPr lang="zh-TW" altLang="en-US" sz="2400" dirty="0"/>
                    </a:p>
                  </a:txBody>
                  <a:tcPr/>
                </a:tc>
                <a:tc>
                  <a:txBody>
                    <a:bodyPr/>
                    <a:lstStyle/>
                    <a:p>
                      <a:pPr algn="ctr"/>
                      <a:r>
                        <a:rPr lang="en-US" altLang="zh-TW" sz="2400" dirty="0"/>
                        <a:t>L2 loss</a:t>
                      </a:r>
                      <a:endParaRPr lang="zh-TW" altLang="en-US" sz="2400" dirty="0"/>
                    </a:p>
                  </a:txBody>
                  <a:tcPr/>
                </a:tc>
                <a:extLst>
                  <a:ext uri="{0D108BD9-81ED-4DB2-BD59-A6C34878D82A}">
                    <a16:rowId xmlns:a16="http://schemas.microsoft.com/office/drawing/2014/main" val="898995503"/>
                  </a:ext>
                </a:extLst>
              </a:tr>
              <a:tr h="289315">
                <a:tc>
                  <a:txBody>
                    <a:bodyPr/>
                    <a:lstStyle/>
                    <a:p>
                      <a:pPr algn="ctr"/>
                      <a:r>
                        <a:rPr lang="en-US" altLang="zh-TW" sz="2400" dirty="0"/>
                        <a:t>PSNR</a:t>
                      </a:r>
                      <a:endParaRPr lang="zh-TW" altLang="en-US" sz="2400" dirty="0"/>
                    </a:p>
                  </a:txBody>
                  <a:tcPr/>
                </a:tc>
                <a:tc>
                  <a:txBody>
                    <a:bodyPr/>
                    <a:lstStyle/>
                    <a:p>
                      <a:pPr algn="ctr"/>
                      <a:r>
                        <a:rPr lang="en-US" altLang="zh-TW" sz="2400" dirty="0">
                          <a:solidFill>
                            <a:schemeClr val="tx1"/>
                          </a:solidFill>
                        </a:rPr>
                        <a:t>22.52</a:t>
                      </a:r>
                      <a:endParaRPr lang="zh-TW" altLang="en-US" sz="2400" dirty="0">
                        <a:solidFill>
                          <a:schemeClr val="tx1"/>
                        </a:solidFill>
                      </a:endParaRPr>
                    </a:p>
                  </a:txBody>
                  <a:tcPr/>
                </a:tc>
                <a:tc>
                  <a:txBody>
                    <a:bodyPr/>
                    <a:lstStyle/>
                    <a:p>
                      <a:pPr algn="ctr"/>
                      <a:r>
                        <a:rPr lang="en-US" altLang="zh-TW" sz="2400" dirty="0"/>
                        <a:t>22.35</a:t>
                      </a:r>
                      <a:endParaRPr lang="zh-TW" altLang="en-US" sz="2400" dirty="0"/>
                    </a:p>
                  </a:txBody>
                  <a:tcPr/>
                </a:tc>
                <a:tc>
                  <a:txBody>
                    <a:bodyPr/>
                    <a:lstStyle/>
                    <a:p>
                      <a:pPr algn="ctr"/>
                      <a:r>
                        <a:rPr lang="en-US" altLang="zh-TW" sz="2400" dirty="0"/>
                        <a:t>22.71</a:t>
                      </a:r>
                      <a:endParaRPr lang="zh-TW" altLang="en-US" sz="2400" dirty="0"/>
                    </a:p>
                  </a:txBody>
                  <a:tcPr/>
                </a:tc>
                <a:tc>
                  <a:txBody>
                    <a:bodyPr/>
                    <a:lstStyle/>
                    <a:p>
                      <a:pPr algn="ctr"/>
                      <a:r>
                        <a:rPr lang="en-US" altLang="zh-TW" sz="2400" dirty="0">
                          <a:solidFill>
                            <a:schemeClr val="accent1"/>
                          </a:solidFill>
                        </a:rPr>
                        <a:t>24.88</a:t>
                      </a:r>
                      <a:endParaRPr lang="zh-TW" altLang="en-US" sz="2400" dirty="0">
                        <a:solidFill>
                          <a:schemeClr val="accent1"/>
                        </a:solidFill>
                      </a:endParaRPr>
                    </a:p>
                  </a:txBody>
                  <a:tcPr/>
                </a:tc>
                <a:extLst>
                  <a:ext uri="{0D108BD9-81ED-4DB2-BD59-A6C34878D82A}">
                    <a16:rowId xmlns:a16="http://schemas.microsoft.com/office/drawing/2014/main" val="3331023817"/>
                  </a:ext>
                </a:extLst>
              </a:tr>
              <a:tr h="542556">
                <a:tc>
                  <a:txBody>
                    <a:bodyPr/>
                    <a:lstStyle/>
                    <a:p>
                      <a:pPr algn="ctr"/>
                      <a:r>
                        <a:rPr lang="en-US" altLang="zh-TW" sz="2400" dirty="0"/>
                        <a:t>SSIM</a:t>
                      </a:r>
                      <a:endParaRPr lang="zh-TW" altLang="en-US" sz="2400" dirty="0"/>
                    </a:p>
                  </a:txBody>
                  <a:tcPr/>
                </a:tc>
                <a:tc>
                  <a:txBody>
                    <a:bodyPr/>
                    <a:lstStyle/>
                    <a:p>
                      <a:pPr algn="ctr"/>
                      <a:r>
                        <a:rPr lang="en-US" altLang="zh-TW" sz="2400" dirty="0">
                          <a:solidFill>
                            <a:schemeClr val="tx1"/>
                          </a:solidFill>
                        </a:rPr>
                        <a:t>0.8804</a:t>
                      </a:r>
                      <a:endParaRPr lang="zh-TW" altLang="en-US" sz="2400" dirty="0">
                        <a:solidFill>
                          <a:schemeClr val="tx1"/>
                        </a:solidFill>
                      </a:endParaRPr>
                    </a:p>
                  </a:txBody>
                  <a:tcPr/>
                </a:tc>
                <a:tc>
                  <a:txBody>
                    <a:bodyPr/>
                    <a:lstStyle/>
                    <a:p>
                      <a:pPr algn="ctr"/>
                      <a:r>
                        <a:rPr lang="en-US" altLang="zh-TW" sz="2400" dirty="0">
                          <a:solidFill>
                            <a:schemeClr val="tx1"/>
                          </a:solidFill>
                        </a:rPr>
                        <a:t>0.8677</a:t>
                      </a:r>
                      <a:endParaRPr lang="zh-TW" altLang="en-US" sz="2400" dirty="0">
                        <a:solidFill>
                          <a:schemeClr val="tx1"/>
                        </a:solidFill>
                      </a:endParaRPr>
                    </a:p>
                  </a:txBody>
                  <a:tcPr/>
                </a:tc>
                <a:tc>
                  <a:txBody>
                    <a:bodyPr/>
                    <a:lstStyle/>
                    <a:p>
                      <a:pPr algn="ctr"/>
                      <a:r>
                        <a:rPr lang="en-US" altLang="zh-TW" sz="2400" dirty="0"/>
                        <a:t>0.8663</a:t>
                      </a:r>
                      <a:endParaRPr lang="zh-TW" altLang="en-US" sz="2400" dirty="0"/>
                    </a:p>
                  </a:txBody>
                  <a:tcPr/>
                </a:tc>
                <a:tc>
                  <a:txBody>
                    <a:bodyPr/>
                    <a:lstStyle/>
                    <a:p>
                      <a:pPr algn="ctr"/>
                      <a:r>
                        <a:rPr lang="en-US" altLang="zh-TW" sz="2400" dirty="0">
                          <a:solidFill>
                            <a:srgbClr val="00B050"/>
                          </a:solidFill>
                        </a:rPr>
                        <a:t>0.9133</a:t>
                      </a:r>
                      <a:endParaRPr lang="zh-TW" altLang="en-US" sz="2400" dirty="0"/>
                    </a:p>
                  </a:txBody>
                  <a:tcPr/>
                </a:tc>
                <a:extLst>
                  <a:ext uri="{0D108BD9-81ED-4DB2-BD59-A6C34878D82A}">
                    <a16:rowId xmlns:a16="http://schemas.microsoft.com/office/drawing/2014/main" val="2793389258"/>
                  </a:ext>
                </a:extLst>
              </a:tr>
            </a:tbl>
          </a:graphicData>
        </a:graphic>
      </p:graphicFrame>
      <p:pic>
        <p:nvPicPr>
          <p:cNvPr id="55" name="圖片 54">
            <a:extLst>
              <a:ext uri="{FF2B5EF4-FFF2-40B4-BE49-F238E27FC236}">
                <a16:creationId xmlns:a16="http://schemas.microsoft.com/office/drawing/2014/main" id="{2A2E8C4C-4E85-47FC-969F-FE35ABC63019}"/>
              </a:ext>
            </a:extLst>
          </p:cNvPr>
          <p:cNvPicPr>
            <a:picLocks noChangeAspect="1"/>
          </p:cNvPicPr>
          <p:nvPr/>
        </p:nvPicPr>
        <p:blipFill>
          <a:blip r:embed="rId12"/>
          <a:stretch>
            <a:fillRect/>
          </a:stretch>
        </p:blipFill>
        <p:spPr>
          <a:xfrm>
            <a:off x="17102671" y="15757517"/>
            <a:ext cx="2918102" cy="2890572"/>
          </a:xfrm>
          <a:prstGeom prst="rect">
            <a:avLst/>
          </a:prstGeom>
        </p:spPr>
      </p:pic>
      <p:sp>
        <p:nvSpPr>
          <p:cNvPr id="14272" name="文字方塊 14271">
            <a:extLst>
              <a:ext uri="{FF2B5EF4-FFF2-40B4-BE49-F238E27FC236}">
                <a16:creationId xmlns:a16="http://schemas.microsoft.com/office/drawing/2014/main" id="{86A7819C-D740-4741-9DA6-471ABFEF5738}"/>
              </a:ext>
            </a:extLst>
          </p:cNvPr>
          <p:cNvSpPr txBox="1"/>
          <p:nvPr/>
        </p:nvSpPr>
        <p:spPr>
          <a:xfrm>
            <a:off x="15693706" y="13467773"/>
            <a:ext cx="4260715" cy="156966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just">
              <a:buFont typeface="Arial" panose="020B0604020202020204" pitchFamily="34" charset="0"/>
              <a:buChar char="•"/>
            </a:pP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實作方法費時皆為</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秒以內</a:t>
            </a:r>
            <a:endPar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marL="457200" indent="-457200" algn="just">
              <a:buFont typeface="Arial" panose="020B0604020202020204" pitchFamily="34" charset="0"/>
              <a:buChar char="•"/>
            </a:pP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訓練集</a:t>
            </a:r>
            <a:endPar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endParaRPr>
          </a:p>
          <a:p>
            <a:pPr algn="just"/>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Origin</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DIV2K</a:t>
            </a:r>
          </a:p>
          <a:p>
            <a:pPr algn="just"/>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Ours</a:t>
            </a:r>
            <a:r>
              <a:rPr lang="zh-TW" altLang="en-US" sz="2400" kern="100" dirty="0">
                <a:latin typeface="微軟正黑體" panose="020B0604030504040204" pitchFamily="34" charset="-120"/>
                <a:ea typeface="微軟正黑體" panose="020B0604030504040204" pitchFamily="34" charset="-120"/>
                <a:cs typeface="Times New Roman" panose="02020603050405020304" pitchFamily="18" charset="0"/>
              </a:rPr>
              <a:t>：</a:t>
            </a:r>
            <a:r>
              <a:rPr lang="en-US" altLang="zh-TW" sz="2400" kern="100" dirty="0">
                <a:latin typeface="微軟正黑體" panose="020B0604030504040204" pitchFamily="34" charset="-120"/>
                <a:ea typeface="微軟正黑體" panose="020B0604030504040204" pitchFamily="34" charset="-120"/>
                <a:cs typeface="Times New Roman" panose="02020603050405020304" pitchFamily="18" charset="0"/>
              </a:rPr>
              <a:t>ray tracing images</a:t>
            </a:r>
          </a:p>
        </p:txBody>
      </p:sp>
      <p:pic>
        <p:nvPicPr>
          <p:cNvPr id="7" name="圖片 6">
            <a:extLst>
              <a:ext uri="{FF2B5EF4-FFF2-40B4-BE49-F238E27FC236}">
                <a16:creationId xmlns:a16="http://schemas.microsoft.com/office/drawing/2014/main" id="{E2E1AC7C-9A4E-4A11-B880-756DBD2FB9E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86897" y="18054007"/>
            <a:ext cx="7614395" cy="11821348"/>
          </a:xfrm>
          <a:prstGeom prst="rect">
            <a:avLst/>
          </a:prstGeom>
        </p:spPr>
      </p:pic>
      <p:pic>
        <p:nvPicPr>
          <p:cNvPr id="69" name="圖片 68">
            <a:extLst>
              <a:ext uri="{FF2B5EF4-FFF2-40B4-BE49-F238E27FC236}">
                <a16:creationId xmlns:a16="http://schemas.microsoft.com/office/drawing/2014/main" id="{F0150486-AE66-4AC3-8D81-8ED86EA4719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289514" y="28079188"/>
            <a:ext cx="1530221" cy="1530221"/>
          </a:xfrm>
          <a:prstGeom prst="rect">
            <a:avLst/>
          </a:prstGeom>
        </p:spPr>
      </p:pic>
    </p:spTree>
    <p:extLst>
      <p:ext uri="{BB962C8B-B14F-4D97-AF65-F5344CB8AC3E}">
        <p14:creationId xmlns:p14="http://schemas.microsoft.com/office/powerpoint/2010/main" val="2100336852"/>
      </p:ext>
    </p:extLst>
  </p:cSld>
  <p:clrMapOvr>
    <a:masterClrMapping/>
  </p:clrMapOvr>
</p:sld>
</file>

<file path=ppt/theme/theme1.xml><?xml version="1.0" encoding="utf-8"?>
<a:theme xmlns:a="http://schemas.openxmlformats.org/drawingml/2006/main" name="Office Theme">
  <a:themeElements>
    <a:clrScheme name="Office 佈景主題">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7130</TotalTime>
  <Words>528</Words>
  <Application>Microsoft Office PowerPoint</Application>
  <PresentationFormat>自訂</PresentationFormat>
  <Paragraphs>69</Paragraphs>
  <Slides>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vt:i4>
      </vt:variant>
    </vt:vector>
  </HeadingPairs>
  <TitlesOfParts>
    <vt:vector size="6" baseType="lpstr">
      <vt:lpstr>微軟正黑體</vt:lpstr>
      <vt:lpstr>Arial</vt:lpstr>
      <vt:lpstr>Calibri</vt:lpstr>
      <vt:lpstr>Calibri Light</vt:lpstr>
      <vt:lpstr>Office Theme</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Office365</dc:creator>
  <cp:lastModifiedBy>宗邑 洪</cp:lastModifiedBy>
  <cp:revision>94</cp:revision>
  <dcterms:created xsi:type="dcterms:W3CDTF">2023-11-28T07:57:25Z</dcterms:created>
  <dcterms:modified xsi:type="dcterms:W3CDTF">2025-12-08T11:42:48Z</dcterms:modified>
</cp:coreProperties>
</file>